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7月メガポ 売上</c:v>
                </c:pt>
              </c:strCache>
            </c:strRef>
          </c:tx>
          <c:spPr>
            <a:solidFill>
              <a:srgbClr val="A9B6C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Meiry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1日目</c:v>
                  </c:pt>
                  <c:pt idx="1">
                    <c:v>2日目</c:v>
                  </c:pt>
                  <c:pt idx="2">
                    <c:v>3日目</c:v>
                  </c:pt>
                  <c:pt idx="3">
                    <c:v>4日目</c:v>
                  </c:pt>
                  <c:pt idx="4">
                    <c:v>5日目</c:v>
                  </c:pt>
                  <c:pt idx="5">
                    <c:v>6日目</c:v>
                  </c:pt>
                  <c:pt idx="6">
                    <c:v>7日目</c:v>
                  </c:pt>
                  <c:pt idx="7">
                    <c:v>8日目</c:v>
                  </c:pt>
                  <c:pt idx="8">
                    <c:v>9日目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73206</c:v>
                </c:pt>
                <c:pt idx="1">
                  <c:v>52986</c:v>
                </c:pt>
                <c:pt idx="2">
                  <c:v>28335</c:v>
                </c:pt>
                <c:pt idx="3">
                  <c:v>28947</c:v>
                </c:pt>
                <c:pt idx="4">
                  <c:v>49220</c:v>
                </c:pt>
                <c:pt idx="5">
                  <c:v>44228</c:v>
                </c:pt>
                <c:pt idx="6">
                  <c:v>31229</c:v>
                </c:pt>
                <c:pt idx="7">
                  <c:v>48857</c:v>
                </c:pt>
                <c:pt idx="8">
                  <c:v>65810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8月メガポ 売上</c:v>
                </c:pt>
              </c:strCache>
            </c:strRef>
          </c:tx>
          <c:spPr>
            <a:solidFill>
              <a:srgbClr val="E09B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Meiry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1日目</c:v>
                  </c:pt>
                  <c:pt idx="1">
                    <c:v>2日目</c:v>
                  </c:pt>
                  <c:pt idx="2">
                    <c:v>3日目</c:v>
                  </c:pt>
                  <c:pt idx="3">
                    <c:v>4日目</c:v>
                  </c:pt>
                  <c:pt idx="4">
                    <c:v>5日目</c:v>
                  </c:pt>
                  <c:pt idx="5">
                    <c:v>6日目</c:v>
                  </c:pt>
                  <c:pt idx="6">
                    <c:v>7日目</c:v>
                  </c:pt>
                  <c:pt idx="7">
                    <c:v>8日目</c:v>
                  </c:pt>
                  <c:pt idx="8">
                    <c:v>9日目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54450</c:v>
                </c:pt>
                <c:pt idx="1">
                  <c:v>63478</c:v>
                </c:pt>
                <c:pt idx="2">
                  <c:v>50672</c:v>
                </c:pt>
                <c:pt idx="3">
                  <c:v>27309</c:v>
                </c:pt>
                <c:pt idx="4">
                  <c:v>30529</c:v>
                </c:pt>
                <c:pt idx="5">
                  <c:v>26084</c:v>
                </c:pt>
                <c:pt idx="6">
                  <c:v>81616</c:v>
                </c:pt>
                <c:pt idx="7">
                  <c:v>48487</c:v>
                </c:pt>
                <c:pt idx="8">
                  <c:v>64755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Meiryo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4344F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000"/>
        </c:scaling>
        <c:delete val="0"/>
        <c:axPos val="l"/>
        <c:majorGridlines>
          <c:spPr>
            <a:ln w="12700" cap="flat">
              <a:solidFill>
                <a:srgbClr val="E8ECF1"/>
              </a:solidFill>
              <a:prstDash val="solid"/>
              <a:round/>
            </a:ln>
          </c:spPr>
        </c:majorGridlines>
        <c:numFmt formatCode="¥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688"/>
                </a:solidFill>
                <a:latin typeface="Meiry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24344F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dr365様 Qoo10 2026年8月メガポ（8/1〜8/9）の振り返り。比較対象は7月メガポ（7/1〜7/9）。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売上・集客とも前月比プラス。新規獲得は好調だがリピート育成と成分KWの回復が課題。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-1371600"/>
            <a:ext cx="4937760" cy="4937760"/>
          </a:xfrm>
          <a:prstGeom prst="ellipse">
            <a:avLst/>
          </a:prstGeom>
          <a:solidFill>
            <a:srgbClr val="243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4206240"/>
            <a:ext cx="2926080" cy="292608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755648"/>
            <a:ext cx="82296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spc="100" kern="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dr365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03580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09B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Qoo10  2026年8月メガポ  運用振り返りレポート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40080" y="365760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243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65760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E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対象期間: 2026年8月1日〜9日（メガポ期間 9日間）  /  比較: 2026年7月1日〜9日（メガポ期間）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892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作成：株式会社Wacworks   |   2026年8月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A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0180015" y="6400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C8A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17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802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目次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FBE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4300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9B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11430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エグゼクティブサマリー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1764792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FBE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76479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9B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61872" y="176479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7月vs8月 KPI比較サマリー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386584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FBE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38658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9B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261872" y="238658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売上推移（8月日別表）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FBE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9B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61872" y="300837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7月vs8月 売上・件数比較（日別）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3630168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FBE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630168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9B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61872" y="363016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注文・顧客データ（8月）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251960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FBE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25196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9B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261872" y="42519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7月vs8月 顧客・新規/リピート比較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4873752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FBE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87375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9B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261872" y="487375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チャネル別流入分析（7月vs8月 TOP10）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495544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FBE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49554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9B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261872" y="549554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7月vs8月 CVR・ファネル比較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263640" y="1143000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FBE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63640" y="114300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9B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976872" y="11430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商品別売上ランキング（8月）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263640" y="1764792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FBE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263640" y="176479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9B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976872" y="176479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7月vs8月 商品別売上比較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263640" y="2386584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FBE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263640" y="238658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9B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976872" y="238658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V.C. UVデイエッセンスN 詳細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263640" y="3008376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FBE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263640" y="300837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9B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6976872" y="300837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V.C. プレエッセンスN 詳細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263640" y="3630168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FBE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263640" y="3630168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9B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976872" y="363016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検索キーワード分析（7月vs8月）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6263640" y="4251960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FBE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263640" y="425196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9B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976872" y="42519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次回メガ割に向けた改善アクション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6263640" y="4873752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FBE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263640" y="487375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9B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976872" y="487375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Next Step・総括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6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10180015" y="6400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6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17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802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エグゼクティブサマリー ─ 2026年8月メガポ（8/1〜9）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8351215" y="347472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比較：2026年7月メガポ（7/1〜9）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051560"/>
            <a:ext cx="2101840" cy="1234440"/>
          </a:xfrm>
          <a:prstGeom prst="roundRect">
            <a:avLst>
              <a:gd name="adj" fmla="val 5185"/>
            </a:avLst>
          </a:prstGeom>
          <a:solidFill>
            <a:srgbClr val="F3F5F8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13232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売上金額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¥447,380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1901952"/>
            <a:ext cx="177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9日間合計（7月比 +5.8%）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796784" y="1051560"/>
            <a:ext cx="2101840" cy="1234440"/>
          </a:xfrm>
          <a:prstGeom prst="roundRect">
            <a:avLst>
              <a:gd name="adj" fmla="val 5185"/>
            </a:avLst>
          </a:prstGeom>
          <a:solidFill>
            <a:srgbClr val="F3F5F8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961376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売上件数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961376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128件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2961376" y="1901952"/>
            <a:ext cx="177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平均14.2件/日（+5.8%）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44928" y="1051560"/>
            <a:ext cx="2101840" cy="1234440"/>
          </a:xfrm>
          <a:prstGeom prst="roundRect">
            <a:avLst>
              <a:gd name="adj" fmla="val 5185"/>
            </a:avLst>
          </a:prstGeom>
          <a:solidFill>
            <a:srgbClr val="F3F5F8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209520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訪問者数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209520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1,265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5209520" y="1901952"/>
            <a:ext cx="177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平均141人/日（+11.1%）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293072" y="1051560"/>
            <a:ext cx="2101840" cy="1234440"/>
          </a:xfrm>
          <a:prstGeom prst="roundRect">
            <a:avLst>
              <a:gd name="adj" fmla="val 5185"/>
            </a:avLst>
          </a:prstGeom>
          <a:solidFill>
            <a:srgbClr val="F3F5F8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457664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平均客単価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457664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¥3,495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7457664" y="1901952"/>
            <a:ext cx="177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前月比ほぼ横ばい（+¥1）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541215" y="1051560"/>
            <a:ext cx="2101840" cy="1234440"/>
          </a:xfrm>
          <a:prstGeom prst="roundRect">
            <a:avLst>
              <a:gd name="adj" fmla="val 5185"/>
            </a:avLst>
          </a:prstGeom>
          <a:solidFill>
            <a:srgbClr val="F3F5F8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705807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購入顧客数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9705807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09B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125名</a:t>
            </a:r>
            <a:endParaRPr lang="en-US" sz="2100" dirty="0"/>
          </a:p>
        </p:txBody>
      </p:sp>
      <p:sp>
        <p:nvSpPr>
          <p:cNvPr id="23" name="Text 21"/>
          <p:cNvSpPr txBox="1"/>
          <p:nvPr/>
        </p:nvSpPr>
        <p:spPr>
          <a:xfrm>
            <a:off x="9705807" y="1901952"/>
            <a:ext cx="177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新規75.2%（+6.9pt）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2487168"/>
            <a:ext cx="11094415" cy="3776472"/>
          </a:xfrm>
          <a:prstGeom prst="roundRect">
            <a:avLst>
              <a:gd name="adj" fmla="val 1695"/>
            </a:avLst>
          </a:prstGeom>
          <a:solidFill>
            <a:srgbClr val="FFFFFF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04672" y="26060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9B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総評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04672" y="2971800"/>
            <a:ext cx="10582351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8月メガポ期間（8/1〜9）売上¥447,380を達成。7月同期間（¥422,818）比で +5.8%、+¥24,562の成長。前年同月（¥234,300）比では +91.0% と大幅な伸長。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V.C. UVデイエッセンスNが売上1位（¥142,120 / 40件）。7月比 +¥60,401（+74%）の躍進で、単月で全体の31.8%を占める最大の牽引役に。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V.C. プレエッセンスNが2位（¥100,040 / 20件）。客単価¥5,002の高単価商品が7月比 +5% と安定推移し、収益面を下支え。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TOP2で売上の54.1%。前月までの「A.Z.セラムショット主導」から、V.C.ライン主導の売上構造へ明確に転換した。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新規顧客94名・新規比率75.2%（7月68.3%から +6.9pt）。フォロワーは1,124名（9日間で +20名）と過去最高を更新。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一方でリピーターは38名→31名（-18.4%）、「アゼライン酸」KWは101→77件（-24%）と減少。次回メガ割に向けた最重要課題。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6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10180015" y="6400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6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17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802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7月vs8月 KPI比較サマリー（メガポ同日比較）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8351215" y="347472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8/1〜8/9  vs  7/1〜7/9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051560"/>
            <a:ext cx="2101840" cy="1097280"/>
          </a:xfrm>
          <a:prstGeom prst="roundRect">
            <a:avLst>
              <a:gd name="adj" fmla="val 5833"/>
            </a:avLst>
          </a:prstGeom>
          <a:solidFill>
            <a:srgbClr val="F3F5F8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124712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売上金額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325880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  ¥422,818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182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  ¥447,380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56232"/>
            <a:ext cx="182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A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+5.8%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96784" y="1051560"/>
            <a:ext cx="2101840" cy="1097280"/>
          </a:xfrm>
          <a:prstGeom prst="roundRect">
            <a:avLst>
              <a:gd name="adj" fmla="val 5833"/>
            </a:avLst>
          </a:prstGeom>
          <a:solidFill>
            <a:srgbClr val="F3F5F8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33944" y="1124712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売上件数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2933944" y="1325880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  121件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933944" y="1554480"/>
            <a:ext cx="182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  128件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2933944" y="1856232"/>
            <a:ext cx="182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A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+5.8%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44928" y="1051560"/>
            <a:ext cx="2101840" cy="1097280"/>
          </a:xfrm>
          <a:prstGeom prst="roundRect">
            <a:avLst>
              <a:gd name="adj" fmla="val 5833"/>
            </a:avLst>
          </a:prstGeom>
          <a:solidFill>
            <a:srgbClr val="F3F5F8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5182088" y="1124712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訪問者数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182088" y="1325880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  1,139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182088" y="1554480"/>
            <a:ext cx="182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  1,265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5182088" y="1856232"/>
            <a:ext cx="182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A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+11.1%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293072" y="1051560"/>
            <a:ext cx="2101840" cy="1097280"/>
          </a:xfrm>
          <a:prstGeom prst="roundRect">
            <a:avLst>
              <a:gd name="adj" fmla="val 5833"/>
            </a:avLst>
          </a:prstGeom>
          <a:solidFill>
            <a:srgbClr val="F3F5F8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430232" y="1124712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CVR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7430232" y="1325880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  10.62%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7430232" y="1554480"/>
            <a:ext cx="182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  10.12%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7430232" y="1856232"/>
            <a:ext cx="182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44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-0.51pt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541215" y="1051560"/>
            <a:ext cx="2101840" cy="1097280"/>
          </a:xfrm>
          <a:prstGeom prst="roundRect">
            <a:avLst>
              <a:gd name="adj" fmla="val 5833"/>
            </a:avLst>
          </a:prstGeom>
          <a:solidFill>
            <a:srgbClr val="F3F5F8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678375" y="1124712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客単価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9678375" y="1325880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  ¥3,494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9678375" y="1554480"/>
            <a:ext cx="182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  ¥3,495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9678375" y="1856232"/>
            <a:ext cx="182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横ばい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95728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31720"/>
                <a:gridCol w="2331720"/>
                <a:gridCol w="1828800"/>
                <a:gridCol w="1856232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指標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7月メガポ（7/1-9）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8月メガポ（8/1-9）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差分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評価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売上金額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¥422,818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¥447,380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+¥24,562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+5.8%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売上件数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121件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128件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+7件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+5.8%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訪問者数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1,139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1,265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+126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+11.1%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合計PV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1,493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1,714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+14.8%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平均客単価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¥3,494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¥3,495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+¥1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68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→ 横ばい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CVR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10.62%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10.12%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-0.51pt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44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高水準維持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新規比率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68.3%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75.2%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+6.9pt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新規増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フォロワー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1,085名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1,124名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+39名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過去最高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0" name="Text 27"/>
          <p:cNvSpPr txBox="1"/>
          <p:nvPr/>
        </p:nvSpPr>
        <p:spPr>
          <a:xfrm>
            <a:off x="548640" y="55961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集客（訪問者+11.1%・PV+14.8%）が売上（+5.8%）を上回って伸びており、上流の流入拡大に対し下流の転換が追いついていない状態。CVR 10.12% は Qoo10平均の2.5倍以上で水準は良好。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6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32" name="Text 29"/>
          <p:cNvSpPr txBox="1"/>
          <p:nvPr/>
        </p:nvSpPr>
        <p:spPr>
          <a:xfrm>
            <a:off x="10180015" y="6400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6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17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802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売上推移 ─ 2026年8月メガポ 日別（表）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8351215" y="347472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8/1〜8/9（9日間）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417320"/>
                <a:gridCol w="868680"/>
                <a:gridCol w="960120"/>
                <a:gridCol w="960120"/>
                <a:gridCol w="1097280"/>
                <a:gridCol w="960120"/>
                <a:gridCol w="1097280"/>
                <a:gridCol w="2542032"/>
              </a:tblGrid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日付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売上金額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件数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訪問者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CVR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客単価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顧客数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新規/リピ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備考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8/1 土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¥54,450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7.34%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¥3,403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11/5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09B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好スタート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 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¥63,478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173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10.40%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¥3,527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13/5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09B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週末ピーク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8/3 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¥50,672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9.55%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¥3,378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10/5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8/4 火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¥27,309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8.04%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¥3,034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6/2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09B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中弛み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8/5 水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¥30,529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9.18%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¥3,392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7/2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8/6 木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¥26,084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6.48%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¥3,726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6/1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09B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期間最低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8/7 金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¥81,616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16.30%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¥3,710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18/3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09B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期間最高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8/8 土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¥48,487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10.61%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¥3,463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10/3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8/9 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¥64,755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13.64%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¥3,598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13/5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09B2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最終日ピーク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63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63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¥447,380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63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128件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63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1,265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63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10.12%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63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¥3,495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63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125名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63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94/31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63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553712"/>
            <a:ext cx="11094415" cy="1719072"/>
          </a:xfrm>
          <a:prstGeom prst="roundRect">
            <a:avLst>
              <a:gd name="adj" fmla="val 3723"/>
            </a:avLst>
          </a:prstGeom>
          <a:solidFill>
            <a:srgbClr val="FFFFFF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04672" y="4663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9B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ハイライト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04672" y="4992624"/>
            <a:ext cx="10582351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0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8/7（金）¥81,616・22件・CVR16.30% が期間最高。訪問135人に対し高効率で転換し、単日で期間売上の18.2%を占めた。</a:t>
            </a:r>
            <a:endParaRPr lang="en-US" sz="10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0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前半（8/1〜3）¥168,600 と 後半（8/7〜9）¥194,858 の二山構造。中盤（8/4〜6）は¥83,922に落ち込み、ここの底上げが次回の最大の伸びしろ。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6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10180015" y="6400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6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17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802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7月vs8月 売上・件数比較（メガポ同日）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8351215" y="347472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メガポ開始からの経過日数で比較</a:t>
            </a:r>
            <a:endParaRPr lang="en-US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097280"/>
          <a:ext cx="78181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641080" y="1097280"/>
            <a:ext cx="3001975" cy="1143000"/>
          </a:xfrm>
          <a:prstGeom prst="roundRect">
            <a:avLst>
              <a:gd name="adj" fmla="val 5600"/>
            </a:avLst>
          </a:prstGeom>
          <a:solidFill>
            <a:srgbClr val="F3F5F8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805672" y="1207008"/>
            <a:ext cx="26727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8月メガポ 合計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8805672" y="1463040"/>
            <a:ext cx="267279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¥447,380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8805672" y="1947672"/>
            <a:ext cx="26727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128件 / 訪問1,265 / CVR 10.12%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641080" y="2377440"/>
            <a:ext cx="3001975" cy="1143000"/>
          </a:xfrm>
          <a:prstGeom prst="roundRect">
            <a:avLst>
              <a:gd name="adj" fmla="val 5600"/>
            </a:avLst>
          </a:prstGeom>
          <a:solidFill>
            <a:srgbClr val="F3F5F8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805672" y="2487168"/>
            <a:ext cx="26727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7月メガポ 合計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805672" y="2743200"/>
            <a:ext cx="267279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¥422,818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8805672" y="3227832"/>
            <a:ext cx="26727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121件 / 訪問1,139 / CVR 10.62%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8641080" y="3657600"/>
            <a:ext cx="3001975" cy="1417320"/>
          </a:xfrm>
          <a:prstGeom prst="roundRect">
            <a:avLst>
              <a:gd name="adj" fmla="val 4516"/>
            </a:avLst>
          </a:prstGeom>
          <a:solidFill>
            <a:srgbClr val="F3F5F8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805672" y="3767328"/>
            <a:ext cx="26727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前月差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805672" y="4023360"/>
            <a:ext cx="267279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7A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+¥24,562</a:t>
            </a:r>
            <a:endParaRPr lang="en-US" sz="2100" dirty="0"/>
          </a:p>
        </p:txBody>
      </p:sp>
      <p:sp>
        <p:nvSpPr>
          <p:cNvPr id="16" name="Text 13"/>
          <p:cNvSpPr txBox="1"/>
          <p:nvPr/>
        </p:nvSpPr>
        <p:spPr>
          <a:xfrm>
            <a:off x="8805672" y="4507992"/>
            <a:ext cx="2672791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+7件 / +126人 / -0.51pt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売上伸長率 +5.8%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48640" y="5257800"/>
            <a:ext cx="11094415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804672" y="5376672"/>
            <a:ext cx="1058235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8月は 1〜3日目（¥168,600）と 7〜9日目（¥194,858）に山があり、7月の「初日集中型」（初日¥73,206）から分散型へ。4〜6日目の谷（¥83,922）が改善余地で、中盤のタイムセール・クーポン投下が次回の打ち手。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6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10180015" y="6400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6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17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802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注文・顧客データ ─ 2026年8月メガポ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8351215" y="347472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8/1〜8/9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3F5F8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1323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購入顧客（合計）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125名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9日間（7月120名比 +4.2%）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35882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3F5F8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2341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新規顧客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52341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09B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94名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352341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75.2%（7月68.3%比 +6.9pt）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16900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3F5F8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33359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リピーター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33359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044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31名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633359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24.8%（7月31.7%比 -6.9pt）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979179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3F5F8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143771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フォロワー数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9143771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7A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1,124名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9143771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期末時点（+20名/9日）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59152"/>
          <a:ext cx="65379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960120"/>
                <a:gridCol w="1143000"/>
                <a:gridCol w="960120"/>
                <a:gridCol w="1188720"/>
                <a:gridCol w="1051560"/>
              </a:tblGrid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日付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リピート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フォロワー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ショップPV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8/1(土)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1,107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8/2(日)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1,107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8/3(月)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1,110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8/4(火)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1,113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8/5(水)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1,115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8/6(木)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1,118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8/7(金)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1,119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8/8(土)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8/9(日)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1,124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63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63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63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63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63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63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311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7360920" y="2359152"/>
            <a:ext cx="4282135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543800" y="2441448"/>
            <a:ext cx="39163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09B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8/7（金）が最大の顧客獲得日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7543800" y="2688336"/>
            <a:ext cx="3916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21名獲得（新規18/リピート3）。新規比率85.7%は期間中最高で、広告露出が新規に効いた1日。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7360920" y="3291840"/>
            <a:ext cx="4282135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543800" y="3374136"/>
            <a:ext cx="39163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7A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新規比率75.2%へ回復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7543800" y="3621024"/>
            <a:ext cx="3916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7月68.3%から+6.9pt。5月（76.8%）の水準に戻り、新規流入の裾野は着実に拡大。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7360920" y="4224528"/>
            <a:ext cx="4282135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7543800" y="4306824"/>
            <a:ext cx="39163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44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リピーター31名（-7名）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7543800" y="4553712"/>
            <a:ext cx="3916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7月38名から減少。6月メガ割直後の再購入需要が一巡した反動。育成導線の設計が課題。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7360920" y="5157216"/>
            <a:ext cx="4282135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7543800" y="5239512"/>
            <a:ext cx="39163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7A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フォロワー1,124名で過去最高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7543800" y="5486400"/>
            <a:ext cx="3916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+20名/9日は7月（+6名）の3.3倍ペース。お気に入り流入371PVと連動し資産が蓄積。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6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10180015" y="6400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6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17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802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7月vs8月 顧客・新規/リピート比較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8351215" y="347472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メガポ同日比較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286000"/>
                <a:gridCol w="2286000"/>
                <a:gridCol w="1828800"/>
                <a:gridCol w="176479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指標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7月（7/1-9）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8月（8/1-9）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差分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前期比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購入顧客（合計）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120名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125名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+5名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+4.2%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新規顧客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82名(68.3%)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94名(75.2%)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+12名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+14.6%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38名(31.7%)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31名(24.8%)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-7名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44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-18.4%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フォロワー（期末）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1,085名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1,124名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+39名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+3.6%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フォロワー増（期中）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+6名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+20名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+14名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+233%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1人あたり売上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¥3,523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¥3,579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+¥56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ショップPV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311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+113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+57.1%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776472"/>
            <a:ext cx="11094415" cy="2487168"/>
          </a:xfrm>
          <a:prstGeom prst="roundRect">
            <a:avLst>
              <a:gd name="adj" fmla="val 2574"/>
            </a:avLst>
          </a:prstGeom>
          <a:solidFill>
            <a:srgbClr val="FFFFFF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04672" y="38770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9B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考察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804672" y="4206240"/>
            <a:ext cx="10582351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顧客数+4.2%に対し新規+14.6%。今回の成長は新規獲得エンジンが主導しており、集客面は健全に機能している。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一方リピーターは-18.4%。7月は6月メガ割直後の再購入が上乗せされていた反動と推察され、8月単体で見れば平常水準への回帰。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新規比率75.2%は5月（76.8%）とほぼ同水準に回帰。7月の68.3%が例外値であり、構造的な悪化ではない。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1人あたり売上は¥3,523→¥3,579（+1.6%）と微増。UVデイエッセンスNの複数個購入が客単価を下支えした。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次回メガ割の最大テーマは「8月に獲得した新規94名のリピート転換」。獲得した新規を離脱させない育成設計が急務。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6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10180015" y="6400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6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17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802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チャネル別流入分析（PV）─ 7月vs8月 TOP10比較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8351215" y="347472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合計PV 1,493 → 1,714（+14.8%）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708660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868680"/>
                <a:gridCol w="868680"/>
                <a:gridCol w="777240"/>
                <a:gridCol w="1097280"/>
                <a:gridCol w="1143000"/>
              </a:tblGrid>
              <a:tr h="2606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チャネル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7月 PV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 PV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増減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8月構成比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評価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検索結果_全体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449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468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27.3%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+4.2%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Keyword Plus（広告）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12.1%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+3.0%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パワーランクアップ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68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+0.7%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検索結果_一般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6.7%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+11.8%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お気に入り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371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+67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+22.0%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ダイレクト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14.3%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+17.2%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ショップ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+76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14.2%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+45.5%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カート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7.2%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+22.8%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外部サイト_全体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±0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3.9%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68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→ 横ばい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外部_Google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+65.6%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Myページ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1.7%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+11.5%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商品詳細ページ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-17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1.5%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44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-40.5%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最近見た商品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+14.3%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ホーム_全体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+18.8%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263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合計（ページビュー合計）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63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1,493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63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1,714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63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63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63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+14.8%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909560" y="1051560"/>
            <a:ext cx="3733495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092440" y="1161288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A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ショップ流入 +45.5%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092440" y="1453896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167→243PV。ショップページ経由の回遊が最大の伸び。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909560" y="2093976"/>
            <a:ext cx="3733495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092440" y="2203704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A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お気に入り +22.0%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2496312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304→371PV。構成比21.6%でリピート基盤が着実に厚みを増す。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7909560" y="3136392"/>
            <a:ext cx="3733495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092440" y="3246120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A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外部Google +65.6%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3538728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32→53PV。外部SEOが新規認知の入口として機能。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7909560" y="4178808"/>
            <a:ext cx="3733495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092440" y="4288536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44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商品詳細ページ -40.5%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092440" y="4581144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42→25PV。商品間の相互回遊が弱化。レコメンド強化の余地。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48640" y="5285232"/>
            <a:ext cx="11094415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804672" y="5394960"/>
            <a:ext cx="1058235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検索（27.3%）＋お気に入り（21.6%）＋ダイレクト（14.3%）＋ショップ（14.2%）の4本柱。指名・再訪型の流入が全体の50%超を占め、ブランド資産が着実に積み上がる構造。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ただし検索は+4.2%と伸びが鈍化し、構成比は30.1%→27.3%へ低下。次回メガ割では広告入札とKW拡張で検索流入の再加速が必要。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6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10180015" y="6400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6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17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802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7月vs8月 CVR・ファネル比較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8351215" y="347472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メガポ同日比較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603504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143000"/>
                <a:gridCol w="1143000"/>
                <a:gridCol w="105156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指標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7月メガポ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8月メガポ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差分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評価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総PV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1,493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1,714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+14.8%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訪問者数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1,139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1,265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+126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+11.1%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商品カート数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229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+8.7%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注文数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121件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128件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+7件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+5.8%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売上CVR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10.62%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10.12%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-0.51pt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44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高水準維持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903720" y="1051560"/>
            <a:ext cx="4739335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104888" y="1133856"/>
            <a:ext cx="433699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09B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ファネル推移（7月 → 8月）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7104888" y="1463040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PV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7872984" y="1504188"/>
            <a:ext cx="1778582" cy="132588"/>
          </a:xfrm>
          <a:prstGeom prst="roundRect">
            <a:avLst>
              <a:gd name="adj" fmla="val 20690"/>
            </a:avLst>
          </a:prstGeom>
          <a:solidFill>
            <a:srgbClr val="A9B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72984" y="1659636"/>
            <a:ext cx="2041855" cy="132588"/>
          </a:xfrm>
          <a:prstGeom prst="roundRect">
            <a:avLst>
              <a:gd name="adj" fmla="val 20690"/>
            </a:avLst>
          </a:prstGeom>
          <a:solidFill>
            <a:srgbClr val="E09B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042855" y="146304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1,493 → 1,714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7104888" y="1892808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訪問者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872984" y="1933956"/>
            <a:ext cx="1356869" cy="132588"/>
          </a:xfrm>
          <a:prstGeom prst="roundRect">
            <a:avLst>
              <a:gd name="adj" fmla="val 20690"/>
            </a:avLst>
          </a:prstGeom>
          <a:solidFill>
            <a:srgbClr val="A9B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72984" y="2089404"/>
            <a:ext cx="1506970" cy="132588"/>
          </a:xfrm>
          <a:prstGeom prst="roundRect">
            <a:avLst>
              <a:gd name="adj" fmla="val 20690"/>
            </a:avLst>
          </a:prstGeom>
          <a:solidFill>
            <a:srgbClr val="E09B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042855" y="189280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1,139 → 1,265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7104888" y="2322576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カート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7872984" y="2363724"/>
            <a:ext cx="272803" cy="132588"/>
          </a:xfrm>
          <a:prstGeom prst="roundRect">
            <a:avLst>
              <a:gd name="adj" fmla="val 20690"/>
            </a:avLst>
          </a:prstGeom>
          <a:solidFill>
            <a:srgbClr val="A9B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72984" y="2519172"/>
            <a:ext cx="296629" cy="132588"/>
          </a:xfrm>
          <a:prstGeom prst="roundRect">
            <a:avLst>
              <a:gd name="adj" fmla="val 20690"/>
            </a:avLst>
          </a:prstGeom>
          <a:solidFill>
            <a:srgbClr val="E09B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042855" y="232257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229 → 249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7104888" y="2752344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872984" y="2793492"/>
            <a:ext cx="144145" cy="132588"/>
          </a:xfrm>
          <a:prstGeom prst="roundRect">
            <a:avLst>
              <a:gd name="adj" fmla="val 20690"/>
            </a:avLst>
          </a:prstGeom>
          <a:solidFill>
            <a:srgbClr val="A9B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872984" y="2948940"/>
            <a:ext cx="152484" cy="132588"/>
          </a:xfrm>
          <a:prstGeom prst="roundRect">
            <a:avLst>
              <a:gd name="adj" fmla="val 20690"/>
            </a:avLst>
          </a:prstGeom>
          <a:solidFill>
            <a:srgbClr val="E09B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042855" y="275234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121 → 128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548640" y="3401568"/>
            <a:ext cx="11094415" cy="2862072"/>
          </a:xfrm>
          <a:prstGeom prst="roundRect">
            <a:avLst>
              <a:gd name="adj" fmla="val 2236"/>
            </a:avLst>
          </a:prstGeom>
          <a:solidFill>
            <a:srgbClr val="FFFFFF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804672" y="35112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9B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分析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804672" y="3840480"/>
            <a:ext cx="10582351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PV+14.8%・訪問者+11.1%と集客は伸長。一方カート+8.7%、注文+5.8%と、ファネルの下流にいくほど伸び率が縮小している。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CVR 10.12% はQoo10平均（2〜4%）の2.5倍以上。0.51ptの低下は流入増に伴う自然な希釈であり、水準としては極めて健全。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カート転換率（カート数/訪問者）は20.1%→19.7%とほぼ横ばい。カート→注文は52.8%→51.4%で、残カート121件が回収可能な母数として残る。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次回メガ割は「訪問者1,400・CVR11.0%・注文150件」を目標に、残カートの回収（リマインド／クーポン投下）を主要施策に据える。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6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10180015" y="6400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6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17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802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商品別売上ランキング ─ 2026年8月メガポ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8351215" y="347472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全12SKU / 売上¥447,380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3F5F8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1323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1位 売上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09B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¥142,120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V.C. UVデイエッセンス N（31.8%）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35882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3F5F8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2341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2位 売上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52341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¥100,040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352341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V.C. プレエッセンス N（22.4%）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16900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3F5F8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33359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TOP2合計シェア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33359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54.1%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633359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V.C.ライン主導の構造へ転換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979179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3F5F8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143771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販売商品数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9143771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12SKU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9143771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TOP3で売上の68.4%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59152"/>
          <a:ext cx="11094415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4828032"/>
                <a:gridCol w="1600200"/>
                <a:gridCol w="1051560"/>
                <a:gridCol w="1325880"/>
                <a:gridCol w="15087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順位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売上金額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件数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客単価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構成比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UVデイエッセンス N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¥142,120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¥3,553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31.8%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プレエッセンス N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¥100,040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¥5,002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22.4%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A.Z. セラムショット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¥64,052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¥2,209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14.3%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モイストフォーミングウォッシュ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¥51,861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¥4,322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リリースクレンジングジェル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¥31,140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¥3,460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7.0%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メルトスクラブウォッシュ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¥22,816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¥2,852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5.1%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ディープリペアクリーム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¥10,098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¥5,049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モイストリニューイングローション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¥8,118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¥4,059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セラムインローション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¥7,294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¥3,647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その他3商品（ドリップステム/ハンドセラム/リップ）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¥9,841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263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 全12商品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63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¥447,380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63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128件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63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¥3,495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63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D9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548640" y="57607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TOP3で売上の68.4%。V.C. UVデイエッセンスN（季節需要）/ V.C. プレエッセンスN（高単価）/ A.Z. セラムショット（成分指名）の3軸構造。7月まで首位だったA.Z.が3位に後退し、V.C.ラインへ重心が移った。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6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23" name="Text 20"/>
          <p:cNvSpPr txBox="1"/>
          <p:nvPr/>
        </p:nvSpPr>
        <p:spPr>
          <a:xfrm>
            <a:off x="10180015" y="6400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6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 / 17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802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7月vs8月 商品別売上比較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8351215" y="347472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メガポ同日比較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94415" cy="914400"/>
        </p:xfrm>
        <a:graphic>
          <a:graphicData uri="http://schemas.openxmlformats.org/drawingml/2006/table">
            <a:tbl>
              <a:tblPr/>
              <a:tblGrid>
                <a:gridCol w="3913632"/>
                <a:gridCol w="1325880"/>
                <a:gridCol w="960120"/>
                <a:gridCol w="1325880"/>
                <a:gridCol w="960120"/>
                <a:gridCol w="1371600"/>
                <a:gridCol w="12344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7月 売上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7月 件数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 売上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 件数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売上増減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評価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UVデイエッセンス N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¥81,719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23件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¥142,120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+¥60,401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+74%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プレエッセンス N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¥95,038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¥100,040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+¥5,002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+5%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A.Z. セラムショット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¥70,983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¥64,052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-¥6,931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44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-10%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モイストフォーミングウォッシュ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¥39,713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¥51,861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+¥12,148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+31%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リリースクレンジングジェル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¥34,600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¥31,140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-¥3,460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44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-10%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メルトスクラブウォッシュ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¥31,372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¥22,816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-¥8,556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44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-27%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ディープリペアクリーム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¥20,196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¥10,098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-¥10,098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44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-50%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モイストリニューイングローション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¥12,177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¥8,118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-¥4,059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44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-33%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977640"/>
            <a:ext cx="5410048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68096" y="4078224"/>
            <a:ext cx="497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7A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伸長した商品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768096" y="4407408"/>
            <a:ext cx="4971136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UVデイエッセンスN：¥82k→¥142k（+74%）。盛夏の紫外線ピーク需要を完全に捕捉し、単月で全体の約1/3を占める。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モイストフォーミングウォッシュ：¥40k→¥52k（+31%）。5月投入の新商品が定番化フェーズへ移行。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プレエッセンスN：¥95k→¥100k（+5%）。¥5,002の高単価を維持しつつ着実に積み上げ。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233008" y="3977640"/>
            <a:ext cx="5410048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452464" y="4078224"/>
            <a:ext cx="497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44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減少した商品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452464" y="4407408"/>
            <a:ext cx="4971136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A.Z.セラムショット：-10%。PV 381→359、「アゼライン酸」KWが101→77件へ減少したことが直接要因。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ディープリペアクリーム：-50%、メルトスクラブウォッシュ：-27%。高単価クリーム・洗顔カテゴリの需要がUV／フォーミングへ移動。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対策：UV需要が落ちる秋以降を見据え、A.Z.と保湿ラインの再強化を先行して着手する。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6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10180015" y="6400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6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 / 17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802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V.C. UVデイエッセンス N ─ 詳細分析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8351215" y="347472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商品番号 1194113791 / 30g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3F5F8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1323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8月売上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09B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¥142,120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全体の31.8% / No.1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35882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3F5F8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2341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販売件数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52341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7A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40件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352341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7月23件比 +74%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16900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3F5F8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33359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1個単価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33359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¥3,553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633359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中価格 × 季節需要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979179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3F5F8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143771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PV / CVR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9143771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392 / 10.20%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9143771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全SKU中トップ効率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2331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9B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チャネル別PV（8月）</a:t>
            </a:r>
            <a:endParaRPr lang="en-US" sz="11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51760"/>
          <a:ext cx="11094415" cy="914400"/>
        </p:xfrm>
        <a:graphic>
          <a:graphicData uri="http://schemas.openxmlformats.org/drawingml/2006/table">
            <a:tbl>
              <a:tblPr/>
              <a:tblGrid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検索結果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KW Plus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ランクUP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一般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ダイレクト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お気に入り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ショップ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カート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外部サイト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その他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76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392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548640" y="3429000"/>
            <a:ext cx="5410048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68096" y="3529584"/>
            <a:ext cx="497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9B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商品特性・分析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68096" y="3840480"/>
            <a:ext cx="4971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【商品概要】日焼け止め兼美容液。ビタミンC配合・ウォータープルーフ処方。SPF/PA と美容液を1本で兼ねる「時短スキンケア」訴求の主力商品。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768096" y="4498848"/>
            <a:ext cx="497113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7月23件→8月40件（+74%）。盛夏の紫外線需要ピークを捕捉し、単月で全体の31.8%を占める最大商品に。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PV392でCVR 10.20%。流入量・転換率とも全SKU中トップで、投資効率が最も高い。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検索92PVのうち広告（KW Plus 43 / パワーランクアップ 43）が86PVで94%。自然検索はわずか6PVで広告依存度が高い。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関連KW：「日焼け止め」6件、「dr365 日焼け止め」3件、「dr365 uv」2件、「dr365 公式 日焼け止め」2件。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6233008" y="3429000"/>
            <a:ext cx="5410048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6452464" y="3529584"/>
            <a:ext cx="497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9B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次回メガ割に向けた打ち手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6452464" y="3904488"/>
            <a:ext cx="237744" cy="237744"/>
          </a:xfrm>
          <a:prstGeom prst="ellipse">
            <a:avLst/>
          </a:prstGeom>
          <a:solidFill>
            <a:srgbClr val="E09B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452464" y="39044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6781648" y="3858768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自然検索の獲得（最優先）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検索流入の94%が広告依存。商品タイトル先頭に「日焼け止め」「UV」「SPF」を配置し、一般検索6PV→30PV超へ。</a:t>
            </a:r>
            <a:endParaRPr lang="en-US" sz="980" dirty="0"/>
          </a:p>
        </p:txBody>
      </p:sp>
      <p:sp>
        <p:nvSpPr>
          <p:cNvPr id="31" name="Shape 28"/>
          <p:cNvSpPr/>
          <p:nvPr/>
        </p:nvSpPr>
        <p:spPr>
          <a:xfrm>
            <a:off x="6452464" y="4489704"/>
            <a:ext cx="237744" cy="237744"/>
          </a:xfrm>
          <a:prstGeom prst="ellipse">
            <a:avLst/>
          </a:prstGeom>
          <a:solidFill>
            <a:srgbClr val="E09B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52464" y="44897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6781648" y="4443984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秋冬需要への転換設計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9月以降のUV需要減を見越し「年中使えるビタミンC美容液UV」への訴求切替を先行実施。</a:t>
            </a:r>
            <a:endParaRPr lang="en-US" sz="980" dirty="0"/>
          </a:p>
        </p:txBody>
      </p:sp>
      <p:sp>
        <p:nvSpPr>
          <p:cNvPr id="34" name="Shape 31"/>
          <p:cNvSpPr/>
          <p:nvPr/>
        </p:nvSpPr>
        <p:spPr>
          <a:xfrm>
            <a:off x="6452464" y="5074920"/>
            <a:ext cx="237744" cy="237744"/>
          </a:xfrm>
          <a:prstGeom prst="ellipse">
            <a:avLst/>
          </a:prstGeom>
          <a:solidFill>
            <a:srgbClr val="E09B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52464" y="50749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781648" y="5029200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セット販売（UV + プレエッセンスN）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TOP2の併売。朝のスキンケア完結セットとして¥8,500帯を新設し客単価を引き上げ。</a:t>
            </a:r>
            <a:endParaRPr lang="en-US" sz="980" dirty="0"/>
          </a:p>
        </p:txBody>
      </p:sp>
      <p:sp>
        <p:nvSpPr>
          <p:cNvPr id="37" name="Shape 34"/>
          <p:cNvSpPr/>
          <p:nvPr/>
        </p:nvSpPr>
        <p:spPr>
          <a:xfrm>
            <a:off x="6452464" y="5660136"/>
            <a:ext cx="237744" cy="237744"/>
          </a:xfrm>
          <a:prstGeom prst="ellipse">
            <a:avLst/>
          </a:prstGeom>
          <a:solidFill>
            <a:srgbClr val="E09B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452464" y="56601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850" dirty="0"/>
          </a:p>
        </p:txBody>
      </p:sp>
      <p:sp>
        <p:nvSpPr>
          <p:cNvPr id="39" name="Text 36"/>
          <p:cNvSpPr txBox="1"/>
          <p:nvPr/>
        </p:nvSpPr>
        <p:spPr>
          <a:xfrm>
            <a:off x="6781648" y="5614416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ダイレクト76PVの受け皿強化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指名再訪が多いため、商品ページ上部にリピート用まとめ買い（2個/3個）導線を設置。</a:t>
            </a:r>
            <a:endParaRPr lang="en-US" sz="98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6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41" name="Text 38"/>
          <p:cNvSpPr txBox="1"/>
          <p:nvPr/>
        </p:nvSpPr>
        <p:spPr>
          <a:xfrm>
            <a:off x="10180015" y="6400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6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 / 17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802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V.C. プレエッセンス N ─ 詳細分析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8351215" y="347472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商品番号 1147122231 / 30ml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3F5F8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1323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8月売上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09B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¥100,040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全体の22.4% / No.2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35882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3F5F8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2341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販売件数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52341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7A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20件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352341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7月19件比 +5%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16900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3F5F8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33359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1個単価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33359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¥5,002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633359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全SKU中 最高単価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979179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3F5F8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143771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PV / CVR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9143771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249 / 8.03%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9143771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 9.79% から微減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2331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9B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チャネル別PV（8月）</a:t>
            </a:r>
            <a:endParaRPr lang="en-US" sz="11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51760"/>
          <a:ext cx="11094415" cy="914400"/>
        </p:xfrm>
        <a:graphic>
          <a:graphicData uri="http://schemas.openxmlformats.org/drawingml/2006/table">
            <a:tbl>
              <a:tblPr/>
              <a:tblGrid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検索結果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KW Plus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ランクUP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一般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お気に入り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ショップ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ダイレクト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カート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外部サイト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その他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78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44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548640" y="3429000"/>
            <a:ext cx="5410048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68096" y="3529584"/>
            <a:ext cx="497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9B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商品特性・分析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68096" y="3840480"/>
            <a:ext cx="4971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【商品概要】導入美容液（ブースター）。洗顔後の一番手に使い、後続のスキンケアの浸透を高める設計。毛穴・肌あれ・透明感を訴求。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768096" y="4498848"/>
            <a:ext cx="497113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単価¥5,002は全SKU中最高。20件で¥100,040と、件数の少なさを単価でカバーする収益貢献型の商品。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PVは194→249（+28%）と伸びた一方、CVRは9.79%→8.03%へ微減。比較検討層の流入が増えた影響と推察。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検索78PVのうちパワーランクアップ44PVが最大。広告経由の露出が指名検索を押し上げる好循環。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KW「dr365 v.c.プレエッセンス」11件（7月7件）、「dr365 v.c. プレエッセンス n」3件（新規）、「導入美容液」6件（7月4件）と指名・カテゴリとも拡大。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6233008" y="3429000"/>
            <a:ext cx="5410048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6452464" y="3529584"/>
            <a:ext cx="497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9B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次回メガ割に向けた打ち手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6452464" y="3904488"/>
            <a:ext cx="237744" cy="237744"/>
          </a:xfrm>
          <a:prstGeom prst="ellipse">
            <a:avLst/>
          </a:prstGeom>
          <a:solidFill>
            <a:srgbClr val="E09B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452464" y="39044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6781648" y="3858768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「導入美容液」KWの刈り取り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6件→20件へ。「先行美容液」「ブースター美容液」を商品タグ・タイトルへ追加し受け皿を拡張。</a:t>
            </a:r>
            <a:endParaRPr lang="en-US" sz="980" dirty="0"/>
          </a:p>
        </p:txBody>
      </p:sp>
      <p:sp>
        <p:nvSpPr>
          <p:cNvPr id="31" name="Shape 28"/>
          <p:cNvSpPr/>
          <p:nvPr/>
        </p:nvSpPr>
        <p:spPr>
          <a:xfrm>
            <a:off x="6452464" y="4489704"/>
            <a:ext cx="237744" cy="237744"/>
          </a:xfrm>
          <a:prstGeom prst="ellipse">
            <a:avLst/>
          </a:prstGeom>
          <a:solidFill>
            <a:srgbClr val="E09B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52464" y="44897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6781648" y="4443984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使用順序コンテンツの整備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導入美容液は使い方訴求がCVRを左右。ページ上部に「洗顔→プレエッセンス→UV」の図解を配置。</a:t>
            </a:r>
            <a:endParaRPr lang="en-US" sz="980" dirty="0"/>
          </a:p>
        </p:txBody>
      </p:sp>
      <p:sp>
        <p:nvSpPr>
          <p:cNvPr id="34" name="Shape 31"/>
          <p:cNvSpPr/>
          <p:nvPr/>
        </p:nvSpPr>
        <p:spPr>
          <a:xfrm>
            <a:off x="6452464" y="5074920"/>
            <a:ext cx="237744" cy="237744"/>
          </a:xfrm>
          <a:prstGeom prst="ellipse">
            <a:avLst/>
          </a:prstGeom>
          <a:solidFill>
            <a:srgbClr val="E09B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52464" y="50749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781648" y="5029200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高単価ゆえのカゴ落ち対策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カート25PVに対し20件。2本セット／定期購入で1回あたりの負担を下げ、離脱を抑制。</a:t>
            </a:r>
            <a:endParaRPr lang="en-US" sz="980" dirty="0"/>
          </a:p>
        </p:txBody>
      </p:sp>
      <p:sp>
        <p:nvSpPr>
          <p:cNvPr id="37" name="Shape 34"/>
          <p:cNvSpPr/>
          <p:nvPr/>
        </p:nvSpPr>
        <p:spPr>
          <a:xfrm>
            <a:off x="6452464" y="5660136"/>
            <a:ext cx="237744" cy="237744"/>
          </a:xfrm>
          <a:prstGeom prst="ellipse">
            <a:avLst/>
          </a:prstGeom>
          <a:solidFill>
            <a:srgbClr val="E09B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452464" y="56601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850" dirty="0"/>
          </a:p>
        </p:txBody>
      </p:sp>
      <p:sp>
        <p:nvSpPr>
          <p:cNvPr id="39" name="Text 36"/>
          <p:cNvSpPr txBox="1"/>
          <p:nvPr/>
        </p:nvSpPr>
        <p:spPr>
          <a:xfrm>
            <a:off x="6781648" y="5614416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UVデイエッセンスとのバンドル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TOP2併売でCVR8%台を底上げ。朝ケア完結セットとして両商品ページから相互送客。</a:t>
            </a:r>
            <a:endParaRPr lang="en-US" sz="98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6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41" name="Text 38"/>
          <p:cNvSpPr txBox="1"/>
          <p:nvPr/>
        </p:nvSpPr>
        <p:spPr>
          <a:xfrm>
            <a:off x="10180015" y="6400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6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 / 17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802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検索キーワード分析 ─ 7月vs8月比較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8351215" y="347472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検索流入 449PV → 468PV（+4.2%）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708660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658368"/>
                <a:gridCol w="658368"/>
                <a:gridCol w="658368"/>
                <a:gridCol w="1417320"/>
                <a:gridCol w="1088136"/>
              </a:tblGrid>
              <a:tr h="24505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検索ワード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増減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タイプ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評価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F"/>
                    </a:solidFill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dr365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+46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ブランド指名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+29%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アゼライン酸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-24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成分指名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44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-24%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dr365 公式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ブランド指名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+43%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dr365 v.c.プレエッセンス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+57%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アゼライン酸 クリーム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成分×カテゴリ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44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-33%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dr365 a.z. セラムショット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44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-25%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導入美容液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カテゴリ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+50%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日焼け止め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カテゴリ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+100%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dr365 日焼け止め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商品カテゴリ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44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-73%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dr365 クレンジング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商品カテゴリ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44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-80%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アルコールフリー化粧水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特性×カテゴリ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新規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dr365 v.c. プレエッセンス n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商品名（完全）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新規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先行美容液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カテゴリ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新規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毛穴シミケア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効能訴求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新規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エイジングケア ハリ たるみ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効能訴求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新規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肌再生クリーム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4344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効能訴求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7A5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新規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909560" y="1051560"/>
            <a:ext cx="3733495" cy="923544"/>
          </a:xfrm>
          <a:prstGeom prst="roundRect">
            <a:avLst>
              <a:gd name="adj" fmla="val 6931"/>
            </a:avLst>
          </a:prstGeom>
          <a:solidFill>
            <a:srgbClr val="FFFFFF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092440" y="1152144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A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ブランド指名 +29%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092440" y="1444752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「dr365」156→202、「dr365 公式」35→50。指名検索は過去最高水準。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909560" y="2084832"/>
            <a:ext cx="3733495" cy="923544"/>
          </a:xfrm>
          <a:prstGeom prst="roundRect">
            <a:avLst>
              <a:gd name="adj" fmla="val 6931"/>
            </a:avLst>
          </a:prstGeom>
          <a:solidFill>
            <a:srgbClr val="FFFFFF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092440" y="2185416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44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アゼライン酸 -24%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2478024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101→77件。A.Z.セラムショットの売上-10%と直接連動している。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7909560" y="3118104"/>
            <a:ext cx="3733495" cy="923544"/>
          </a:xfrm>
          <a:prstGeom prst="roundRect">
            <a:avLst>
              <a:gd name="adj" fmla="val 6931"/>
            </a:avLst>
          </a:prstGeom>
          <a:solidFill>
            <a:srgbClr val="FFFFFF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092440" y="3218688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A5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効能KWが新規発生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3511296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「毛穴シミケア」「エイジングケア ハリ たるみ」「肌再生クリーム」が新規出現。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7909560" y="4151376"/>
            <a:ext cx="3733495" cy="923544"/>
          </a:xfrm>
          <a:prstGeom prst="roundRect">
            <a:avLst>
              <a:gd name="adj" fmla="val 6931"/>
            </a:avLst>
          </a:prstGeom>
          <a:solidFill>
            <a:srgbClr val="FFFFFF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092440" y="4251960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44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カテゴリ指名が減少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092440" y="4544568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「dr365 日焼け止め」-73%、「dr365 クレンジング」-80%。ブランド単体KWへ集約が進行。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48640" y="5230368"/>
            <a:ext cx="11094415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804672" y="5303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09B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KW施策まとめ（次回メガ割に向けて）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04672" y="5577840"/>
            <a:ext cx="1058235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「アゼライン酸」の落ち込みが売上減に直結。Keyword Plusの入札上限を引き上げ、「アゼライン酸 クリーム/セラム/毛穴」の組合せKWを再拡張する。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新規発生した効能KW（毛穴シミケア／エイジングケア／肌再生クリーム）は購買意欲が高い層。該当商品ページに効能訴求コピーを追加し受け皿を作る。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6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21" name="Text 18"/>
          <p:cNvSpPr txBox="1"/>
          <p:nvPr/>
        </p:nvSpPr>
        <p:spPr>
          <a:xfrm>
            <a:off x="10180015" y="6400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6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 / 17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802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次回メガ割に向けた改善アクション ─ 4軸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8351215" y="347472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8月メガポ実績にもとづく優先施策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5410048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68096" y="1280160"/>
            <a:ext cx="497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9B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流入チャネル改善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68096" y="1677924"/>
            <a:ext cx="214884" cy="214884"/>
          </a:xfrm>
          <a:prstGeom prst="ellipse">
            <a:avLst/>
          </a:prstGeom>
          <a:solidFill>
            <a:srgbClr val="E09B2D"/>
          </a:solidFill>
          <a:ln w="12700">
            <a:solidFill>
              <a:srgbClr val="E09B2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677924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69848" y="1636776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Keyword Plus：「アゼライン酸」の入札上限を引上げ（101→77件の減少を回復）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68096" y="2052828"/>
            <a:ext cx="214884" cy="214884"/>
          </a:xfrm>
          <a:prstGeom prst="ellipse">
            <a:avLst/>
          </a:prstGeom>
          <a:solidFill>
            <a:srgbClr val="E09B2D"/>
          </a:solidFill>
          <a:ln w="12700">
            <a:solidFill>
              <a:srgbClr val="E09B2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8096" y="2052828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1069848" y="2011680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自然検索の獲得：UVデイエッセンスの一般検索6PV→30PV超へタイトル最適化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68096" y="2427732"/>
            <a:ext cx="214884" cy="214884"/>
          </a:xfrm>
          <a:prstGeom prst="ellipse">
            <a:avLst/>
          </a:prstGeom>
          <a:solidFill>
            <a:srgbClr val="E09B2D"/>
          </a:solidFill>
          <a:ln w="12700">
            <a:solidFill>
              <a:srgbClr val="E09B2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8096" y="2427732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1069848" y="2386584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ショップ流入+45%を維持：ショップページのメガ割特集枠を常設化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8096" y="2802636"/>
            <a:ext cx="214884" cy="214884"/>
          </a:xfrm>
          <a:prstGeom prst="ellipse">
            <a:avLst/>
          </a:prstGeom>
          <a:solidFill>
            <a:srgbClr val="E09B2D"/>
          </a:solidFill>
          <a:ln w="12700">
            <a:solidFill>
              <a:srgbClr val="E09B2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68096" y="2802636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1069848" y="2761488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商品詳細ページ-40%の回復：関連商品レコメンド枠を全SKUに設置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68096" y="3177540"/>
            <a:ext cx="214884" cy="214884"/>
          </a:xfrm>
          <a:prstGeom prst="ellipse">
            <a:avLst/>
          </a:prstGeom>
          <a:solidFill>
            <a:srgbClr val="E09B2D"/>
          </a:solidFill>
          <a:ln w="12700">
            <a:solidFill>
              <a:srgbClr val="E09B2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68096" y="3177540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1069848" y="3136392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外部Google+66%を継続：成分・効能テーマのSEO記事を追加投入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233008" y="1188720"/>
            <a:ext cx="5410048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52464" y="1280160"/>
            <a:ext cx="497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9B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KW・検索対策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52464" y="1677924"/>
            <a:ext cx="214884" cy="214884"/>
          </a:xfrm>
          <a:prstGeom prst="ellipse">
            <a:avLst/>
          </a:prstGeom>
          <a:solidFill>
            <a:srgbClr val="E09B2D"/>
          </a:solidFill>
          <a:ln w="12700">
            <a:solidFill>
              <a:srgbClr val="E09B2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52464" y="1677924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6754216" y="1636776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成分KWの再獲得：「アゼライン酸 クリーム/セラム/毛穴」を再拡張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452464" y="2052828"/>
            <a:ext cx="214884" cy="214884"/>
          </a:xfrm>
          <a:prstGeom prst="ellipse">
            <a:avLst/>
          </a:prstGeom>
          <a:solidFill>
            <a:srgbClr val="E09B2D"/>
          </a:solidFill>
          <a:ln w="12700">
            <a:solidFill>
              <a:srgbClr val="E09B2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52464" y="2052828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6754216" y="2011680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効能KWを新設：「毛穴シミケア」「エイジングケア ハリ たるみ」「肌再生クリーム」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452464" y="2427732"/>
            <a:ext cx="214884" cy="214884"/>
          </a:xfrm>
          <a:prstGeom prst="ellipse">
            <a:avLst/>
          </a:prstGeom>
          <a:solidFill>
            <a:srgbClr val="E09B2D"/>
          </a:solidFill>
          <a:ln w="12700">
            <a:solidFill>
              <a:srgbClr val="E09B2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52464" y="2427732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754216" y="2386584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カテゴリ語の再配置：「dr365＋日焼け止め/クレンジング」を商品タイトルへ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452464" y="2802636"/>
            <a:ext cx="214884" cy="214884"/>
          </a:xfrm>
          <a:prstGeom prst="ellipse">
            <a:avLst/>
          </a:prstGeom>
          <a:solidFill>
            <a:srgbClr val="E09B2D"/>
          </a:solidFill>
          <a:ln w="12700">
            <a:solidFill>
              <a:srgbClr val="E09B2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52464" y="2802636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6754216" y="2761488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「導入美容液」「先行美容液」「ブースター」をプレエッセンスNの属性タグへ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452464" y="3177540"/>
            <a:ext cx="214884" cy="214884"/>
          </a:xfrm>
          <a:prstGeom prst="ellipse">
            <a:avLst/>
          </a:prstGeom>
          <a:solidFill>
            <a:srgbClr val="E09B2D"/>
          </a:solidFill>
          <a:ln w="12700">
            <a:solidFill>
              <a:srgbClr val="E09B2D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52464" y="3177540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6754216" y="3136392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完全商品名（V.C. UVデイエッセンスN 等）を商品タイトル先頭へ移動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48640" y="3730752"/>
            <a:ext cx="5410048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768096" y="3822192"/>
            <a:ext cx="497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9B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商品別 優先順位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768096" y="4219956"/>
            <a:ext cx="214884" cy="214884"/>
          </a:xfrm>
          <a:prstGeom prst="ellipse">
            <a:avLst/>
          </a:prstGeom>
          <a:solidFill>
            <a:srgbClr val="E09B2D"/>
          </a:solidFill>
          <a:ln w="12700">
            <a:solidFill>
              <a:srgbClr val="E09B2D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68096" y="4219956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1069848" y="4178808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UVデイエッセンスN：在庫確保が最優先（8月40件→メガ割60件を想定）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768096" y="4594860"/>
            <a:ext cx="214884" cy="214884"/>
          </a:xfrm>
          <a:prstGeom prst="ellipse">
            <a:avLst/>
          </a:prstGeom>
          <a:solidFill>
            <a:srgbClr val="E09B2D"/>
          </a:solidFill>
          <a:ln w="12700">
            <a:solidFill>
              <a:srgbClr val="E09B2D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68096" y="4594860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1069848" y="4553712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プレエッセンスN：UVとのバンドルで高単価併売を設計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68096" y="4969764"/>
            <a:ext cx="214884" cy="214884"/>
          </a:xfrm>
          <a:prstGeom prst="ellipse">
            <a:avLst/>
          </a:prstGeom>
          <a:solidFill>
            <a:srgbClr val="E09B2D"/>
          </a:solidFill>
          <a:ln w="12700">
            <a:solidFill>
              <a:srgbClr val="E09B2D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68096" y="4969764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1069848" y="4928616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A.Z.セラムショット：成分KW広告の再強化で反転を狙う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768096" y="5344668"/>
            <a:ext cx="214884" cy="214884"/>
          </a:xfrm>
          <a:prstGeom prst="ellipse">
            <a:avLst/>
          </a:prstGeom>
          <a:solidFill>
            <a:srgbClr val="E09B2D"/>
          </a:solidFill>
          <a:ln w="12700">
            <a:solidFill>
              <a:srgbClr val="E09B2D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68096" y="5344668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1069848" y="5303520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モイストフォーミングウォッシュ：+31%の伸びを定番化フェーズへ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768096" y="5719572"/>
            <a:ext cx="214884" cy="214884"/>
          </a:xfrm>
          <a:prstGeom prst="ellipse">
            <a:avLst/>
          </a:prstGeom>
          <a:solidFill>
            <a:srgbClr val="E09B2D"/>
          </a:solidFill>
          <a:ln w="12700">
            <a:solidFill>
              <a:srgbClr val="E09B2D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68096" y="5719572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1069848" y="5678424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減少商品（ディープリペア/メルトスクラブ）：秋冬の保湿訴求で再活性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233008" y="3730752"/>
            <a:ext cx="5410048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 w="9525">
            <a:solidFill>
              <a:srgbClr val="DD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56" name="Text 54"/>
          <p:cNvSpPr txBox="1"/>
          <p:nvPr/>
        </p:nvSpPr>
        <p:spPr>
          <a:xfrm>
            <a:off x="6452464" y="3822192"/>
            <a:ext cx="497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9B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メガ割本番施策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452464" y="4219956"/>
            <a:ext cx="214884" cy="214884"/>
          </a:xfrm>
          <a:prstGeom prst="ellipse">
            <a:avLst/>
          </a:prstGeom>
          <a:solidFill>
            <a:srgbClr val="E09B2D"/>
          </a:solidFill>
          <a:ln w="12700">
            <a:solidFill>
              <a:srgbClr val="E09B2D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452464" y="4219956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800" dirty="0"/>
          </a:p>
        </p:txBody>
      </p:sp>
      <p:sp>
        <p:nvSpPr>
          <p:cNvPr id="59" name="Text 57"/>
          <p:cNvSpPr txBox="1"/>
          <p:nvPr/>
        </p:nvSpPr>
        <p:spPr>
          <a:xfrm>
            <a:off x="6754216" y="4178808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8月新規94名へメガ割直前クーポンを配布し、リピート転換を促進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6452464" y="4594860"/>
            <a:ext cx="214884" cy="214884"/>
          </a:xfrm>
          <a:prstGeom prst="ellipse">
            <a:avLst/>
          </a:prstGeom>
          <a:solidFill>
            <a:srgbClr val="E09B2D"/>
          </a:solidFill>
          <a:ln w="12700">
            <a:solidFill>
              <a:srgbClr val="E09B2D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452464" y="4594860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800" dirty="0"/>
          </a:p>
        </p:txBody>
      </p:sp>
      <p:sp>
        <p:nvSpPr>
          <p:cNvPr id="62" name="Text 60"/>
          <p:cNvSpPr txBox="1"/>
          <p:nvPr/>
        </p:nvSpPr>
        <p:spPr>
          <a:xfrm>
            <a:off x="6754216" y="4553712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残カート121件へのリマインド・クーポン投下で取りこぼしを回収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452464" y="4969764"/>
            <a:ext cx="214884" cy="214884"/>
          </a:xfrm>
          <a:prstGeom prst="ellipse">
            <a:avLst/>
          </a:prstGeom>
          <a:solidFill>
            <a:srgbClr val="E09B2D"/>
          </a:solidFill>
          <a:ln w="12700">
            <a:solidFill>
              <a:srgbClr val="E09B2D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452464" y="4969764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800" dirty="0"/>
          </a:p>
        </p:txBody>
      </p:sp>
      <p:sp>
        <p:nvSpPr>
          <p:cNvPr id="65" name="Text 63"/>
          <p:cNvSpPr txBox="1"/>
          <p:nvPr/>
        </p:nvSpPr>
        <p:spPr>
          <a:xfrm>
            <a:off x="6754216" y="4928616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メガ割専用LP：TOP2（UV × プレエッセンス）の限定セットを主役に配置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6452464" y="5344668"/>
            <a:ext cx="214884" cy="214884"/>
          </a:xfrm>
          <a:prstGeom prst="ellipse">
            <a:avLst/>
          </a:prstGeom>
          <a:solidFill>
            <a:srgbClr val="E09B2D"/>
          </a:solidFill>
          <a:ln w="12700">
            <a:solidFill>
              <a:srgbClr val="E09B2D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452464" y="5344668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800" dirty="0"/>
          </a:p>
        </p:txBody>
      </p:sp>
      <p:sp>
        <p:nvSpPr>
          <p:cNvPr id="68" name="Text 66"/>
          <p:cNvSpPr txBox="1"/>
          <p:nvPr/>
        </p:nvSpPr>
        <p:spPr>
          <a:xfrm>
            <a:off x="6754216" y="5303520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お気に入り登録促進（371PVの基盤をさらに拡大）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6452464" y="5719572"/>
            <a:ext cx="214884" cy="214884"/>
          </a:xfrm>
          <a:prstGeom prst="ellipse">
            <a:avLst/>
          </a:prstGeom>
          <a:solidFill>
            <a:srgbClr val="E09B2D"/>
          </a:solidFill>
          <a:ln w="12700">
            <a:solidFill>
              <a:srgbClr val="E09B2D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6452464" y="5719572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800" dirty="0"/>
          </a:p>
        </p:txBody>
      </p:sp>
      <p:sp>
        <p:nvSpPr>
          <p:cNvPr id="71" name="Text 69"/>
          <p:cNvSpPr txBox="1"/>
          <p:nvPr/>
        </p:nvSpPr>
        <p:spPr>
          <a:xfrm>
            <a:off x="6754216" y="5678424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43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レビュー特典でUVデイエッセンスの口コミ数を積み増し</a:t>
            </a:r>
            <a:endParaRPr lang="en-US" sz="950" dirty="0"/>
          </a:p>
        </p:txBody>
      </p:sp>
      <p:sp>
        <p:nvSpPr>
          <p:cNvPr id="72" name="Text 70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6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73" name="Text 71"/>
          <p:cNvSpPr txBox="1"/>
          <p:nvPr/>
        </p:nvSpPr>
        <p:spPr>
          <a:xfrm>
            <a:off x="10180015" y="6400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6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 / 17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6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Next Step・総括 ─ 2026年8月メガポ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9B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【8月メガポ 実績総括】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2663876" cy="960120"/>
          </a:xfrm>
          <a:prstGeom prst="roundRect">
            <a:avLst>
              <a:gd name="adj" fmla="val 6667"/>
            </a:avLst>
          </a:prstGeom>
          <a:solidFill>
            <a:srgbClr val="243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399032"/>
            <a:ext cx="22981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63677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¥447,380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29968"/>
            <a:ext cx="22981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7月比 +5.8%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358820" y="1325880"/>
            <a:ext cx="2663876" cy="960120"/>
          </a:xfrm>
          <a:prstGeom prst="roundRect">
            <a:avLst>
              <a:gd name="adj" fmla="val 6667"/>
            </a:avLst>
          </a:prstGeom>
          <a:solidFill>
            <a:srgbClr val="243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41700" y="1399032"/>
            <a:ext cx="22981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件数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3541700" y="163677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128件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541700" y="2029968"/>
            <a:ext cx="22981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7月比 +7件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169000" y="1325880"/>
            <a:ext cx="2663876" cy="960120"/>
          </a:xfrm>
          <a:prstGeom prst="roundRect">
            <a:avLst>
              <a:gd name="adj" fmla="val 6667"/>
            </a:avLst>
          </a:prstGeom>
          <a:solidFill>
            <a:srgbClr val="243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51880" y="1399032"/>
            <a:ext cx="22981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顧客数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6351880" y="163677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125名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351880" y="2029968"/>
            <a:ext cx="22981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 75.2%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979179" y="1325880"/>
            <a:ext cx="2663876" cy="960120"/>
          </a:xfrm>
          <a:prstGeom prst="roundRect">
            <a:avLst>
              <a:gd name="adj" fmla="val 6667"/>
            </a:avLst>
          </a:prstGeom>
          <a:solidFill>
            <a:srgbClr val="243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62059" y="1399032"/>
            <a:ext cx="22981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CVR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9162059" y="163677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10.12%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162059" y="2029968"/>
            <a:ext cx="22981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0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-0.51pt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245059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9B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次回メガ割に向けた優先3課題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2834640"/>
            <a:ext cx="11094415" cy="1060704"/>
          </a:xfrm>
          <a:prstGeom prst="roundRect">
            <a:avLst>
              <a:gd name="adj" fmla="val 6034"/>
            </a:avLst>
          </a:prstGeom>
          <a:solidFill>
            <a:srgbClr val="243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2916936"/>
            <a:ext cx="7436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【最優先①】 UVデイエッセンスN・プレエッセンスNの2枚看板に集中投資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804672" y="3218688"/>
            <a:ext cx="74368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B8C4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8月に躍進したTOP2（合計¥242,160＝売上の54.1%）へ在庫・広告・LPを集中。バンドル販売の新設でメガ割本番のTOP2合計¥350,000以上を狙う。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488375" y="3108960"/>
            <a:ext cx="2898648" cy="512064"/>
          </a:xfrm>
          <a:prstGeom prst="roundRect">
            <a:avLst>
              <a:gd name="adj" fmla="val 10714"/>
            </a:avLst>
          </a:prstGeom>
          <a:solidFill>
            <a:srgbClr val="E09B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488375" y="3108960"/>
            <a:ext cx="28986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目標: TOP2売上 ≧ ¥350,000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4005072"/>
            <a:ext cx="11094415" cy="1060704"/>
          </a:xfrm>
          <a:prstGeom prst="roundRect">
            <a:avLst>
              <a:gd name="adj" fmla="val 6034"/>
            </a:avLst>
          </a:prstGeom>
          <a:solidFill>
            <a:srgbClr val="243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" y="4087368"/>
            <a:ext cx="7436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【最優先②】 新規94名のリピート転換と「アゼライン酸」KWの再獲得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804672" y="4389120"/>
            <a:ext cx="74368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B8C4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リピーター-18.4%と成分KW-24%が最大の減少要因。新規への直前クーポン配布と成分KW入札強化で、獲得と再購入の両面を同時に回復させる。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488375" y="4279392"/>
            <a:ext cx="2898648" cy="512064"/>
          </a:xfrm>
          <a:prstGeom prst="roundRect">
            <a:avLst>
              <a:gd name="adj" fmla="val 10714"/>
            </a:avLst>
          </a:prstGeom>
          <a:solidFill>
            <a:srgbClr val="E09B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488375" y="4279392"/>
            <a:ext cx="28986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目標: リピーター ≧ 45名 ／「アゼライン酸」KW ≧ 100件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48640" y="5175504"/>
            <a:ext cx="11094415" cy="1060704"/>
          </a:xfrm>
          <a:prstGeom prst="roundRect">
            <a:avLst>
              <a:gd name="adj" fmla="val 6034"/>
            </a:avLst>
          </a:prstGeom>
          <a:solidFill>
            <a:srgbClr val="243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4672" y="5257800"/>
            <a:ext cx="7436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【優先③】 カート放棄の回収でCVRを11%台へ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804672" y="5559552"/>
            <a:ext cx="74368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B8C4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残カート121件（カート249 − 注文128）が最大の伸びしろ。リマインド配信とクーポン投下で回収し、CVR 10.12%→11.0%、注文150件を目指す。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8488375" y="5449824"/>
            <a:ext cx="2898648" cy="512064"/>
          </a:xfrm>
          <a:prstGeom prst="roundRect">
            <a:avLst>
              <a:gd name="adj" fmla="val 10714"/>
            </a:avLst>
          </a:prstGeom>
          <a:solidFill>
            <a:srgbClr val="E09B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88375" y="5449824"/>
            <a:ext cx="28986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26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目標: CVR ≧ 11.0% ／ 注文 ≧ 150件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A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10180015" y="6400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C8A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 / 17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dr365_Qoo10_2026年8月メガポ_レポート</dc:title>
  <dc:subject>PptxGenJS Presentation</dc:subject>
  <dc:creator>株式会社Wacworks</dc:creator>
  <cp:lastModifiedBy>株式会社Wacworks</cp:lastModifiedBy>
  <cp:revision>1</cp:revision>
  <dcterms:created xsi:type="dcterms:W3CDTF">2026-08-30T11:46:31Z</dcterms:created>
  <dcterms:modified xsi:type="dcterms:W3CDTF">2026-08-30T11:46:31Z</dcterms:modified>
</cp:coreProperties>
</file>