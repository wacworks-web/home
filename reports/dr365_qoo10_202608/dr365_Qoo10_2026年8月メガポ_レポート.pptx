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dr365様 Qoo10 2026年8月メガポ（8/1〜8/9）の振り返り。比較対象は7月メガポ（7/1〜7/9）。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売上・集客とも前月比プラス。新規獲得は好調だがリピート育成と成分KWの回復が課題。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広告は全体注文の18.8%に寄与。カート転換は良好だがカート→購入と最終日の配信停止に課題。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itle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F4D">
              <a:alpha val="95000"/>
            </a:srgbClr>
          </a:solidFill>
          <a:ln w="12700">
            <a:solidFill>
              <a:srgbClr val="191F4D"/>
            </a:solidFill>
            <a:prstDash val="solid"/>
          </a:ln>
        </p:spPr>
      </p:sp>
      <p:pic>
        <p:nvPicPr>
          <p:cNvPr id="4" name="Image 1" descr="assets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752" y="2167128"/>
            <a:ext cx="3785616" cy="261518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9048" y="2167128"/>
            <a:ext cx="0" cy="2697480"/>
          </a:xfrm>
          <a:prstGeom prst="line">
            <a:avLst/>
          </a:prstGeom>
          <a:noFill/>
          <a:ln w="9525">
            <a:solidFill>
              <a:srgbClr val="9AA0B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748272" y="239572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dr365様  Qoo10 メガポ 振り返りレポート</a:t>
            </a:r>
            <a:endParaRPr lang="en-US" sz="1950" dirty="0"/>
          </a:p>
        </p:txBody>
      </p:sp>
      <p:sp>
        <p:nvSpPr>
          <p:cNvPr id="7" name="Text 3"/>
          <p:cNvSpPr txBox="1"/>
          <p:nvPr/>
        </p:nvSpPr>
        <p:spPr>
          <a:xfrm>
            <a:off x="6748272" y="3017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2026年8月メガポ 運用振り返り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748272" y="3566160"/>
            <a:ext cx="4846320" cy="18288"/>
          </a:xfrm>
          <a:prstGeom prst="rect">
            <a:avLst/>
          </a:prstGeom>
          <a:solidFill>
            <a:srgbClr val="5B6182"/>
          </a:solidFill>
          <a:ln w="12700">
            <a:solidFill>
              <a:srgbClr val="5B618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748272" y="36758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対象期間: 2026年8月1日〜9日（メガポ期間 9日間）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748272" y="3931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比較: 2026年7月1日〜9日（メガポ期間）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6748272" y="43708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作成：株式会社Wacworks   |   2026年8月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13" name="Text 9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/ 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228600"/>
            <a:ext cx="137160" cy="493776"/>
          </a:xfrm>
          <a:prstGeom prst="rect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エグゼクティブサマリー ─ 2026年8月メガポ（8/1〜9）</a:t>
            </a:r>
            <a:endParaRPr lang="en-US" sz="2400" dirty="0"/>
          </a:p>
        </p:txBody>
      </p:sp>
      <p:pic>
        <p:nvPicPr>
          <p:cNvPr id="4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219456"/>
            <a:ext cx="2331720" cy="433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" y="786384"/>
            <a:ext cx="11588191" cy="0"/>
          </a:xfrm>
          <a:prstGeom prst="line">
            <a:avLst/>
          </a:prstGeom>
          <a:noFill/>
          <a:ln w="9525">
            <a:solidFill>
              <a:srgbClr val="8C92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88175" y="7955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比較：2026年7月メガポ（7/1〜9）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051560"/>
            <a:ext cx="2101840" cy="1234440"/>
          </a:xfrm>
          <a:prstGeom prst="roundRect">
            <a:avLst>
              <a:gd name="adj" fmla="val 5185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13232" y="1161288"/>
            <a:ext cx="177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売上金額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1417320"/>
            <a:ext cx="177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¥447,380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1901952"/>
            <a:ext cx="177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9日間合計（7月比 +5.8%）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96784" y="1051560"/>
            <a:ext cx="2101840" cy="1234440"/>
          </a:xfrm>
          <a:prstGeom prst="roundRect">
            <a:avLst>
              <a:gd name="adj" fmla="val 5185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961376" y="1161288"/>
            <a:ext cx="177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売上件数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961376" y="1417320"/>
            <a:ext cx="177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128件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2961376" y="1901952"/>
            <a:ext cx="177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平均14.2件/日（+5.8%）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044928" y="1051560"/>
            <a:ext cx="2101840" cy="1234440"/>
          </a:xfrm>
          <a:prstGeom prst="roundRect">
            <a:avLst>
              <a:gd name="adj" fmla="val 5185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209520" y="1161288"/>
            <a:ext cx="177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訪問者数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209520" y="1417320"/>
            <a:ext cx="177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1,265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5209520" y="1901952"/>
            <a:ext cx="177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平均141人/日（+11.1%）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293072" y="1051560"/>
            <a:ext cx="2101840" cy="1234440"/>
          </a:xfrm>
          <a:prstGeom prst="roundRect">
            <a:avLst>
              <a:gd name="adj" fmla="val 5185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457664" y="1161288"/>
            <a:ext cx="177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平均客単価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457664" y="1417320"/>
            <a:ext cx="177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¥3,495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7457664" y="1901952"/>
            <a:ext cx="177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前月比ほぼ横ばい（+¥1）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9541215" y="1051560"/>
            <a:ext cx="2101840" cy="1234440"/>
          </a:xfrm>
          <a:prstGeom prst="roundRect">
            <a:avLst>
              <a:gd name="adj" fmla="val 5185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705807" y="1161288"/>
            <a:ext cx="177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購入顧客数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705807" y="1417320"/>
            <a:ext cx="177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125名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9705807" y="1901952"/>
            <a:ext cx="177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新規75.2%（+6.9pt）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48640" y="2487168"/>
            <a:ext cx="11094415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04672" y="2606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総評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804672" y="2971800"/>
            <a:ext cx="10582351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8月メガポ期間（8/1〜9）売上¥447,380を達成。7月同期間（¥422,818）比で +5.8%、+¥24,562の成長。前年同月（¥234,300）比では +91.0% と大幅な伸長。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V.C. UVデイエッセンスNが売上1位（¥142,120 / 40件）。7月比 +¥60,401（+74%）の躍進で、単月で全体の31.8%を占める最大の牽引役に。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V.C. プレエッセンスNが2位（¥100,040 / 20件）。客単価¥5,002の高単価商品が7月比 +5% と安定推移し、収益面を下支え。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TOP2で売上の54.1%。前月までの「A.Z.セラムショット主導」から、V.C.ライン主導の売上構造へ明確に転換した。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新規顧客94名・新規比率75.2%（7月68.3%から +6.9pt）。フォロワーは1,124名（9日間で +20名）と過去最高を更新。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一方でリピーターは38名→31名（-18.4%）、「アゼライン酸」KWは101→77件（-24%）と減少。次回メガ割に向けた最重要課題。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228600"/>
            <a:ext cx="137160" cy="493776"/>
          </a:xfrm>
          <a:prstGeom prst="rect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7月vs8月 KPI比較サマリー（メガポ同日比較）</a:t>
            </a:r>
            <a:endParaRPr lang="en-US" sz="2400" dirty="0"/>
          </a:p>
        </p:txBody>
      </p:sp>
      <p:pic>
        <p:nvPicPr>
          <p:cNvPr id="4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219456"/>
            <a:ext cx="2331720" cy="433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" y="786384"/>
            <a:ext cx="11588191" cy="0"/>
          </a:xfrm>
          <a:prstGeom prst="line">
            <a:avLst/>
          </a:prstGeom>
          <a:noFill/>
          <a:ln w="9525">
            <a:solidFill>
              <a:srgbClr val="8C92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88175" y="7955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8/1〜8/9  vs  7/1〜7/9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051560"/>
            <a:ext cx="2101840" cy="1097280"/>
          </a:xfrm>
          <a:prstGeom prst="roundRect">
            <a:avLst>
              <a:gd name="adj" fmla="val 5833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1124712"/>
            <a:ext cx="182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売上金額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325880"/>
            <a:ext cx="182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  ¥422,818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1554480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  ¥447,380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1856232"/>
            <a:ext cx="182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+5.8%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96784" y="1051560"/>
            <a:ext cx="2101840" cy="1097280"/>
          </a:xfrm>
          <a:prstGeom prst="roundRect">
            <a:avLst>
              <a:gd name="adj" fmla="val 5833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933944" y="1124712"/>
            <a:ext cx="182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売上件数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933944" y="1325880"/>
            <a:ext cx="182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  121件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933944" y="1554480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  128件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2933944" y="1856232"/>
            <a:ext cx="182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+5.8%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44928" y="1051560"/>
            <a:ext cx="2101840" cy="1097280"/>
          </a:xfrm>
          <a:prstGeom prst="roundRect">
            <a:avLst>
              <a:gd name="adj" fmla="val 5833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182088" y="1124712"/>
            <a:ext cx="182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訪問者数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5182088" y="1325880"/>
            <a:ext cx="182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  1,139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182088" y="1554480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  1,265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5182088" y="1856232"/>
            <a:ext cx="182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+11.1%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293072" y="1051560"/>
            <a:ext cx="2101840" cy="1097280"/>
          </a:xfrm>
          <a:prstGeom prst="roundRect">
            <a:avLst>
              <a:gd name="adj" fmla="val 5833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7430232" y="1124712"/>
            <a:ext cx="182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CVR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7430232" y="1325880"/>
            <a:ext cx="182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  10.62%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430232" y="1554480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  10.12%</a:t>
            </a:r>
            <a:endParaRPr lang="en-US" sz="1450" dirty="0"/>
          </a:p>
        </p:txBody>
      </p:sp>
      <p:sp>
        <p:nvSpPr>
          <p:cNvPr id="26" name="Text 23"/>
          <p:cNvSpPr txBox="1"/>
          <p:nvPr/>
        </p:nvSpPr>
        <p:spPr>
          <a:xfrm>
            <a:off x="7430232" y="1856232"/>
            <a:ext cx="182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-0.51pt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541215" y="1051560"/>
            <a:ext cx="2101840" cy="1097280"/>
          </a:xfrm>
          <a:prstGeom prst="roundRect">
            <a:avLst>
              <a:gd name="adj" fmla="val 5833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9678375" y="1124712"/>
            <a:ext cx="182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客単価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9678375" y="1325880"/>
            <a:ext cx="182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  ¥3,494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678375" y="1554480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  ¥3,495</a:t>
            </a:r>
            <a:endParaRPr lang="en-US" sz="1450" dirty="0"/>
          </a:p>
        </p:txBody>
      </p:sp>
      <p:sp>
        <p:nvSpPr>
          <p:cNvPr id="31" name="Text 28"/>
          <p:cNvSpPr txBox="1"/>
          <p:nvPr/>
        </p:nvSpPr>
        <p:spPr>
          <a:xfrm>
            <a:off x="9678375" y="1856232"/>
            <a:ext cx="182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横ばい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95728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31720"/>
                <a:gridCol w="2331720"/>
                <a:gridCol w="1828800"/>
                <a:gridCol w="1856232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指標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7月メガポ（7/1-9）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8月メガポ（8/1-9）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差分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評価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売上金額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¥422,818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¥447,380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+¥24,562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+5.8%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売上件数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121件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128件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+7件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+5.8%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訪問者数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1,139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1,265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+11.1%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合計PV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1,493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1,714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+221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+14.8%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平均客単価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¥3,494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¥3,495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+¥1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67C8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→ 横ばい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CVR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10.62%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10.12%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-0.51pt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高水準維持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新規比率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68.3%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75.2%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+6.9pt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新規増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フォロワー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1,085名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1,124名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+39名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過去最高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Text 29"/>
          <p:cNvSpPr txBox="1"/>
          <p:nvPr/>
        </p:nvSpPr>
        <p:spPr>
          <a:xfrm>
            <a:off x="548640" y="55961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集客（訪問者+11.1%・PV+14.8%）が売上（+5.8%）を上回って伸びており、上流の流入拡大に対し下流の転換が追いついていない状態。CVR 10.12% は Qoo10平均の2.5倍以上で水準は良好。</a:t>
            </a:r>
            <a:endParaRPr lang="en-US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35" name="Text 31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228600"/>
            <a:ext cx="137160" cy="493776"/>
          </a:xfrm>
          <a:prstGeom prst="rect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売上推移 ─ 2026年8月メガポ 日別（表）</a:t>
            </a:r>
            <a:endParaRPr lang="en-US" sz="2400" dirty="0"/>
          </a:p>
        </p:txBody>
      </p:sp>
      <p:pic>
        <p:nvPicPr>
          <p:cNvPr id="4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219456"/>
            <a:ext cx="2331720" cy="433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" y="786384"/>
            <a:ext cx="11588191" cy="0"/>
          </a:xfrm>
          <a:prstGeom prst="line">
            <a:avLst/>
          </a:prstGeom>
          <a:noFill/>
          <a:ln w="9525">
            <a:solidFill>
              <a:srgbClr val="8C92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88175" y="7955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8/1〜8/9（9日間）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17320"/>
                <a:gridCol w="868680"/>
                <a:gridCol w="960120"/>
                <a:gridCol w="960120"/>
                <a:gridCol w="1097280"/>
                <a:gridCol w="960120"/>
                <a:gridCol w="1097280"/>
                <a:gridCol w="2542032"/>
              </a:tblGrid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日付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売上金額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件数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訪問者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CVR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客単価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顧客数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新規/リピ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備考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8/1 土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¥54,450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7.34%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¥3,403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11/5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好スタート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8/2 日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¥63,478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10.40%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¥3,527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13/5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週末ピーク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8/3 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¥50,672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9.55%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¥3,378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10/5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8/4 火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¥27,309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8.04%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¥3,034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6/2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中弛み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8/5 水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¥30,529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9.18%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¥3,392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7/2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8/6 木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¥26,084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6.48%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¥3,726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6/1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期間最低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8/7 金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¥81,616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16.30%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¥3,710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18/3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期間最高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8/8 土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¥48,487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10.61%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¥3,463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10/3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8/9 日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¥64,755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13.64%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¥3,598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13/5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最終日ピーク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¥447,380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128件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1,265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10.12%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¥3,495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125名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94/31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553712"/>
            <a:ext cx="11094415" cy="1719072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04672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ハイライト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4992624"/>
            <a:ext cx="1058235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8/7（金）¥81,616・22件・CVR16.30% が期間最高。訪問135人に対し高効率で転換し、単日で期間売上の18.2%を占めた。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前半（8/1〜3）¥168,600 と 後半（8/7〜9）¥194,858 の二山構造。中盤（8/4〜6）は¥83,922に落ち込み、ここの底上げが次回の最大の伸びしろ。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228600"/>
            <a:ext cx="137160" cy="493776"/>
          </a:xfrm>
          <a:prstGeom prst="rect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7月vs8月 顧客・新規/リピート比較</a:t>
            </a:r>
            <a:endParaRPr lang="en-US" sz="2400" dirty="0"/>
          </a:p>
        </p:txBody>
      </p:sp>
      <p:pic>
        <p:nvPicPr>
          <p:cNvPr id="4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219456"/>
            <a:ext cx="2331720" cy="433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" y="786384"/>
            <a:ext cx="11588191" cy="0"/>
          </a:xfrm>
          <a:prstGeom prst="line">
            <a:avLst/>
          </a:prstGeom>
          <a:noFill/>
          <a:ln w="9525">
            <a:solidFill>
              <a:srgbClr val="8C92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88175" y="7955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メガポ同日比較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286000"/>
                <a:gridCol w="2286000"/>
                <a:gridCol w="1828800"/>
                <a:gridCol w="176479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指標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7月（7/1-9）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8月（8/1-9）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差分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前期比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購入顧客（合計）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120名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125名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+5名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+4.2%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新規顧客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82名(68.3%)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94名(75.2%)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+12名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+14.6%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リピーター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38名(31.7%)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31名(24.8%)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-7名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-18.4%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フォロワー（期末）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1,085名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1,124名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+39名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+3.6%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フォロワー増（期中）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+6名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+20名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+14名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+233%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1人あたり売上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¥3,523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¥3,579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+¥56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+1.6%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ショップPV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311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+113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+57.1%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3776472"/>
            <a:ext cx="11094415" cy="2487168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04672" y="38770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考察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4206240"/>
            <a:ext cx="10582351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顧客数+4.2%に対し新規+14.6%。今回の成長は新規獲得エンジンが主導しており、集客面は健全に機能している。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一方リピーターは-18.4%。7月は6月メガ割直後の再購入が上乗せされていた反動と推察され、8月単体で見れば平常水準への回帰。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新規比率75.2%は5月（76.8%）とほぼ同水準に回帰。7月の68.3%が例外値であり、構造的な悪化ではない。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1人あたり売上は¥3,523→¥3,579（+1.6%）と微増。UVデイエッセンスNの複数個購入が客単価を下支えした。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次回メガ割の最大テーマは「8月に獲得した新規94名のリピート転換」。獲得した新規を離脱させない育成設計が急務。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228600"/>
            <a:ext cx="137160" cy="493776"/>
          </a:xfrm>
          <a:prstGeom prst="rect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チャネル別流入分析（PV）─ 7月vs8月 TOP10比較</a:t>
            </a:r>
            <a:endParaRPr lang="en-US" sz="2400" dirty="0"/>
          </a:p>
        </p:txBody>
      </p:sp>
      <p:pic>
        <p:nvPicPr>
          <p:cNvPr id="4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219456"/>
            <a:ext cx="2331720" cy="433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" y="786384"/>
            <a:ext cx="11588191" cy="0"/>
          </a:xfrm>
          <a:prstGeom prst="line">
            <a:avLst/>
          </a:prstGeom>
          <a:noFill/>
          <a:ln w="9525">
            <a:solidFill>
              <a:srgbClr val="8C92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88175" y="7955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合計PV 1,493 → 1,714（+14.8%）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70866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868680"/>
                <a:gridCol w="868680"/>
                <a:gridCol w="777240"/>
                <a:gridCol w="1097280"/>
                <a:gridCol w="1143000"/>
              </a:tblGrid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チャネル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7月 PV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8月 PV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増減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8月構成比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評価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検索結果_全体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468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27.3%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+4.2%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└ Keyword Plus（広告）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12.1%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+3.0%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└ パワーランクアップ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67C8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+0.7%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└ 検索結果_一般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6.7%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+11.8%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お気に入り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371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+67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21.6%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+22.0%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ダイレクト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14.3%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+17.2%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ショップ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+76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14.2%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+45.5%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カート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+22.8%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外部サイト_全体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±0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3.9%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67C8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→ 横ばい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└ 外部_Google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3.1%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+65.6%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Myページ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1.7%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+11.5%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商品詳細ページ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-40.5%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最近見た商品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+14.3%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ホーム_全体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1.1%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+18.8%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合計（ページビュー合計）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1,493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1,714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+221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+14.8%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909560" y="1051560"/>
            <a:ext cx="3733495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092440" y="1161288"/>
            <a:ext cx="3367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ショップ流入 +45.5%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092440" y="1453896"/>
            <a:ext cx="3367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167→243PV。ショップページ経由の回遊が最大の伸び。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7909560" y="2093976"/>
            <a:ext cx="3733495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092440" y="2203704"/>
            <a:ext cx="3367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お気に入り +22.0%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092440" y="2496312"/>
            <a:ext cx="3367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304→371PV。構成比21.6%でリピート基盤が着実に厚みを増す。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909560" y="3136392"/>
            <a:ext cx="3733495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092440" y="3246120"/>
            <a:ext cx="3367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外部Google +65.6%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8092440" y="3538728"/>
            <a:ext cx="3367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32→53PV。外部SEOが新規認知の入口として機能。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909560" y="4178808"/>
            <a:ext cx="3733495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8092440" y="4288536"/>
            <a:ext cx="3367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商品詳細ページ -40.5%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8092440" y="4581144"/>
            <a:ext cx="3367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42→25PV。商品間の相互回遊が弱化。レコメンド強化の余地。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48640" y="5285232"/>
            <a:ext cx="11094415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804672" y="5394960"/>
            <a:ext cx="1058235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検索（27.3%）＋お気に入り（21.6%）＋ダイレクト（14.3%）＋ショップ（14.2%）の4本柱。指名・再訪型の流入が全体の50%超を占め、ブランド資産が着実に積み上がる構造。</a:t>
            </a:r>
            <a:endParaRPr lang="en-US" sz="9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ただし検索は+4.2%と伸びが鈍化し、構成比は30.1%→27.3%へ低下。次回メガ割では広告入札とKW拡張で検索流入の再加速が必要。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228600"/>
            <a:ext cx="137160" cy="493776"/>
          </a:xfrm>
          <a:prstGeom prst="rect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商品別売上ランキング ─ 2026年8月メガポ</a:t>
            </a:r>
            <a:endParaRPr lang="en-US" sz="2400" dirty="0"/>
          </a:p>
        </p:txBody>
      </p:sp>
      <p:pic>
        <p:nvPicPr>
          <p:cNvPr id="4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219456"/>
            <a:ext cx="2331720" cy="433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" y="786384"/>
            <a:ext cx="11588191" cy="0"/>
          </a:xfrm>
          <a:prstGeom prst="line">
            <a:avLst/>
          </a:prstGeom>
          <a:noFill/>
          <a:ln w="9525">
            <a:solidFill>
              <a:srgbClr val="8C92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88175" y="7955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全12SKU / 売上¥447,380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051560"/>
            <a:ext cx="2663876" cy="1143000"/>
          </a:xfrm>
          <a:prstGeom prst="roundRect">
            <a:avLst>
              <a:gd name="adj" fmla="val 5600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13232" y="1161288"/>
            <a:ext cx="2334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1位 売上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1417320"/>
            <a:ext cx="2334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¥142,120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1901952"/>
            <a:ext cx="233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V.C. UVデイエッセンス N（31.8%）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58820" y="1051560"/>
            <a:ext cx="2663876" cy="1143000"/>
          </a:xfrm>
          <a:prstGeom prst="roundRect">
            <a:avLst>
              <a:gd name="adj" fmla="val 5600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523412" y="1161288"/>
            <a:ext cx="2334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2位 売上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523412" y="1417320"/>
            <a:ext cx="2334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¥100,040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3523412" y="1901952"/>
            <a:ext cx="233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V.C. プレエッセンス N（22.4%）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169000" y="1051560"/>
            <a:ext cx="2663876" cy="1143000"/>
          </a:xfrm>
          <a:prstGeom prst="roundRect">
            <a:avLst>
              <a:gd name="adj" fmla="val 5600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333592" y="1161288"/>
            <a:ext cx="2334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TOP2合計シェア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333592" y="1417320"/>
            <a:ext cx="2334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54.1%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6333592" y="1901952"/>
            <a:ext cx="233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V.C.ライン主導の構造へ転換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979179" y="1051560"/>
            <a:ext cx="2663876" cy="1143000"/>
          </a:xfrm>
          <a:prstGeom prst="roundRect">
            <a:avLst>
              <a:gd name="adj" fmla="val 5600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143771" y="1161288"/>
            <a:ext cx="2334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販売商品数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3771" y="1417320"/>
            <a:ext cx="2334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12SKU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9143771" y="1901952"/>
            <a:ext cx="233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TOP3で売上の68.4%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59152"/>
          <a:ext cx="11094415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4828032"/>
                <a:gridCol w="1600200"/>
                <a:gridCol w="1051560"/>
                <a:gridCol w="1325880"/>
                <a:gridCol w="15087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順位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売上金額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件数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客単価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構成比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V.C. UVデイエッセンス N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¥142,120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¥3,553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31.8%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V.C. プレエッセンス N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¥100,040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¥5,002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22.4%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A.Z. セラムショット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¥64,052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¥2,209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14.3%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V.C. モイストフォーミングウォッシュ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¥51,861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¥4,322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11.6%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V.C. リリースクレンジングジェル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¥31,140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¥3,460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V.C. メルトスクラブウォッシュ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¥22,816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¥2,852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5.1%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V.C. ディープリペアクリーム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¥10,098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¥5,049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V.C. モイストリニューイングローション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¥8,118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¥4,059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1.8%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V.C. セラムインローション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¥7,294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¥3,647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その他3商品（ドリップステム/ハンドセラム/リップ）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¥9,841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 全12商品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¥447,380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128件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¥3,495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 txBox="1"/>
          <p:nvPr/>
        </p:nvSpPr>
        <p:spPr>
          <a:xfrm>
            <a:off x="548640" y="57607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TOP3で売上の68.4%。V.C. UVデイエッセンスN（季節需要）/ V.C. プレエッセンスN（高単価）/ A.Z. セラムショット（成分指名）の3軸構造。7月まで首位だったA.Z.が3位に後退し、V.C.ラインへ重心が移った。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228600"/>
            <a:ext cx="137160" cy="493776"/>
          </a:xfrm>
          <a:prstGeom prst="rect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7月vs8月 商品別売上比較</a:t>
            </a:r>
            <a:endParaRPr lang="en-US" sz="2400" dirty="0"/>
          </a:p>
        </p:txBody>
      </p:sp>
      <p:pic>
        <p:nvPicPr>
          <p:cNvPr id="4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219456"/>
            <a:ext cx="2331720" cy="433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" y="786384"/>
            <a:ext cx="11588191" cy="0"/>
          </a:xfrm>
          <a:prstGeom prst="line">
            <a:avLst/>
          </a:prstGeom>
          <a:noFill/>
          <a:ln w="9525">
            <a:solidFill>
              <a:srgbClr val="8C92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88175" y="7955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メガポ同日比較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4415" cy="914400"/>
        </p:xfrm>
        <a:graphic>
          <a:graphicData uri="http://schemas.openxmlformats.org/drawingml/2006/table">
            <a:tbl>
              <a:tblPr/>
              <a:tblGrid>
                <a:gridCol w="3913632"/>
                <a:gridCol w="1325880"/>
                <a:gridCol w="960120"/>
                <a:gridCol w="1325880"/>
                <a:gridCol w="960120"/>
                <a:gridCol w="1371600"/>
                <a:gridCol w="12344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7月 売上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7月 件数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8月 売上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8月 件数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売上増減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評価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V.C. UVデイエッセンス N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¥81,719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¥142,120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+¥60,401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+74%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V.C. プレエッセンス N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¥95,038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¥100,040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+¥5,002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A.Z. セラムショット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¥70,983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¥64,052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-¥6,931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-10%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V.C. モイストフォーミングウォッシュ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¥39,713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¥51,861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+¥12,148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+31%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V.C. リリースクレンジングジェル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¥34,600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¥31,140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-¥3,460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-10%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V.C. メルトスクラブウォッシュ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¥31,372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¥22,816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-¥8,556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-27%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V.C. ディープリペアクリーム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¥20,196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¥10,098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-¥10,098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-50%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V.C. モイストリニューイングローション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¥12,177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¥8,118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-¥4,059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-33%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3977640"/>
            <a:ext cx="5410048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68096" y="4078224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伸長した商品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768096" y="4407408"/>
            <a:ext cx="49711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UVデイエッセンスN：¥82k→¥142k（+74%）。盛夏の紫外線ピーク需要を完全に捕捉し、単月で全体の約1/3を占める。</a:t>
            </a:r>
            <a:endParaRPr lang="en-US" sz="9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モイストフォーミングウォッシュ：¥40k→¥52k（+31%）。5月投入の新商品が定番化フェーズへ移行。</a:t>
            </a:r>
            <a:endParaRPr lang="en-US" sz="9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プレエッセンスN：¥95k→¥100k（+5%）。¥5,002の高単価を維持しつつ着実に積み上げ。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233008" y="3977640"/>
            <a:ext cx="5410048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6452464" y="4078224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減少した商品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6452464" y="4407408"/>
            <a:ext cx="49711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A.Z.セラムショット：-10%。PV 381→359、「アゼライン酸」KWが101→77件へ減少したことが直接要因。</a:t>
            </a:r>
            <a:endParaRPr lang="en-US" sz="9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ディープリペアクリーム：-50%、メルトスクラブウォッシュ：-27%。高単価クリーム・洗顔カテゴリの需要がUV／フォーミングへ移動。</a:t>
            </a:r>
            <a:endParaRPr lang="en-US" sz="9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対策：UV需要が落ちる秋以降を見据え、A.Z.と保湿ラインの再強化を先行して着手する。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228600"/>
            <a:ext cx="137160" cy="493776"/>
          </a:xfrm>
          <a:prstGeom prst="rect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V.C. UVデイエッセンス N ─ 詳細分析</a:t>
            </a:r>
            <a:endParaRPr lang="en-US" sz="2400" dirty="0"/>
          </a:p>
        </p:txBody>
      </p:sp>
      <p:pic>
        <p:nvPicPr>
          <p:cNvPr id="4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219456"/>
            <a:ext cx="2331720" cy="433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" y="786384"/>
            <a:ext cx="11588191" cy="0"/>
          </a:xfrm>
          <a:prstGeom prst="line">
            <a:avLst/>
          </a:prstGeom>
          <a:noFill/>
          <a:ln w="9525">
            <a:solidFill>
              <a:srgbClr val="8C92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88175" y="7955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商品番号 1194113791 / 30g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051560"/>
            <a:ext cx="2663876" cy="1143000"/>
          </a:xfrm>
          <a:prstGeom prst="roundRect">
            <a:avLst>
              <a:gd name="adj" fmla="val 5600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13232" y="1161288"/>
            <a:ext cx="2334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8月売上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1417320"/>
            <a:ext cx="2334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¥142,120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1901952"/>
            <a:ext cx="233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全体の31.8% / No.1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58820" y="1051560"/>
            <a:ext cx="2663876" cy="1143000"/>
          </a:xfrm>
          <a:prstGeom prst="roundRect">
            <a:avLst>
              <a:gd name="adj" fmla="val 5600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523412" y="1161288"/>
            <a:ext cx="2334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販売件数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523412" y="1417320"/>
            <a:ext cx="2334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40件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3523412" y="1901952"/>
            <a:ext cx="233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7月23件比 +74%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169000" y="1051560"/>
            <a:ext cx="2663876" cy="1143000"/>
          </a:xfrm>
          <a:prstGeom prst="roundRect">
            <a:avLst>
              <a:gd name="adj" fmla="val 5600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333592" y="1161288"/>
            <a:ext cx="2334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1個単価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333592" y="1417320"/>
            <a:ext cx="2334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¥3,553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6333592" y="1901952"/>
            <a:ext cx="233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中価格 × 季節需要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979179" y="1051560"/>
            <a:ext cx="2663876" cy="1143000"/>
          </a:xfrm>
          <a:prstGeom prst="roundRect">
            <a:avLst>
              <a:gd name="adj" fmla="val 5600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143771" y="1161288"/>
            <a:ext cx="2334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PV / CVR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3771" y="1417320"/>
            <a:ext cx="2334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392 / 10.20%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9143771" y="1901952"/>
            <a:ext cx="233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全SKU中トップ効率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2331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チャネル別PV（8月）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11094415" cy="914400"/>
        </p:xfrm>
        <a:graphic>
          <a:graphicData uri="http://schemas.openxmlformats.org/drawingml/2006/table">
            <a:tbl>
              <a:tblPr/>
              <a:tblGrid>
                <a:gridCol w="1008583"/>
                <a:gridCol w="1008583"/>
                <a:gridCol w="1008583"/>
                <a:gridCol w="1008583"/>
                <a:gridCol w="1008583"/>
                <a:gridCol w="1008583"/>
                <a:gridCol w="1008583"/>
                <a:gridCol w="1008583"/>
                <a:gridCol w="1008583"/>
                <a:gridCol w="1008583"/>
                <a:gridCol w="1008583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検索結果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└ KW Plus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└ ランクUP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└ 一般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ダイレクト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お気に入り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ショップ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カート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外部サイト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その他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392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548640" y="3429000"/>
            <a:ext cx="5410048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768096" y="3529584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商品特性・分析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768096" y="3840480"/>
            <a:ext cx="4971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【商品概要】日焼け止め兼美容液。ビタミンC配合・ウォータープルーフ処方。SPF/PA と美容液を1本で兼ねる「時短スキンケア」訴求の主力商品。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768096" y="4498848"/>
            <a:ext cx="49711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7月23件→8月40件（+74%）。盛夏の紫外線需要ピークを捕捉し、単月で全体の31.8%を占める最大商品に。</a:t>
            </a:r>
            <a:endParaRPr lang="en-US" sz="9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PV392でCVR 10.20%。流入量・転換率とも全SKU中トップで、投資効率が最も高い。</a:t>
            </a:r>
            <a:endParaRPr lang="en-US" sz="9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検索92PVのうち広告（KW Plus 43 / パワーランクアップ 43）が86PVで94%。自然検索はわずか6PVで広告依存度が高い。</a:t>
            </a:r>
            <a:endParaRPr lang="en-US" sz="9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関連KW：「日焼け止め」6件、「dr365 日焼け止め」3件、「dr365 uv」2件、「dr365 公式 日焼け止め」2件。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6233008" y="3429000"/>
            <a:ext cx="5410048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6452464" y="3529584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次回メガ割に向けた打ち手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452464" y="3904488"/>
            <a:ext cx="237744" cy="23774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452464" y="3904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850" dirty="0"/>
          </a:p>
        </p:txBody>
      </p:sp>
      <p:sp>
        <p:nvSpPr>
          <p:cNvPr id="33" name="Text 29"/>
          <p:cNvSpPr txBox="1"/>
          <p:nvPr/>
        </p:nvSpPr>
        <p:spPr>
          <a:xfrm>
            <a:off x="6781648" y="3858768"/>
            <a:ext cx="464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自然検索の獲得（最優先）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検索流入の94%が広告依存。商品タイトル先頭に「日焼け止め」「UV」「SPF」を配置し、一般検索6PV→30PV超へ。</a:t>
            </a:r>
            <a:endParaRPr lang="en-US" sz="980" dirty="0"/>
          </a:p>
        </p:txBody>
      </p:sp>
      <p:sp>
        <p:nvSpPr>
          <p:cNvPr id="34" name="Shape 30"/>
          <p:cNvSpPr/>
          <p:nvPr/>
        </p:nvSpPr>
        <p:spPr>
          <a:xfrm>
            <a:off x="6452464" y="4489704"/>
            <a:ext cx="237744" cy="23774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6452464" y="4489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850" dirty="0"/>
          </a:p>
        </p:txBody>
      </p:sp>
      <p:sp>
        <p:nvSpPr>
          <p:cNvPr id="36" name="Text 32"/>
          <p:cNvSpPr txBox="1"/>
          <p:nvPr/>
        </p:nvSpPr>
        <p:spPr>
          <a:xfrm>
            <a:off x="6781648" y="4443984"/>
            <a:ext cx="464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秋冬需要への転換設計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9月以降のUV需要減を見越し「年中使えるビタミンC美容液UV」への訴求切替を先行実施。</a:t>
            </a:r>
            <a:endParaRPr lang="en-US" sz="980" dirty="0"/>
          </a:p>
        </p:txBody>
      </p:sp>
      <p:sp>
        <p:nvSpPr>
          <p:cNvPr id="37" name="Shape 33"/>
          <p:cNvSpPr/>
          <p:nvPr/>
        </p:nvSpPr>
        <p:spPr>
          <a:xfrm>
            <a:off x="6452464" y="5074920"/>
            <a:ext cx="237744" cy="23774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452464" y="50749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850" dirty="0"/>
          </a:p>
        </p:txBody>
      </p:sp>
      <p:sp>
        <p:nvSpPr>
          <p:cNvPr id="39" name="Text 35"/>
          <p:cNvSpPr txBox="1"/>
          <p:nvPr/>
        </p:nvSpPr>
        <p:spPr>
          <a:xfrm>
            <a:off x="6781648" y="5029200"/>
            <a:ext cx="464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セット販売（UV + プレエッセンスN）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TOP2の併売。朝のスキンケア完結セットとして¥8,500帯を新設し客単価を引き上げ。</a:t>
            </a:r>
            <a:endParaRPr lang="en-US" sz="980" dirty="0"/>
          </a:p>
        </p:txBody>
      </p:sp>
      <p:sp>
        <p:nvSpPr>
          <p:cNvPr id="40" name="Shape 36"/>
          <p:cNvSpPr/>
          <p:nvPr/>
        </p:nvSpPr>
        <p:spPr>
          <a:xfrm>
            <a:off x="6452464" y="5660136"/>
            <a:ext cx="237744" cy="23774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6452464" y="5660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850" dirty="0"/>
          </a:p>
        </p:txBody>
      </p:sp>
      <p:sp>
        <p:nvSpPr>
          <p:cNvPr id="42" name="Text 38"/>
          <p:cNvSpPr txBox="1"/>
          <p:nvPr/>
        </p:nvSpPr>
        <p:spPr>
          <a:xfrm>
            <a:off x="6781648" y="5614416"/>
            <a:ext cx="464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ダイレクト76PVの受け皿強化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指名再訪が多いため、商品ページ上部にリピート用まとめ買い（2個/3個）導線を設置。</a:t>
            </a:r>
            <a:endParaRPr lang="en-US" sz="980" dirty="0"/>
          </a:p>
        </p:txBody>
      </p:sp>
      <p:sp>
        <p:nvSpPr>
          <p:cNvPr id="43" name="Text 39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44" name="Text 40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228600"/>
            <a:ext cx="137160" cy="493776"/>
          </a:xfrm>
          <a:prstGeom prst="rect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V.C. プレエッセンス N ─ 詳細分析</a:t>
            </a:r>
            <a:endParaRPr lang="en-US" sz="2400" dirty="0"/>
          </a:p>
        </p:txBody>
      </p:sp>
      <p:pic>
        <p:nvPicPr>
          <p:cNvPr id="4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219456"/>
            <a:ext cx="2331720" cy="433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" y="786384"/>
            <a:ext cx="11588191" cy="0"/>
          </a:xfrm>
          <a:prstGeom prst="line">
            <a:avLst/>
          </a:prstGeom>
          <a:noFill/>
          <a:ln w="9525">
            <a:solidFill>
              <a:srgbClr val="8C92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88175" y="7955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商品番号 1147122231 / 30ml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051560"/>
            <a:ext cx="2663876" cy="1143000"/>
          </a:xfrm>
          <a:prstGeom prst="roundRect">
            <a:avLst>
              <a:gd name="adj" fmla="val 5600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13232" y="1161288"/>
            <a:ext cx="2334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8月売上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1417320"/>
            <a:ext cx="2334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¥100,040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1901952"/>
            <a:ext cx="233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全体の22.4% / No.2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58820" y="1051560"/>
            <a:ext cx="2663876" cy="1143000"/>
          </a:xfrm>
          <a:prstGeom prst="roundRect">
            <a:avLst>
              <a:gd name="adj" fmla="val 5600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523412" y="1161288"/>
            <a:ext cx="2334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販売件数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523412" y="1417320"/>
            <a:ext cx="2334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20件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3523412" y="1901952"/>
            <a:ext cx="233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7月19件比 +5%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169000" y="1051560"/>
            <a:ext cx="2663876" cy="1143000"/>
          </a:xfrm>
          <a:prstGeom prst="roundRect">
            <a:avLst>
              <a:gd name="adj" fmla="val 5600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333592" y="1161288"/>
            <a:ext cx="2334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1個単価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333592" y="1417320"/>
            <a:ext cx="2334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¥5,002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6333592" y="1901952"/>
            <a:ext cx="233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全SKU中 最高単価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979179" y="1051560"/>
            <a:ext cx="2663876" cy="1143000"/>
          </a:xfrm>
          <a:prstGeom prst="roundRect">
            <a:avLst>
              <a:gd name="adj" fmla="val 5600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143771" y="1161288"/>
            <a:ext cx="2334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PV / CVR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3771" y="1417320"/>
            <a:ext cx="2334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249 / 8.03%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9143771" y="1901952"/>
            <a:ext cx="233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 9.79% から微減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2331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チャネル別PV（8月）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11094415" cy="914400"/>
        </p:xfrm>
        <a:graphic>
          <a:graphicData uri="http://schemas.openxmlformats.org/drawingml/2006/table">
            <a:tbl>
              <a:tblPr/>
              <a:tblGrid>
                <a:gridCol w="1008583"/>
                <a:gridCol w="1008583"/>
                <a:gridCol w="1008583"/>
                <a:gridCol w="1008583"/>
                <a:gridCol w="1008583"/>
                <a:gridCol w="1008583"/>
                <a:gridCol w="1008583"/>
                <a:gridCol w="1008583"/>
                <a:gridCol w="1008583"/>
                <a:gridCol w="1008583"/>
                <a:gridCol w="1008583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検索結果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└ KW Plus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└ ランクUP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└ 一般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お気に入り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ショップ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ダイレクト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カート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外部サイト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その他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548640" y="3429000"/>
            <a:ext cx="5410048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768096" y="3529584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商品特性・分析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768096" y="3840480"/>
            <a:ext cx="4971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【商品概要】導入美容液（ブースター）。洗顔後の一番手に使い、後続のスキンケアの浸透を高める設計。毛穴・肌あれ・透明感を訴求。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768096" y="4498848"/>
            <a:ext cx="49711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単価¥5,002は全SKU中最高。20件で¥100,040と、件数の少なさを単価でカバーする収益貢献型の商品。</a:t>
            </a:r>
            <a:endParaRPr lang="en-US" sz="9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PVは194→249（+28%）と伸びた一方、CVRは9.79%→8.03%へ微減。比較検討層の流入が増えた影響と推察。</a:t>
            </a:r>
            <a:endParaRPr lang="en-US" sz="9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検索78PVのうちパワーランクアップ44PVが最大。広告経由の露出が指名検索を押し上げる好循環。</a:t>
            </a:r>
            <a:endParaRPr lang="en-US" sz="9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KW「dr365 v.c.プレエッセンス」11件（7月7件）、「dr365 v.c. プレエッセンス n」3件（新規）、「導入美容液」6件（7月4件）と指名・カテゴリとも拡大。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6233008" y="3429000"/>
            <a:ext cx="5410048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6452464" y="3529584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次回メガ割に向けた打ち手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452464" y="3904488"/>
            <a:ext cx="237744" cy="23774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452464" y="3904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850" dirty="0"/>
          </a:p>
        </p:txBody>
      </p:sp>
      <p:sp>
        <p:nvSpPr>
          <p:cNvPr id="33" name="Text 29"/>
          <p:cNvSpPr txBox="1"/>
          <p:nvPr/>
        </p:nvSpPr>
        <p:spPr>
          <a:xfrm>
            <a:off x="6781648" y="3858768"/>
            <a:ext cx="464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「導入美容液」KWの刈り取り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6件→20件へ。「先行美容液」「ブースター美容液」を商品タグ・タイトルへ追加し受け皿を拡張。</a:t>
            </a:r>
            <a:endParaRPr lang="en-US" sz="980" dirty="0"/>
          </a:p>
        </p:txBody>
      </p:sp>
      <p:sp>
        <p:nvSpPr>
          <p:cNvPr id="34" name="Shape 30"/>
          <p:cNvSpPr/>
          <p:nvPr/>
        </p:nvSpPr>
        <p:spPr>
          <a:xfrm>
            <a:off x="6452464" y="4489704"/>
            <a:ext cx="237744" cy="23774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6452464" y="4489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850" dirty="0"/>
          </a:p>
        </p:txBody>
      </p:sp>
      <p:sp>
        <p:nvSpPr>
          <p:cNvPr id="36" name="Text 32"/>
          <p:cNvSpPr txBox="1"/>
          <p:nvPr/>
        </p:nvSpPr>
        <p:spPr>
          <a:xfrm>
            <a:off x="6781648" y="4443984"/>
            <a:ext cx="464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使用順序コンテンツの整備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導入美容液は使い方訴求がCVRを左右。ページ上部に「洗顔→プレエッセンス→UV」の図解を配置。</a:t>
            </a:r>
            <a:endParaRPr lang="en-US" sz="980" dirty="0"/>
          </a:p>
        </p:txBody>
      </p:sp>
      <p:sp>
        <p:nvSpPr>
          <p:cNvPr id="37" name="Shape 33"/>
          <p:cNvSpPr/>
          <p:nvPr/>
        </p:nvSpPr>
        <p:spPr>
          <a:xfrm>
            <a:off x="6452464" y="5074920"/>
            <a:ext cx="237744" cy="23774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452464" y="50749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850" dirty="0"/>
          </a:p>
        </p:txBody>
      </p:sp>
      <p:sp>
        <p:nvSpPr>
          <p:cNvPr id="39" name="Text 35"/>
          <p:cNvSpPr txBox="1"/>
          <p:nvPr/>
        </p:nvSpPr>
        <p:spPr>
          <a:xfrm>
            <a:off x="6781648" y="5029200"/>
            <a:ext cx="464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高単価ゆえのカゴ落ち対策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カート25PVに対し20件。2本セット／定期購入で1回あたりの負担を下げ、離脱を抑制。</a:t>
            </a:r>
            <a:endParaRPr lang="en-US" sz="980" dirty="0"/>
          </a:p>
        </p:txBody>
      </p:sp>
      <p:sp>
        <p:nvSpPr>
          <p:cNvPr id="40" name="Shape 36"/>
          <p:cNvSpPr/>
          <p:nvPr/>
        </p:nvSpPr>
        <p:spPr>
          <a:xfrm>
            <a:off x="6452464" y="5660136"/>
            <a:ext cx="237744" cy="23774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6452464" y="5660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850" dirty="0"/>
          </a:p>
        </p:txBody>
      </p:sp>
      <p:sp>
        <p:nvSpPr>
          <p:cNvPr id="42" name="Text 38"/>
          <p:cNvSpPr txBox="1"/>
          <p:nvPr/>
        </p:nvSpPr>
        <p:spPr>
          <a:xfrm>
            <a:off x="6781648" y="5614416"/>
            <a:ext cx="464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UVデイエッセンスとのバンドル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TOP2併売でCVR8%台を底上げ。朝ケア完結セットとして両商品ページから相互送客。</a:t>
            </a:r>
            <a:endParaRPr lang="en-US" sz="980" dirty="0"/>
          </a:p>
        </p:txBody>
      </p:sp>
      <p:sp>
        <p:nvSpPr>
          <p:cNvPr id="43" name="Text 39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44" name="Text 40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228600"/>
            <a:ext cx="137160" cy="493776"/>
          </a:xfrm>
          <a:prstGeom prst="rect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検索キーワード分析 ─ 7月vs8月比較</a:t>
            </a:r>
            <a:endParaRPr lang="en-US" sz="2400" dirty="0"/>
          </a:p>
        </p:txBody>
      </p:sp>
      <p:pic>
        <p:nvPicPr>
          <p:cNvPr id="4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219456"/>
            <a:ext cx="2331720" cy="433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" y="786384"/>
            <a:ext cx="11588191" cy="0"/>
          </a:xfrm>
          <a:prstGeom prst="line">
            <a:avLst/>
          </a:prstGeom>
          <a:noFill/>
          <a:ln w="9525">
            <a:solidFill>
              <a:srgbClr val="8C92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88175" y="7955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検索流入 449PV → 468PV（+4.2%）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708660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658368"/>
                <a:gridCol w="658368"/>
                <a:gridCol w="658368"/>
                <a:gridCol w="1417320"/>
                <a:gridCol w="1088136"/>
              </a:tblGrid>
              <a:tr h="24505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検索ワード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増減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タイプ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評価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dr365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+46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ブランド指名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 +29%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アゼライン酸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-24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成分指名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-24%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dr365 公式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ブランド指名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 +43%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dr365 v.c.プレエッセンス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+57%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アゼライン酸 クリーム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成分×カテゴリ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-33%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dr365 a.z. セラムショット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-25%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導入美容液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カテゴリ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 +50%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日焼け止め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カテゴリ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 +100%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dr365 日焼け止め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商品カテゴリ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-73%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dr365 クレンジング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商品カテゴリ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-80%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アルコールフリー化粧水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特性×カテゴリ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 新規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dr365 v.c. プレエッセンス n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商品名（完全）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 新規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先行美容液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カテゴリ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 新規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毛穴シミケア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効能訴求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 新規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エイジングケア ハリ たるみ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効能訴求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 新規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肌再生クリーム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効能訴求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 新規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909560" y="1051560"/>
            <a:ext cx="3733495" cy="923544"/>
          </a:xfrm>
          <a:prstGeom prst="roundRect">
            <a:avLst>
              <a:gd name="adj" fmla="val 6931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092440" y="1152144"/>
            <a:ext cx="3367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ブランド指名 +29%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092440" y="1444752"/>
            <a:ext cx="3367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「dr365」156→202、「dr365 公式」35→50。指名検索は過去最高水準。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7909560" y="2084832"/>
            <a:ext cx="3733495" cy="923544"/>
          </a:xfrm>
          <a:prstGeom prst="roundRect">
            <a:avLst>
              <a:gd name="adj" fmla="val 6931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092440" y="2185416"/>
            <a:ext cx="3367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アゼライン酸 -24%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092440" y="2478024"/>
            <a:ext cx="3367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101→77件。A.Z.セラムショットの売上-10%と直接連動している。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909560" y="3118104"/>
            <a:ext cx="3733495" cy="923544"/>
          </a:xfrm>
          <a:prstGeom prst="roundRect">
            <a:avLst>
              <a:gd name="adj" fmla="val 6931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092440" y="3218688"/>
            <a:ext cx="3367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効能KWが新規発生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8092440" y="3511296"/>
            <a:ext cx="3367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「毛穴シミケア」「エイジングケア ハリ たるみ」「肌再生クリーム」が新規出現。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909560" y="4151376"/>
            <a:ext cx="3733495" cy="923544"/>
          </a:xfrm>
          <a:prstGeom prst="roundRect">
            <a:avLst>
              <a:gd name="adj" fmla="val 6931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8092440" y="4251960"/>
            <a:ext cx="3367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カテゴリ指名が減少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8092440" y="4544568"/>
            <a:ext cx="3367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「dr365 日焼け止め」-73%、「dr365 クレンジング」-80%。ブランド単体KWへ集約が進行。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48640" y="5230368"/>
            <a:ext cx="11094415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804672" y="5303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KW施策まとめ（次回メガ割に向けて）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804672" y="5577840"/>
            <a:ext cx="105823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「アゼライン酸」の落ち込みが売上減に直結。Keyword Plusの入札上限を引き上げ、「アゼライン酸 クリーム/セラム/毛穴」の組合せKWを再拡張する。</a:t>
            </a:r>
            <a:endParaRPr lang="en-US" sz="9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新規発生した効能KW（毛穴シミケア／エイジングケア／肌再生クリーム）は購買意欲が高い層。該当商品ページに効能訴求コピーを追加し受け皿を作る。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24" name="Text 20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228600"/>
            <a:ext cx="137160" cy="493776"/>
          </a:xfrm>
          <a:prstGeom prst="rect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広告パフォーマンス ─ AD アナリティクス（8/1〜9）</a:t>
            </a:r>
            <a:endParaRPr lang="en-US" sz="2400" dirty="0"/>
          </a:p>
        </p:txBody>
      </p:sp>
      <p:pic>
        <p:nvPicPr>
          <p:cNvPr id="4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219456"/>
            <a:ext cx="2331720" cy="433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" y="786384"/>
            <a:ext cx="11588191" cy="0"/>
          </a:xfrm>
          <a:prstGeom prst="line">
            <a:avLst/>
          </a:prstGeom>
          <a:noFill/>
          <a:ln w="9525">
            <a:solidFill>
              <a:srgbClr val="8C92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88175" y="7955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出典：Qoo10 広告管理レポート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051560"/>
            <a:ext cx="2101840" cy="1188720"/>
          </a:xfrm>
          <a:prstGeom prst="roundRect">
            <a:avLst>
              <a:gd name="adj" fmla="val 5385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13232" y="1161288"/>
            <a:ext cx="177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インプレッション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1417320"/>
            <a:ext cx="177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17,504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1901952"/>
            <a:ext cx="177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9日間合計（全607KW）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96784" y="1051560"/>
            <a:ext cx="2101840" cy="1188720"/>
          </a:xfrm>
          <a:prstGeom prst="roundRect">
            <a:avLst>
              <a:gd name="adj" fmla="val 5385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961376" y="1161288"/>
            <a:ext cx="177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クリック（PV）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961376" y="1417320"/>
            <a:ext cx="177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321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2961376" y="1901952"/>
            <a:ext cx="177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CTR 1.83%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044928" y="1051560"/>
            <a:ext cx="2101840" cy="1188720"/>
          </a:xfrm>
          <a:prstGeom prst="roundRect">
            <a:avLst>
              <a:gd name="adj" fmla="val 5385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209520" y="1161288"/>
            <a:ext cx="177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カート数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209520" y="1417320"/>
            <a:ext cx="177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63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5209520" y="1901952"/>
            <a:ext cx="177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カートCVR 19.63%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293072" y="1051560"/>
            <a:ext cx="2101840" cy="1188720"/>
          </a:xfrm>
          <a:prstGeom prst="roundRect">
            <a:avLst>
              <a:gd name="adj" fmla="val 5385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457664" y="1161288"/>
            <a:ext cx="177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購入数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457664" y="1417320"/>
            <a:ext cx="177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24件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7457664" y="1901952"/>
            <a:ext cx="177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広告CVR 7.48%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9541215" y="1051560"/>
            <a:ext cx="2101840" cy="1188720"/>
          </a:xfrm>
          <a:prstGeom prst="roundRect">
            <a:avLst>
              <a:gd name="adj" fmla="val 5385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705807" y="1161288"/>
            <a:ext cx="177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全体注文への寄与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705807" y="1417320"/>
            <a:ext cx="177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18.8%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9705807" y="1901952"/>
            <a:ext cx="177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128件中24件が広告経由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675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25880"/>
                <a:gridCol w="914400"/>
                <a:gridCol w="868680"/>
                <a:gridCol w="868680"/>
                <a:gridCol w="868680"/>
                <a:gridCol w="91440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日付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インプレッション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クリック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CTR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カート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購入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CVR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8/1 土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1,852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3.56%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3.03%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8/2 日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1,025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5.27%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9.26%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8/3 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1,683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2.44%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7.32%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8/4 火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2,841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0.95%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7.41%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8/5 水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2,365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0.93%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13.64%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8/6 木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2,293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1.66%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5.26%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8/7 金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2,869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1.15%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6.06%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8/8 土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2,508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1.28%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6.25%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8/9 日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11.76%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37.50%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17,504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1.83%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7.48%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7498080" y="2377440"/>
            <a:ext cx="4144975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9" name="Text 25"/>
          <p:cNvSpPr txBox="1"/>
          <p:nvPr/>
        </p:nvSpPr>
        <p:spPr>
          <a:xfrm>
            <a:off x="7680960" y="2441448"/>
            <a:ext cx="3779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広告経由の購入24件＝全体の18.8%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7680960" y="2670048"/>
            <a:ext cx="37792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全体注文128件のうち24件が広告経由。広告クリック321は総PV1,714の18.7%にあたり、流入・売上の約2割を広告が支えている。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7498080" y="3172968"/>
            <a:ext cx="4144975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7680960" y="3236976"/>
            <a:ext cx="3779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カートCVR 19.63%は良好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7680960" y="3465576"/>
            <a:ext cx="37792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クリック321→カート63と、広告流入の約5件に1件がカート投入。商品ページの訴求力は十分に機能している。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7498080" y="3968496"/>
            <a:ext cx="4144975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35" name="Text 31"/>
          <p:cNvSpPr txBox="1"/>
          <p:nvPr/>
        </p:nvSpPr>
        <p:spPr>
          <a:xfrm>
            <a:off x="7680960" y="4032504"/>
            <a:ext cx="3779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カート→購入は38.1%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7680960" y="4261104"/>
            <a:ext cx="37792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カート63件に対し購入24件。残り39件が広告経由の取りこぼしで、リマインド施策の対象になる。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7498080" y="4764024"/>
            <a:ext cx="4144975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38" name="Text 34"/>
          <p:cNvSpPr txBox="1"/>
          <p:nvPr/>
        </p:nvSpPr>
        <p:spPr>
          <a:xfrm>
            <a:off x="7680960" y="4828032"/>
            <a:ext cx="3779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最終日8/9に露出が消失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7680960" y="5056632"/>
            <a:ext cx="37792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 68のみ（前日2,508）。同日は売上第2位（¥64,755）・CVR37.50%で、配信継続していれば上積み余地が大きかった。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548640" y="5650992"/>
            <a:ext cx="11094415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41" name="Text 37"/>
          <p:cNvSpPr txBox="1"/>
          <p:nvPr/>
        </p:nvSpPr>
        <p:spPr>
          <a:xfrm>
            <a:off x="804672" y="5742432"/>
            <a:ext cx="105823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CTRは初日3.56%→中盤0.93〜1.28%へ低下。中盤はインプレッションが2,300〜2,900/日に増えた一方でクリックは減っており、関連性の低いKWへ露出が広がったことがCTR低下の要因。露出量ではなく露出先の精度が課題。</a:t>
            </a:r>
            <a:endParaRPr lang="en-US" sz="950" dirty="0"/>
          </a:p>
        </p:txBody>
      </p:sp>
      <p:sp>
        <p:nvSpPr>
          <p:cNvPr id="42" name="Text 38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43" name="Text 39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228600"/>
            <a:ext cx="137160" cy="493776"/>
          </a:xfrm>
          <a:prstGeom prst="rect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広告キーワード分析 ─ AD アナリティクス（8/1〜9）</a:t>
            </a:r>
            <a:endParaRPr lang="en-US" sz="2400" dirty="0"/>
          </a:p>
        </p:txBody>
      </p:sp>
      <p:pic>
        <p:nvPicPr>
          <p:cNvPr id="4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219456"/>
            <a:ext cx="2331720" cy="433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" y="786384"/>
            <a:ext cx="11588191" cy="0"/>
          </a:xfrm>
          <a:prstGeom prst="line">
            <a:avLst/>
          </a:prstGeom>
          <a:noFill/>
          <a:ln w="9525">
            <a:solidFill>
              <a:srgbClr val="8C92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88175" y="7955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クリック数上位12KW / 全607KW</a:t>
            </a:r>
            <a:endParaRPr lang="en-US" sz="9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7086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"/>
                <a:gridCol w="868680"/>
                <a:gridCol w="822960"/>
                <a:gridCol w="731520"/>
                <a:gridCol w="731520"/>
                <a:gridCol w="685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検索ワード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インプ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クリック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CTR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カート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購入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CVR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dr365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1,404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10.54%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9.46%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アゼライン酸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6,463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1.08%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7.14%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dr365 公式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18.94%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8.00%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dr365 v.c.プレエッセンス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88.89%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日焼け止め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2,765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0.22%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アゼライン酸 クリーム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2.55%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dr365 a.z. セラムショット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—※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アゼライン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491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0.81%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導入美容液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988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0.30%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アゼライン酸クリーム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3.49%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dr365 日焼け止め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100.00%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dr365 美容液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16.67%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50.00%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その他595KW（合計）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4,912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0.77%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5.26%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 全607KW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17,504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1.83%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7.48%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909560" y="1051560"/>
            <a:ext cx="3733495" cy="923544"/>
          </a:xfrm>
          <a:prstGeom prst="roundRect">
            <a:avLst>
              <a:gd name="adj" fmla="val 6931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092440" y="1152144"/>
            <a:ext cx="3367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ブランドKWが広告成果の中核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092440" y="1444752"/>
            <a:ext cx="3367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「dr365」系KWがクリック204（63.6%）・購入19件（79.2%）。CTR10.54%・CVR9.46%と全KW中で突出して効率が高い。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7909560" y="2084832"/>
            <a:ext cx="3733495" cy="923544"/>
          </a:xfrm>
          <a:prstGeom prst="roundRect">
            <a:avLst>
              <a:gd name="adj" fmla="val 6931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092440" y="2185416"/>
            <a:ext cx="3367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▼「アゼライン酸」は露出過多・低CTR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092440" y="2478024"/>
            <a:ext cx="3367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 6,463は全体の36.9%だがクリック70・CTR1.08%。購入5件は確保するも、露出に対して取りこぼしが大きい。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909560" y="3118104"/>
            <a:ext cx="3733495" cy="923544"/>
          </a:xfrm>
          <a:prstGeom prst="roundRect">
            <a:avLst>
              <a:gd name="adj" fmla="val 6931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092440" y="3218688"/>
            <a:ext cx="3367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成果ゼロKWが露出の24.2%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8092440" y="3511296"/>
            <a:ext cx="3367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「日焼け止め」2,765・「導入美容液」988・「アゼライン」491は購入ゼロ。合計4,244impが成果に結びついていない。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909560" y="4151376"/>
            <a:ext cx="3733495" cy="923544"/>
          </a:xfrm>
          <a:prstGeom prst="roundRect">
            <a:avLst>
              <a:gd name="adj" fmla="val 6931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8092440" y="4251960"/>
            <a:ext cx="3367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商品名KWはカート率が高い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8092440" y="4544568"/>
            <a:ext cx="3367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「dr365 v.c.プレエッセンス」はクリック8→カート5。購入化には至らずクーポン等の後押しが有効。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48640" y="5230368"/>
            <a:ext cx="11094415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804672" y="5303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広告施策まとめ（次回メガ割に向けて）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804672" y="5577840"/>
            <a:ext cx="10582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予算配分の組み替え：購入ゼロKW（日焼け止め・導入美容液・アゼライン）の露出24.2%を停止し、ブランドKWと成果KWへ振り替える。② 「アゼライン酸」は入札増ではなくバナー・タイトル・価格訴求の改善でCTR1.08%→3%を狙う。</a:t>
            </a:r>
            <a:endParaRPr lang="en-US" sz="90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広告経由の残カート39件へリマインド・クーポンを投下。④ メガポ最終日まで配信を継続し、8/9のような露出消失（imp 68）を防ぐ。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6291072"/>
            <a:ext cx="11094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※「dr365 a.z. セラムショット」等はクリック数がインプレッション数を上回る計測値のため、CTRは「—」と表記。</a:t>
            </a:r>
            <a:endParaRPr lang="en-US" sz="750" dirty="0"/>
          </a:p>
        </p:txBody>
      </p:sp>
      <p:sp>
        <p:nvSpPr>
          <p:cNvPr id="24" name="Text 20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25" name="Text 21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228600"/>
            <a:ext cx="137160" cy="493776"/>
          </a:xfrm>
          <a:prstGeom prst="rect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次回メガ割に向けた改善アクション ─ 4軸</a:t>
            </a:r>
            <a:endParaRPr lang="en-US" sz="2400" dirty="0"/>
          </a:p>
        </p:txBody>
      </p:sp>
      <p:pic>
        <p:nvPicPr>
          <p:cNvPr id="4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219456"/>
            <a:ext cx="2331720" cy="433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" y="786384"/>
            <a:ext cx="11588191" cy="0"/>
          </a:xfrm>
          <a:prstGeom prst="line">
            <a:avLst/>
          </a:prstGeom>
          <a:noFill/>
          <a:ln w="9525">
            <a:solidFill>
              <a:srgbClr val="8C92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88175" y="7955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8月メガポ実績にもとづく優先施策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188720"/>
            <a:ext cx="5410048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68096" y="1280160"/>
            <a:ext cx="497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流入チャネル改善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8096" y="1677924"/>
            <a:ext cx="214884" cy="21488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" y="1677924"/>
            <a:ext cx="2148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1069848" y="1636776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「アゼライン酸」は露出十分（imp 6,463）でCTR1.08%。入札増より広告バナー・タイトル改善を優先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68096" y="2052828"/>
            <a:ext cx="214884" cy="21488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8096" y="2052828"/>
            <a:ext cx="2148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1069848" y="2011680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自然検索の獲得：UVデイエッセンスの一般検索6PV→30PV超へタイトル最適化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8096" y="2427732"/>
            <a:ext cx="214884" cy="21488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8096" y="2427732"/>
            <a:ext cx="2148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1069848" y="2386584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ショップ流入+45%を維持：ショップページのメガ割特集枠を常設化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68096" y="2802636"/>
            <a:ext cx="214884" cy="21488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8096" y="2802636"/>
            <a:ext cx="2148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1069848" y="2761488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商品詳細ページ-40%の回復：関連商品レコメンド枠を全SKUに設置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68096" y="3177540"/>
            <a:ext cx="214884" cy="21488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68096" y="3177540"/>
            <a:ext cx="2148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1069848" y="3136392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外部Google+66%を継続：成分・効能テーマのSEO記事を追加投入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233008" y="1188720"/>
            <a:ext cx="5410048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452464" y="1280160"/>
            <a:ext cx="497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KW・検索対策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52464" y="1677924"/>
            <a:ext cx="214884" cy="21488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52464" y="1677924"/>
            <a:ext cx="2148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6754216" y="1636776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成分KWの再獲得：「アゼライン酸 クリーム/セラム/毛穴」を再拡張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452464" y="2052828"/>
            <a:ext cx="214884" cy="21488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52464" y="2052828"/>
            <a:ext cx="2148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6754216" y="2011680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効能KWを新設：「毛穴シミケア」「エイジングケア ハリ たるみ」「肌再生クリーム」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452464" y="2427732"/>
            <a:ext cx="214884" cy="21488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52464" y="2427732"/>
            <a:ext cx="2148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6754216" y="2386584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カテゴリ語の再配置：「dr365＋日焼け止め/クレンジング」を商品タイトルへ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452464" y="2802636"/>
            <a:ext cx="214884" cy="21488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52464" y="2802636"/>
            <a:ext cx="2148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6754216" y="2761488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「導入美容液」「先行美容液」「ブースター」をプレエッセンスNの属性タグへ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452464" y="3177540"/>
            <a:ext cx="214884" cy="21488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52464" y="3177540"/>
            <a:ext cx="2148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6754216" y="3136392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完全商品名（V.C. UVデイエッセンスN 等）を商品タイトル先頭へ移動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48640" y="3730752"/>
            <a:ext cx="5410048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42" name="Text 39"/>
          <p:cNvSpPr txBox="1"/>
          <p:nvPr/>
        </p:nvSpPr>
        <p:spPr>
          <a:xfrm>
            <a:off x="768096" y="3822192"/>
            <a:ext cx="497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商品別 優先順位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768096" y="4219956"/>
            <a:ext cx="214884" cy="21488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68096" y="4219956"/>
            <a:ext cx="2148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800" dirty="0"/>
          </a:p>
        </p:txBody>
      </p:sp>
      <p:sp>
        <p:nvSpPr>
          <p:cNvPr id="45" name="Text 42"/>
          <p:cNvSpPr txBox="1"/>
          <p:nvPr/>
        </p:nvSpPr>
        <p:spPr>
          <a:xfrm>
            <a:off x="1069848" y="4178808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UVデイエッセンスN：在庫確保が最優先（8月40件→メガ割60件を想定）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768096" y="4594860"/>
            <a:ext cx="214884" cy="21488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68096" y="4594860"/>
            <a:ext cx="2148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800" dirty="0"/>
          </a:p>
        </p:txBody>
      </p:sp>
      <p:sp>
        <p:nvSpPr>
          <p:cNvPr id="48" name="Text 45"/>
          <p:cNvSpPr txBox="1"/>
          <p:nvPr/>
        </p:nvSpPr>
        <p:spPr>
          <a:xfrm>
            <a:off x="1069848" y="4553712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プレエッセンスN：UVとのバンドルで高単価併売を設計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768096" y="4969764"/>
            <a:ext cx="214884" cy="21488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68096" y="4969764"/>
            <a:ext cx="2148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800" dirty="0"/>
          </a:p>
        </p:txBody>
      </p:sp>
      <p:sp>
        <p:nvSpPr>
          <p:cNvPr id="51" name="Text 48"/>
          <p:cNvSpPr txBox="1"/>
          <p:nvPr/>
        </p:nvSpPr>
        <p:spPr>
          <a:xfrm>
            <a:off x="1069848" y="4928616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A.Z.セラムショット：成分KW広告の再強化で反転を狙う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768096" y="5344668"/>
            <a:ext cx="214884" cy="21488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68096" y="5344668"/>
            <a:ext cx="2148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800" dirty="0"/>
          </a:p>
        </p:txBody>
      </p:sp>
      <p:sp>
        <p:nvSpPr>
          <p:cNvPr id="54" name="Text 51"/>
          <p:cNvSpPr txBox="1"/>
          <p:nvPr/>
        </p:nvSpPr>
        <p:spPr>
          <a:xfrm>
            <a:off x="1069848" y="5303520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モイストフォーミングウォッシュ：+31%の伸びを定番化フェーズへ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768096" y="5719572"/>
            <a:ext cx="214884" cy="21488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68096" y="5719572"/>
            <a:ext cx="2148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800" dirty="0"/>
          </a:p>
        </p:txBody>
      </p:sp>
      <p:sp>
        <p:nvSpPr>
          <p:cNvPr id="57" name="Text 54"/>
          <p:cNvSpPr txBox="1"/>
          <p:nvPr/>
        </p:nvSpPr>
        <p:spPr>
          <a:xfrm>
            <a:off x="1069848" y="5678424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減少商品（ディープリペア/メルトスクラブ）：秋冬の保湿訴求で再活性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6233008" y="3730752"/>
            <a:ext cx="5410048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59" name="Text 56"/>
          <p:cNvSpPr txBox="1"/>
          <p:nvPr/>
        </p:nvSpPr>
        <p:spPr>
          <a:xfrm>
            <a:off x="6452464" y="3822192"/>
            <a:ext cx="497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メガ割本番施策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6452464" y="4219956"/>
            <a:ext cx="214884" cy="21488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452464" y="4219956"/>
            <a:ext cx="2148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800" dirty="0"/>
          </a:p>
        </p:txBody>
      </p:sp>
      <p:sp>
        <p:nvSpPr>
          <p:cNvPr id="62" name="Text 59"/>
          <p:cNvSpPr txBox="1"/>
          <p:nvPr/>
        </p:nvSpPr>
        <p:spPr>
          <a:xfrm>
            <a:off x="6754216" y="4178808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8月新規94名へメガ割直前クーポンを配布し、リピート転換を促進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6452464" y="4594860"/>
            <a:ext cx="214884" cy="21488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52464" y="4594860"/>
            <a:ext cx="2148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800" dirty="0"/>
          </a:p>
        </p:txBody>
      </p:sp>
      <p:sp>
        <p:nvSpPr>
          <p:cNvPr id="65" name="Text 62"/>
          <p:cNvSpPr txBox="1"/>
          <p:nvPr/>
        </p:nvSpPr>
        <p:spPr>
          <a:xfrm>
            <a:off x="6754216" y="4553712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残カート121件へのリマインド・クーポン投下で取りこぼしを回収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6452464" y="4969764"/>
            <a:ext cx="214884" cy="21488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52464" y="4969764"/>
            <a:ext cx="2148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800" dirty="0"/>
          </a:p>
        </p:txBody>
      </p:sp>
      <p:sp>
        <p:nvSpPr>
          <p:cNvPr id="68" name="Text 65"/>
          <p:cNvSpPr txBox="1"/>
          <p:nvPr/>
        </p:nvSpPr>
        <p:spPr>
          <a:xfrm>
            <a:off x="6754216" y="4928616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メガ割専用LP：TOP2（UV × プレエッセンス）の限定セットを主役に配置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6452464" y="5344668"/>
            <a:ext cx="214884" cy="21488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6452464" y="5344668"/>
            <a:ext cx="2148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800" dirty="0"/>
          </a:p>
        </p:txBody>
      </p:sp>
      <p:sp>
        <p:nvSpPr>
          <p:cNvPr id="71" name="Text 68"/>
          <p:cNvSpPr txBox="1"/>
          <p:nvPr/>
        </p:nvSpPr>
        <p:spPr>
          <a:xfrm>
            <a:off x="6754216" y="5303520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お気に入り登録促進（371PVの基盤をさらに拡大）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6452464" y="5719572"/>
            <a:ext cx="214884" cy="21488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452464" y="5719572"/>
            <a:ext cx="2148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800" dirty="0"/>
          </a:p>
        </p:txBody>
      </p:sp>
      <p:sp>
        <p:nvSpPr>
          <p:cNvPr id="74" name="Text 71"/>
          <p:cNvSpPr txBox="1"/>
          <p:nvPr/>
        </p:nvSpPr>
        <p:spPr>
          <a:xfrm>
            <a:off x="6754216" y="5678424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レビュー特典でUVデイエッセンスの口コミ数を積み増し</a:t>
            </a:r>
            <a:endParaRPr lang="en-US" sz="950" dirty="0"/>
          </a:p>
        </p:txBody>
      </p:sp>
      <p:sp>
        <p:nvSpPr>
          <p:cNvPr id="75" name="Text 72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dr365_Qoo10_2026年8月メガポ_レポート</dc:title>
  <dc:subject>PptxGenJS Presentation</dc:subject>
  <dc:creator>株式会社Wacworks</dc:creator>
  <cp:lastModifiedBy>株式会社Wacworks</cp:lastModifiedBy>
  <cp:revision>1</cp:revision>
  <dcterms:created xsi:type="dcterms:W3CDTF">2026-08-30T14:03:11Z</dcterms:created>
  <dcterms:modified xsi:type="dcterms:W3CDTF">2026-08-30T14:03:11Z</dcterms:modified>
</cp:coreProperties>
</file>