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038"/>
                </a:solidFill>
                <a:latin typeface="Meiryo"/>
              </a:defRPr>
            </a:pPr>
            <a:r>
              <a:rPr sz="1200" b="0" i="0" u="none" strike="noStrike">
                <a:solidFill>
                  <a:srgbClr val="0E2038"/>
                </a:solidFill>
                <a:latin typeface="Meiryo"/>
              </a:rPr>
              <a:t>月次売上 推移（百万円）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月次売上（百万円）</c:v>
                </c:pt>
              </c:strCache>
            </c:strRef>
          </c:tx>
          <c:spPr>
            <a:solidFill>
              <a:srgbClr val="7E96B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5566B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B98A1E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08</c:v>
                  </c:pt>
                  <c:pt idx="1">
                    <c:v>09</c:v>
                  </c:pt>
                  <c:pt idx="2">
                    <c:v>10</c:v>
                  </c:pt>
                  <c:pt idx="3">
                    <c:v>11</c:v>
                  </c:pt>
                  <c:pt idx="4">
                    <c:v>12</c:v>
                  </c:pt>
                  <c:pt idx="5">
                    <c:v>01</c:v>
                  </c:pt>
                  <c:pt idx="6">
                    <c:v>02</c:v>
                  </c:pt>
                  <c:pt idx="7">
                    <c:v>03</c:v>
                  </c:pt>
                  <c:pt idx="8">
                    <c:v>04</c:v>
                  </c:pt>
                  <c:pt idx="9">
                    <c:v>05</c:v>
                  </c:pt>
                  <c:pt idx="10">
                    <c:v>06</c:v>
                  </c:pt>
                  <c:pt idx="11">
                    <c:v>07</c:v>
                  </c:pt>
                  <c:pt idx="12">
                    <c:v>08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15.41</c:v>
                </c:pt>
                <c:pt idx="1">
                  <c:v>17.32</c:v>
                </c:pt>
                <c:pt idx="2">
                  <c:v>15.19</c:v>
                </c:pt>
                <c:pt idx="3">
                  <c:v>17.51</c:v>
                </c:pt>
                <c:pt idx="4">
                  <c:v>29.52</c:v>
                </c:pt>
                <c:pt idx="5">
                  <c:v>25.18</c:v>
                </c:pt>
                <c:pt idx="6">
                  <c:v>22.07</c:v>
                </c:pt>
                <c:pt idx="7">
                  <c:v>32.73</c:v>
                </c:pt>
                <c:pt idx="8">
                  <c:v>18.94</c:v>
                </c:pt>
                <c:pt idx="9">
                  <c:v>14.8</c:v>
                </c:pt>
                <c:pt idx="10">
                  <c:v>16.68</c:v>
                </c:pt>
                <c:pt idx="11">
                  <c:v>16.44</c:v>
                </c:pt>
                <c:pt idx="12">
                  <c:v>14.91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45566B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5566B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0"/>
        </c:scaling>
        <c:delete val="0"/>
        <c:axPos val="l"/>
        <c:majorGridlines>
          <c:spPr>
            <a:ln w="12700" cap="flat">
              <a:solidFill>
                <a:srgbClr val="EDF0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556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02 の扉。BAG MANIA 楽天市場店の2026年8月度実績を15枚で報告する。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アクセス-27.9%の大幅減をCVR+0.26ptで吸収し、売上は-3.2%に踏みとどまった。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アクセス-27.9%に対し売上-3.2%。転換率の改善が減少を吸収した。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Q4セール期と3月決算期にピーク。8月は端境期で13ヶ月中の底値圏。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ROAS 270.5%で前月から-36.5pt悪化。CPAは+35%上昇。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アクセス-27.9%、うち約30%はSNS消失。CVRは13ヶ月中最高の0.89%。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JILL STUARTが構成比42.7%で首位継続。BEAMS +67%が最大の伸び。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BEAMS +67%が最大の伸び。MARGARET HOWELL -29% / UNGARO -30%が後退。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主力のレディース財布-10.8%。メンズ財布・ハンドバッグ・名刺入れが伸長。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JILL STUARTがTOP8を独占。口金タイプが後退しL字ファスナーが伸長。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一般KWが急増、ブランド指名KWが軒並み減少。流入構造が転換している。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SNS -90.6%が最大の減少要因。楽天内流入も一律-15〜16%で縮小。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L字ファスナー・かぶせ型が伸長、口金（がま口）型が全面的に後退。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転換効率は改善。課題は集客基盤の縮小と中堅ブランドの後退。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主力ブランドの詳細。財布は-9.7%だが小物・バッグが大幅伸長。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9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MANIA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28620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0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楽天市場店 ／ 2026年8月度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749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店舗KPIサマリー  /  前年同月比較  /  月次売上推移  /  RPP広告パフォーマンス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アクセス・転換率分析  /  ブランド別売上分析  /  ブランド別売上前年比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カテゴリ別売上前年比（全ブランド / JILL STUART）  /  商品別売上ランキング TOP10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検索キーワード分析  /  流入参照元分析  /  前年対比 伸び・落ち商品  /  まとめと推奨アクション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A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  店舗KPIサマリー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¥14,905,535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¥15,405,720  /  -3.2%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92424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575304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575304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132,898人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3575304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184,280  /  -27.9%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81928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64808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CVR（転換率）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464808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0.89%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6464808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0.63%  /  +0.26pt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171432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9354312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354312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¥12,600</a:t>
            </a:r>
            <a:endParaRPr lang="en-US" sz="2500" dirty="0"/>
          </a:p>
        </p:txBody>
      </p:sp>
      <p:sp>
        <p:nvSpPr>
          <p:cNvPr id="21" name="Text 18"/>
          <p:cNvSpPr txBox="1"/>
          <p:nvPr/>
        </p:nvSpPr>
        <p:spPr>
          <a:xfrm>
            <a:off x="9354312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¥13,327  /  -5.5%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02920" y="2697480"/>
            <a:ext cx="11173968" cy="1975104"/>
          </a:xfrm>
          <a:prstGeom prst="roundRect">
            <a:avLst>
              <a:gd name="adj" fmla="val 231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4088" y="2788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2026年8月のハイライト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" y="3063240"/>
            <a:ext cx="10771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売上 ¥14,905,535（前年比 -3.2%）でほぼ前年並みを維持。アクセス -27.9% の大幅減を CVR +0.26pt が打ち消した。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CVR 0.89% は直近13ヶ月で最高水準（前年 0.63% / 前月 0.87%）。流入は減ったが購買意欲の高い層が残っている。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アクセス減の最大要因は SNS の消失：Instagram 7,287 → 782（-89.3%）/ Facebook 1,067 → 0。SNS計 -90.6% で、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アクセス減 -24,834人のうち約 30%（-7,572人）を占める。楽天内流入も一律 -15〜16% で縮小。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ブランドは JILL STUART +4%（構成比 42.7% で首位継続）/ BEAMS +67% / PATRICK COX +11% / Pinky&amp;Dianne +7% が伸長。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一方 MARGARET HOWELL -29% / UNGARO -30% / MANIUNO -42% が後退。中堅ブランドの落ち込みが売上減の主因。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前月比（2026年7月 → 2026年8月）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02920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7512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783080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-9.4%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67512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¥16.44M   →   ¥14.91M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3392424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557016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4672584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-14.1%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3557016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154,796   →   132,898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6281928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46520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CVR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7562088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+0.02pt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46520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0.87%   →   0.89%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9171432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336024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10451592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+3.4%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9336024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¥12,190   →   ¥12,600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前年同月比較（2026年8月 vs 2025年8月）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00200"/>
                <a:gridCol w="16002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¥14,905,535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¥15,405,720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-3.2%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アクセス人数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132,898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184,280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-27.9%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転換率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0.89%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0.63%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+0.26pt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客単価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¥12,600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¥13,327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-5.5%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売上件数（推計）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1,183件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1,156件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+2.3%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280160"/>
            <a:ext cx="4187952" cy="4526280"/>
          </a:xfrm>
          <a:prstGeom prst="roundRect">
            <a:avLst>
              <a:gd name="adj" fmla="val 1092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699248" y="137160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699248" y="1645920"/>
            <a:ext cx="378561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アクセスが -27.9%（-51,382人）と大きく減る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一方で、売上は -3.2% にとどまった。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CVR +0.26pt / 売上件数 +2.3% が示すとおり、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「買う人」の数はむしろ増えている。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つまり8月に失ったのは購買につながらない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低質な流入。SNS（Instagram / Facebook）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経由の -7,572人がその中心で、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売上インパクトは限定的だった。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ただしアクセス基盤そのものは縮小しており、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楽天サーチ -15.9% / 店舗商品ページ -16.0% /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楽天市場トップ -15.0% と楽天内も一律で減少。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中期的には集客の立て直しが必要。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客単価 -5.5% は名刺入れ・キーケースなど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小物カテゴリの構成比上昇による。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02920" y="3611880"/>
            <a:ext cx="6766560" cy="219456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4088" y="3703320"/>
            <a:ext cx="6364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売上構造の変化（商品分析ベース / 売上 -¥450K の内訳）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04088" y="3977640"/>
            <a:ext cx="6364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増加要因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・メンズ財布  +¥366K  /  ハンドバッグ  +¥288K  /  名刺入れ  +¥168K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・メンズコインケース  +¥58K  /  ボストンバッグ  +¥48K  /  キーケース  +¥28K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減少要因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・レディース財布  -¥893K（最大要因・主力カテゴリ）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・トートバッグ  -¥245K  /  UNGARO 口金財布系  -¥330K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・ボディバッグ・ウエストポーチ  -¥129K  /  ショルダーバッグ  -¥100K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月次売上推移（直近13ヶ月）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868680"/>
                <a:gridCol w="9601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CVR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客単価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2025/08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¥15,405,720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¥13,327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2025/09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¥17,319,450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0.80%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¥12,624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2025/10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¥15,192,320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0.61%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¥13,625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2025/11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¥17,506,556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0.84%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¥14,061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2025/12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¥29,521,369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1.19%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¥13,517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¥25,176,858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¥13,251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¥22,070,327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0.53%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¥13,607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¥32,728,062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0.83%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¥12,588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¥18,941,785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¥12,912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¥14,795,242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¥12,944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¥16,683,793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0.76%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¥12,678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¥16,444,213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0.87%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¥12,190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B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¥14,905,535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0.89%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¥12,600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4983480" y="1280160"/>
          <a:ext cx="67208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3"/>
          <p:cNvSpPr/>
          <p:nvPr/>
        </p:nvSpPr>
        <p:spPr>
          <a:xfrm>
            <a:off x="4983480" y="5029200"/>
            <a:ext cx="6720840" cy="1188720"/>
          </a:xfrm>
          <a:prstGeom prst="roundRect">
            <a:avLst>
              <a:gd name="adj" fmla="val 3846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184648" y="5120640"/>
            <a:ext cx="6318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推移の読み方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5184648" y="5394960"/>
            <a:ext cx="6318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2026/08（ゴールド）は ¥14.91M で13ヶ月中の底値圏。売上ピークは 2026/03 ¥32.73M、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2025/12 ¥29.52M で、Q4セール期と3月決算期に需要が集中する構造。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8月は前年 ¥15.41M → -3.2%、前月 ¥16.44M → -9.4%。端境期で例年どおりの水準。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注目すべきは CVR。0.53%（2026/02）を底に 6ヶ月連続で改善し、8月 0.89% は13ヶ月中最高。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流入規模は縮小しているが、転換効率は着実に上がっている。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RPP広告パフォーマンス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有効予算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¥3,000,000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消化率: 92.24%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9768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8056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クリック数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101,633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CTR 0.10%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9244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7532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広告費（実績額）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¥2,767,357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CPC ¥28 / 割引後も同額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8580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ROAS（720時間）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270.5%</a:t>
            </a:r>
            <a:endParaRPr lang="en-US" sz="25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 307.0% / -36.5pt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29768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48056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広告経由売上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48056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¥7,486,655</a:t>
            </a:r>
            <a:endParaRPr lang="en-US" sz="2500" dirty="0"/>
          </a:p>
        </p:txBody>
      </p:sp>
      <p:sp>
        <p:nvSpPr>
          <p:cNvPr id="25" name="Text 22"/>
          <p:cNvSpPr txBox="1"/>
          <p:nvPr/>
        </p:nvSpPr>
        <p:spPr>
          <a:xfrm>
            <a:off x="448056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月次売上の 50.2%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09244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27532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CPA（注文獲得単価）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27532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¥4,522</a:t>
            </a:r>
            <a:endParaRPr lang="en-US" sz="2500" dirty="0"/>
          </a:p>
        </p:txBody>
      </p:sp>
      <p:sp>
        <p:nvSpPr>
          <p:cNvPr id="29" name="Text 26"/>
          <p:cNvSpPr txBox="1"/>
          <p:nvPr/>
        </p:nvSpPr>
        <p:spPr>
          <a:xfrm>
            <a:off x="827532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売上件数 612件 / CVR 0.60%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02920" y="3877056"/>
            <a:ext cx="11173968" cy="1975104"/>
          </a:xfrm>
          <a:prstGeom prst="roundRect">
            <a:avLst>
              <a:gd name="adj" fmla="val 231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04088" y="3968496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04088" y="4242816"/>
            <a:ext cx="10771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ROAS(720h) 270.5% で前月（307.0%）から -36.5pt 悪化。予算は ¥3,000,000 据え置きだが、消化率が 88.29% → 92.24% へ上昇し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広告費は ¥2,648,932 → ¥2,767,357（+4.5%）に増加。にもかかわらず広告経由売上は ¥8,132,531 → ¥7,486,655（-7.9%）へ減少した。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CPC ¥28（前月 ¥21）で +33% 上昇、CPA ¥4,522（前月 ¥3,349）も +35% 悪化。クリック単価の高騰が効率悪化の主因。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広告CVR 0.60%（前月 0.62%）は横ばい。店舗全体のCVRが 0.89% と改善しているのに対し広告経由が伸びていない点に注目。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オーガニックの方が転換効率が高く、広告予算をそのまま積むより入札の選別を強めるほうが合理的。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広告依存度 50.2%（前月 49.4%）はほぼ横ばい。売上の半分を RPP が支える構造は継続している。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6016752"/>
            <a:ext cx="11173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2026年8月は割引後実績額と実績額がともに ¥2,767,357 で同額。ROAS(720時間) はこの実績額基準。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アクセス・転換率分析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3584448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アクセス数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132,898人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-27.9%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97680" y="1234440"/>
            <a:ext cx="3584448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8056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CVR（転換率）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0.89%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0.63% / +0.26pt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92440" y="1234440"/>
            <a:ext cx="3584448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7532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¥12,600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¥13,327 / -5.5%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2697480"/>
            <a:ext cx="11173968" cy="1975104"/>
          </a:xfrm>
          <a:prstGeom prst="roundRect">
            <a:avLst>
              <a:gd name="adj" fmla="val 231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4088" y="2788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" y="3063240"/>
            <a:ext cx="10771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アクセス数 132,898人（-27.9%）。参照元ベースでも 156,607 → 131,773 人（-15.9%）で、いずれも大幅減。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減少の中心は SNS。Instagram 7,287 → 782（-89.3%）、Facebook 1,067 → 0（消滅）で SNS計 -90.6%（-7,572人）。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参照元ベースの減少 -24,834人のうち約 30% を SNS が占める。残りは楽天内流入の一律縮小（サーチ -15.9% 等）。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CVR 0.89% は前年 +0.26pt、直近13ヶ月で最高。売上件数も +2.3% と増えており、失った流入は購買に結びついていなかった層。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客単価 ¥12,600（-5.5%）。名刺入れ +35.7% / キーケース +5.5% など小物カテゴリの構成比上昇が単価を押し下げた。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Criteoリタゲ合計は 5,210 → 4,141 人（-20.5%）。sin.creativecdn.com -43.2% の落ち込みが大きく、配信量の見直しが必要。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4617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前月比（2026年7月 → 2026年8月）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" y="4946904"/>
            <a:ext cx="358444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7512" y="502920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アクセス数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2670048" y="50292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-14.1%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67512" y="52760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154,796   →   132,898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297680" y="4946904"/>
            <a:ext cx="358444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62272" y="502920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CVR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6464808" y="50292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+0.02pt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462272" y="52760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0.87%   →   0.89%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8092440" y="4946904"/>
            <a:ext cx="358444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57032" y="502920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259568" y="50292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+3.4%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257032" y="52760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¥12,190   →   ¥12,600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ブランド別売上分析（2026年8月）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5532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325880"/>
                <a:gridCol w="868680"/>
                <a:gridCol w="1005840"/>
              </a:tblGrid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ブランド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構成比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¥5,803,100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536件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42.7%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Pinky&amp;Dianne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¥1,872,800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160件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MARGARET HOWELL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¥1,656,000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101件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12.2%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PATRICK COX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¥1,250,500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BEAMS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¥1,084,300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131件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UNGARO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¥754,350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LANVIN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¥509,100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Mila schon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¥238,500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MANIUNO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¥233,000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1.7%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¥174,100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83件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¥13,575,750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1,277件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100.0%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263640" y="1280160"/>
            <a:ext cx="5422392" cy="868680"/>
          </a:xfrm>
          <a:prstGeom prst="roundRect">
            <a:avLst>
              <a:gd name="adj" fmla="val 5263"/>
            </a:avLst>
          </a:prstGeom>
          <a:solidFill>
            <a:srgbClr val="FBF5E6"/>
          </a:solidFill>
          <a:ln w="12700">
            <a:solidFill>
              <a:srgbClr val="B98A1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46520" y="13533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1st  JILL STUART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9692640" y="13350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¥5,803,100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46520" y="16276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536件  /  42.7%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446520" y="185623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104%（¥5.59M → ¥5.80M） ▲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263640" y="2249424"/>
            <a:ext cx="5422392" cy="868680"/>
          </a:xfrm>
          <a:prstGeom prst="roundRect">
            <a:avLst>
              <a:gd name="adj" fmla="val 5263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46520" y="23225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2nd  Pinky&amp;Dianne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9692640" y="2304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¥1,872,800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25968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160件  /  13.8%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6446520" y="2825496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107%（堅調） ▲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263640" y="3218688"/>
            <a:ext cx="5422392" cy="868680"/>
          </a:xfrm>
          <a:prstGeom prst="roundRect">
            <a:avLst>
              <a:gd name="adj" fmla="val 5263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46520" y="3291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3rd  MARGARET HOWELL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9692640" y="3273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¥1,656,000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446520" y="35661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101件  /  12.2%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6446520" y="379476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71%（¥2.33M → ¥1.66M） ▼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263640" y="4187952"/>
            <a:ext cx="5422392" cy="868680"/>
          </a:xfrm>
          <a:prstGeom prst="roundRect">
            <a:avLst>
              <a:gd name="adj" fmla="val 5263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446520" y="42611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4th  PATRICK COX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9692640" y="42428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¥1,250,500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6446520" y="453542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115件  /  9.2%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6446520" y="476402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111%（伸長） ▲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263640" y="5157216"/>
            <a:ext cx="5422392" cy="868680"/>
          </a:xfrm>
          <a:prstGeom prst="roundRect">
            <a:avLst>
              <a:gd name="adj" fmla="val 5263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446520" y="5230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5th  BEAMS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9692640" y="5212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¥1,084,300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6446520" y="55046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131件  /  8.0%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6446520" y="573328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167%（¥650K → ¥1,084K） ▲▲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502920" y="5138928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商品分析レポート（売上上位1,000商品）ベース。店舗売上 ¥14,905,535 に対する捕捉率 91.1%。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502920" y="548640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 上位3ブランドで構成比 68.7%。JILL STUART 単独で 42.7% と依存度が高く、同ブランドの主力商品入替が店舗全体の売上を直接左右する構造。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ブランド別売上前年比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155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 vs 2025年8月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7396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72768"/>
                <a:gridCol w="822960"/>
                <a:gridCol w="1572768"/>
                <a:gridCol w="822960"/>
                <a:gridCol w="1261872"/>
                <a:gridCol w="2377440"/>
              </a:tblGrid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ブランド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売上(2026/08)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売上(2025/08)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備考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¥5,803,100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536件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¥5,590,500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堅調 ▲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Pinky&amp;Dianne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¥1,872,800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160件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¥1,755,750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150件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107%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堅調 ▲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MARGARET HOWELL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¥1,656,000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¥2,333,000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147件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大幅減少 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PATRICK COX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¥1,250,500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¥1,123,950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107件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伸長 ▲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BEAMS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¥1,084,300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¥649,600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73件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167%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大幅成長 ▲▲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UNGARO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¥754,350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¥1,084,500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76件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大幅減少 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LANVIN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¥509,100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¥595,400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74件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微減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Mila schon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¥238,500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¥158,000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伸長 ▲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MANIUNO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¥233,000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¥400,000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大幅減少 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¥174,100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83件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¥335,300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99件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減少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¥13,575,750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1,277件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¥14,026,000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1,253件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97%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5193792"/>
            <a:ext cx="11173968" cy="1097280"/>
          </a:xfrm>
          <a:prstGeom prst="roundRect">
            <a:avLst>
              <a:gd name="adj" fmla="val 4167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04088" y="5285232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 総括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04088" y="5559552"/>
            <a:ext cx="10771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上位2ブランド（JILL STUART +4% / Pinky&amp;Dianne +7%）と BEAMS +67% / PATRICK COX +11% が伸長し、全体では -3% に踏みとどまった。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後退したのは中堅ブランド。MARGARET HOWELL -29%（-¥677K）/ UNGARO -30%（-¥330K）/ MANIUNO -42%（-¥167K）の3ブランドで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計 -¥1,174K の減少となり、全体の売上減 -¥450K を上回る。上位ブランドの伸びがこれを相殺した構図。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BEAMS は DESIGN シリーズの二つ折り財布2型（新規 計 ¥410K）が寄与。ブランド構成の入れ替えが進行している。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カテゴリ別売上前年比 — 全ブランド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155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 vs 2025年8月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43000"/>
                <a:gridCol w="1143000"/>
                <a:gridCol w="777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 2026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 2025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レディース財布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¥7,366,400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¥8,259,000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89.2%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トートバッグ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¥1,128,250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¥1,373,150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82.2%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メンズ財布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¥1,092,400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¥726,500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150.4%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バックパック・リュック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¥672,400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¥644,600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104.3%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名刺入れ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¥636,500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¥469,000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135.7%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ハンドバッグ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¥556,200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¥268,300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207.3%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キーケース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¥544,500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¥516,250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105.5%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ショルダーバッグ・メッセンジャーバッグ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¥476,400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¥576,800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82.6%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メンズベルト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¥212,000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¥248,000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85.5%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レディースコインケース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¥184,200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¥177,500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103.8%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定期入れ・パスケース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¥171,000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¥201,000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85.1%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41732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43000"/>
                <a:gridCol w="1143000"/>
                <a:gridCol w="777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 2026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 2025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¥149,000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¥181,000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82.3%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ボストンバッグ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¥144,000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¥96,500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149.2%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メンズコインケース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¥94,100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¥36,000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261.4%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ボディバッグ・ウエストポーチ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¥45,500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¥174,200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26.1%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キーホルダー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¥40,300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¥53,000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76.0%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クラッチバッグ・セカンドバッグ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¥18,400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NEW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袋・ギフトバッグ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¥18,200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83.5%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ネックストラップ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NEW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クレジットカードケース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100.0%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バッグオーガナイザー・バッグインバッグ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NEW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02920" y="5577840"/>
            <a:ext cx="11173968" cy="77724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04088" y="566928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 総括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704088" y="5943600"/>
            <a:ext cx="10771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 ¥14,026,000 → ¥13,575,750（前年比 97%）。主力のレディース財布が -10.8%（-¥893K）で全体を押し下げた一方、メンズ財布 +50.4% /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ハンドバッグ +107.3% / 名刺入れ +35.7% / メンズコインケース +161.4% と、財布以外・メンズ領域が伸長。商品構成の多角化が進んでいる。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商品別売上ランキング TOP10（2026年8月）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73968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463040"/>
                <a:gridCol w="5760720"/>
                <a:gridCol w="1463040"/>
                <a:gridCol w="795528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順位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商品コード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JSLW3AS2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グローリア 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¥720,000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+11.1%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JSLW0DS4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エターナル L字ファスナー折り財布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¥624,000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52件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+73.3%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JSLW0DS1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エターナル 口金折り財布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¥456,000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38件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-39.7%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JSLW3AM1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グローリア 名刺入れ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¥354,000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59件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+168.2%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JSLW3AT1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グローリア L字ファスナー長財布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¥350,000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+38.9%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JSLW0DT1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エターナル ラウンドファスナー長財布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¥336,000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+26.3%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JSLW0DK1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エターナル キーケース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¥331,500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+41.7%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JSLW3AS1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グローリア 口金折り財布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¥286,000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-68.1%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BMMW6JS2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BEAMS DESIGN Aggressive 二つ折り財布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¥270,000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PDLWBET1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PINKY&amp;DIANNE パドロック 長財布かぶせ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¥225,000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-11.8%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5138928"/>
            <a:ext cx="11173968" cy="1444752"/>
          </a:xfrm>
          <a:prstGeom prst="roundRect">
            <a:avLst>
              <a:gd name="adj" fmla="val 316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04088" y="523036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 分析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04088" y="5504688"/>
            <a:ext cx="10771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TOP10 のうち 8商品が JILL STUART。1位 グローリア 折り財布 ¥720,000（60件）、2位 エターナル L字ファスナー折り財布 ¥624,000（+73.3%）。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留め具タイプで明暗が分かれた。L字ファスナー系（2位 +73.3% / 5位 +38.9%）とラウンドファスナー（6位 +26.3%）が伸長する一方、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口金（がま口）系は 3位 -39.7% / 8位 -68.1% と大幅減。同じシリーズ内でも留め具によって前年比が逆方向に振れている。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4位 グローリア 名刺入れ +168.2%（59件）が財布以外で最大の伸び。9位 BEAMS DESIGN Aggressive 二つ折り財布 ¥270,000 が新規ランクイン。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検索キーワード分析（2026年8月）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155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楽天サーチ経由の上位キーワード比較（2026年8月 vs 2025年8月）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73968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3931920"/>
                <a:gridCol w="1143000"/>
                <a:gridCol w="4224528"/>
                <a:gridCol w="1188720"/>
              </a:tblGrid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順位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2026年キーワード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アクセス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2025年キーワード（対応値）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財布 レディース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2,759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財布 レディース (886)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+211.4%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ジルスチュアート 財布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1,636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ジルスチュアート 財布 (2,745)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-40.4%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長財布 レディース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1,527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長財布 レディース (832)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+83.5%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キーケース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1,009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キーケース (151)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+568.2%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二つ折り財布 レディース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969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二つ折り財布 レディース (446)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+117.3%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財布 二つ折り レディース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824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—（前年圏外）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NEW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キーケース レディース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738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キーケース レディース (492)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+50.0%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名刺入れ レディース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612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名刺入れ レディース (389)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+57.3%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マーガレットハウエル 財布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マーガレットハウエル 財布 (660)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-28.3%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ジルスチュアート バッグ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ジルスチュアート バッグ (323)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+38.4%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846320"/>
            <a:ext cx="11173968" cy="1426464"/>
          </a:xfrm>
          <a:prstGeom prst="roundRect">
            <a:avLst>
              <a:gd name="adj" fmla="val 320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04088" y="493776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分析・考察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04088" y="5212080"/>
            <a:ext cx="107716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流入の質が入れ替わった。一般KWが急伸：「財布 レディース」+211.4%（886 → 2,759）で首位、「キーケース」+568.2%（151 → 1,009）、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「長財布 レディース」+83.5%、「二つ折り財布 レディース」+117.3%。カテゴリ名検索での露出が大きく取れている。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逆にブランド指名KWは軒並み減少：「ジルスチュアート 財布」-40.4%（2,745 → 1,636、前年1位から陥落）、「マーガレットハウエル 財布」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-28.3%、「ピンキー&amp;ダイアン 財布」-42.2%（514 → 297）、「パトリックコックス 財布」-21.8%。前年2位「財布 レディース 二つ折」も -72.3%。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一般KWは競合と並ぶ土俵のため、指名検索より転換率が落ちやすい。にもかかわらず CVR 0.89% と改善している点は商品ページ側の強さを示す。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一方で指名検索の減少はブランド想起の弱まりを意味し、中期的な集客リスク。SNS 消失（Instagram -89%）との関連が疑われる。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流入参照元分析（2026年8月）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155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アクセス総数（参照元基準）: 131,773 人  ／  前年 156,607 人  ／  -15.9%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44752"/>
          <a:ext cx="64008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051560"/>
                <a:gridCol w="868680"/>
                <a:gridCol w="1051560"/>
                <a:gridCol w="91440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参照元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シェア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2025/08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楽天サーチ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43,428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33.0%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51,658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-15.9%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店舗商品ページ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19,553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14.8%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23,267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-16.0%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楽天市場トップ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13,060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15,365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-15.0%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お気に入り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6,015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6,855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-12.3%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android-app://chrome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5,734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3,199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+79.2%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Google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5,453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4.1%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5,636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-3.2%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楽天その他サービス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5,153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5,887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-12.5%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Yahoo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4,444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5,963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-25.5%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みんなのレビュー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4,223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4,991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-15.4%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ads.as.criteo.com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2,365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2,181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+8.4%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sin.creativecdn.com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1,522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2,678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-43.2%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Instagram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782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7,287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-89.3%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Facebook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1,067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消滅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132320" y="1444752"/>
            <a:ext cx="4553712" cy="4480560"/>
          </a:xfrm>
          <a:prstGeom prst="roundRect">
            <a:avLst>
              <a:gd name="adj" fmla="val 1020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33488" y="153619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注目ポイント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333488" y="1810512"/>
            <a:ext cx="415137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SNS の消失が最大の減少要因。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Instagram 7,287 → 782（-89.3%）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Facebook 1,067 → 0（消滅）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SNS計 8,354 → 782（-90.6% / -7,572人）で、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参照元減少 -24,834人の約30%を占める。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楽天内流入も一律で縮小。楽天サーチ -15.9% /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店舗商品ページ -16.0% / 楽天市場トップ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-15.0% と、ほぼ同じ減少率。シェア構成は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前年とほぼ変わらず（楽天サーチ 33.0% で同率）、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流入全体が等比で縮んだ形。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Criteoリタゲ合計 5,210 → 4,141 人（-20.5%）。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ads.as.criteo.com は +8.4% と伸びたが、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sin.creativecdn.com が -43.2% と大きく減少。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android-app://chrome +79.2%（3,199 → 5,734）。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Android アプリ経由の計測が拡大。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Yahoo -25.5% / Google -3.2%。外部検索は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Yahoo の落ち込みが目立つ。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前年対比 伸び・落ち商品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70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 伸び商品（新規・前年比プラス）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1536192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" y="15819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BMMW6JS2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67512" y="179222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BEAMS DESIGN Aggressive 二つ折り財布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3401568" y="168249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 → ¥270,000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2157984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7512" y="22037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JSLW0DS4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67512" y="241401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エターナル L字ファスナー折り財布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3401568" y="230428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¥360,000 → ¥624,000（+73%）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2920" y="2779776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7512" y="28254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JSLW3AM1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67512" y="303580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グローリア 名刺入れ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3401568" y="29260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¥132,000 → ¥354,000（+168%）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02920" y="3401568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7512" y="34472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JSLW6ST1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67512" y="365760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Honey 長財布（かぶせ）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3401568" y="35478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 → ¥204,000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02920" y="4023360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7512" y="40690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JSLW6ST2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67512" y="427939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Honey L字ファスナー長財布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3401568" y="416966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 → ¥176,000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02920" y="4645152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7512" y="469087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BMMW6CS2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667512" y="490118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BEAMS DESIGN Passive 二つ折り財布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3401568" y="47914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 → ¥140,400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172200" y="1170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 落ち商品（前年から消滅・減少）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172200" y="1536192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36792" y="15819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JSLW3AS1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336792" y="17922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グローリア 口金折り財布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9326880" y="16824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¥897,000 → ¥286,000（-68%）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172200" y="2157984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36792" y="22037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JSLW3DS2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6336792" y="24140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ルナティ 口金折り財布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9326880" y="2304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¥450,000 → ¥0（消滅）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172200" y="2779776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36792" y="28254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JSLW0DS1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336792" y="30358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エターナル 口金折り財布</a:t>
            </a:r>
            <a:endParaRPr lang="en-US" sz="850" dirty="0"/>
          </a:p>
        </p:txBody>
      </p:sp>
      <p:sp>
        <p:nvSpPr>
          <p:cNvPr id="43" name="Text 40"/>
          <p:cNvSpPr txBox="1"/>
          <p:nvPr/>
        </p:nvSpPr>
        <p:spPr>
          <a:xfrm>
            <a:off x="9326880" y="2926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¥756,000 → ¥456,000（-40%）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172200" y="3401568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336792" y="34472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JSLW3DS1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6336792" y="36576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ルナティ 折り財布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9326880" y="3547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¥285,000 → ¥0（消滅）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172200" y="4023360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336792" y="40690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UULW6AS4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336792" y="42793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 by ungaro アイガー 口金付折り財布</a:t>
            </a:r>
            <a:endParaRPr lang="en-US" sz="850" dirty="0"/>
          </a:p>
        </p:txBody>
      </p:sp>
      <p:sp>
        <p:nvSpPr>
          <p:cNvPr id="51" name="Text 48"/>
          <p:cNvSpPr txBox="1"/>
          <p:nvPr/>
        </p:nvSpPr>
        <p:spPr>
          <a:xfrm>
            <a:off x="9326880" y="41696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¥208,000 → ¥39,000（-81%）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6172200" y="4645152"/>
            <a:ext cx="5513832" cy="530352"/>
          </a:xfrm>
          <a:prstGeom prst="roundRect">
            <a:avLst>
              <a:gd name="adj" fmla="val 6897"/>
            </a:avLst>
          </a:prstGeom>
          <a:solidFill>
            <a:srgbClr val="FCF1F0"/>
          </a:solidFill>
          <a:ln w="12700">
            <a:solidFill>
              <a:srgbClr val="EFD2C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336792" y="469087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UULW6AT1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6336792" y="49011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 by ungaro アイガー 口金長財布</a:t>
            </a:r>
            <a:endParaRPr lang="en-US" sz="850" dirty="0"/>
          </a:p>
        </p:txBody>
      </p:sp>
      <p:sp>
        <p:nvSpPr>
          <p:cNvPr id="55" name="Text 52"/>
          <p:cNvSpPr txBox="1"/>
          <p:nvPr/>
        </p:nvSpPr>
        <p:spPr>
          <a:xfrm>
            <a:off x="9326880" y="4791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¥150,000 → ¥0（消滅）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502920" y="5376672"/>
            <a:ext cx="11183112" cy="1444752"/>
          </a:xfrm>
          <a:prstGeom prst="roundRect">
            <a:avLst>
              <a:gd name="adj" fmla="val 316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04088" y="5468112"/>
            <a:ext cx="10780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 分析 — 留め具タイプの明確な移行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704088" y="5742432"/>
            <a:ext cx="107807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落ち商品6件のうち5件が「口金（がま口）」タイプ。JILL STUART 3型（グローリア -68% / ルナティ 消滅 / エターナル -40%）と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U by ungaro 2型（-81% / 消滅）で、計 -¥1,674K。ブランドを跨いで同じ形状が同時に落ちており、需要そのものの移行と判断できる。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対して伸び商品は L字ファスナー（エターナル +73% / Honey 新規）とかぶせ型（Honey 長財布 新規）、BEAMS の二つ折り2型。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秋冬の仕入・ページ強化は L字ファスナー／かぶせ型に寄せ、口金型は在庫消化と露出縮小に切り替えるのが妥当。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まとめと推奨アクション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07008"/>
            <a:ext cx="5513832" cy="4572000"/>
          </a:xfrm>
          <a:prstGeom prst="roundRect">
            <a:avLst>
              <a:gd name="adj" fmla="val 1200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35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成果・ポジティブ指標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3736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CVR 0.89%（+0.26pt）で直近13ヶ月の最高水準</a:t>
            </a:r>
            <a:endParaRPr lang="en-US" sz="10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売上件数 +2.3%（1,156件 → 1,183件）と実数で増加</a:t>
            </a:r>
            <a:endParaRPr lang="en-US" sz="10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アクセス -27.9% に対し売上 -3.2% に踏みとどまる</a:t>
            </a:r>
            <a:endParaRPr lang="en-US" sz="10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JILL STUART +4%（構成比 42.7%）で首位継続</a:t>
            </a:r>
            <a:endParaRPr lang="en-US" sz="10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BEAMS +67%（¥650K → ¥1,084K）が最大の伸び</a:t>
            </a:r>
            <a:endParaRPr lang="en-US" sz="10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PATRICK COX +11% / Pinky&amp;Dianne +7% / Mila schon +51%</a:t>
            </a:r>
            <a:endParaRPr lang="en-US" sz="10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メンズ財布 +50% / ハンドバッグ +107% / 名刺入れ +36%</a:t>
            </a:r>
            <a:endParaRPr lang="en-US" sz="10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JILL STUART 名刺入れ +239% / キーケース +43% /</a:t>
            </a:r>
            <a:endParaRPr lang="en-US" sz="10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トートバッグ +416% と財布以外への拡張が進行</a:t>
            </a:r>
            <a:endParaRPr lang="en-US" sz="10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一般KW が急伸（財布 レディース +211% / キーケース +568%）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72200" y="1207008"/>
            <a:ext cx="5513832" cy="4572000"/>
          </a:xfrm>
          <a:prstGeom prst="roundRect">
            <a:avLst>
              <a:gd name="adj" fmla="val 1200"/>
            </a:avLst>
          </a:prstGeom>
          <a:solidFill>
            <a:srgbClr val="FDF8EC"/>
          </a:solidFill>
          <a:ln w="12700">
            <a:solidFill>
              <a:srgbClr val="EADFC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0" y="1335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 課題・推奨アクション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73736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SNS流入 -90.6%（Instagram -89% / Facebook 消滅）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アクセス減の約30%。SNS運用の再開・再構築が最優先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ブランド指名KW が全面減（ジルスチュアート 財布 -40%）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SNS消失と連動した想起低下。指名検索の回復施策が必要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口金（がま口）財布が全面後退（5型で -¥1,674K）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L字ファスナー／かぶせ型へ仕入・露出をシフト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MARGARET HOWELL -29% / UNGARO -30% / MANIUNO -42%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中堅3ブランドで -¥1,174K。品揃え刷新か縮小の判断を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RPP ROAS 270.5%（-36.5pt）/ CPA ¥4,522（+35%）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CPC ¥21→¥28 の高騰。入札の選別強化で効率を戻す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Criteoリタゲ -20.5%（sin.creativecdn.com -43.2%）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配信設定の確認が必要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客単価 -5.5% → 小物比率上昇。高単価バッグの露出強化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カテゴリ別売上前年比 — JILL STUART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楽天市場店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楽天市場店  /  2026年8月度 分析レポート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155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 vs 2025年8月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6629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594360"/>
                <a:gridCol w="1097280"/>
                <a:gridCol w="594360"/>
                <a:gridCol w="9601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売上(2026/08)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売上(2025/08)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レディース財布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¥4,329,300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327件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¥4,794,000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364件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90.3%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名刺入れ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¥500,000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81件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¥209,500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238.7%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キーケース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¥345,500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52件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¥242,000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37件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142.8%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ハンドバッグ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¥172,200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¥50,000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344.4%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定期入れ・パスケース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¥126,000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¥151,000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83.4%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レディースコインケース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¥98,700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¥95,000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103.9%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トートバッグ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¥87,700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515.9%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ショルダーバッグ・メッセンジャーバッグ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¥85,200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98A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NEW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ボストンバッグ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¥58,500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¥32,000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182.8%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333488" y="1371600"/>
            <a:ext cx="4352544" cy="4526280"/>
          </a:xfrm>
          <a:prstGeom prst="roundRect">
            <a:avLst>
              <a:gd name="adj" fmla="val 1050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534656" y="146304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8A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分析・考察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534656" y="1737360"/>
            <a:ext cx="39502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合計：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¥5,590,500 → ¥5,803,100（前年比 104% / +3.8%）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主力のレディース財布は -9.7%（¥4,794K →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¥4,329K）。件数も 364件 → 327件 と減少。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口金タイプ3型の後退が直接の要因。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それを財布以外が補った。名刺入れ +139%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（¥210K → ¥500K・81件）、キーケース +43%、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トートバッグ +416%、ハンドバッグ +244%、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ショルダーバッグは新規 ¥85K。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結果、財布の構成比は 85.8% → 74.6% へ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-11.2pt 低下。単一カテゴリ依存が緩和され、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ブランドとしての幅が出てきている。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推奨：伸びている名刺入れ・キーケース・バッグ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を独立導線で強化しつつ、財布は L字ファスナー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系へ主力を移す。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4846320"/>
            <a:ext cx="662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商品分析レポート（売上上位1,000商品）ベース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WAC WORKS</dc:creator>
  <cp:lastModifiedBy>WAC WORKS</cp:lastModifiedBy>
  <cp:revision>1</cp:revision>
  <dcterms:created xsi:type="dcterms:W3CDTF">2026-09-13T10:44:01Z</dcterms:created>
  <dcterms:modified xsi:type="dcterms:W3CDTF">2026-09-13T10:44:01Z</dcterms:modified>
</cp:coreProperties>
</file>