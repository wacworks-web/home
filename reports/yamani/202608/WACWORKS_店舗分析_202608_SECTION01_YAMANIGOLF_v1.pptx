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2038"/>
                </a:solidFill>
                <a:latin typeface="Meiryo"/>
              </a:defRPr>
            </a:pPr>
            <a:r>
              <a:rPr sz="1200" b="0" i="0" u="none" strike="noStrike">
                <a:solidFill>
                  <a:srgbClr val="0E2038"/>
                </a:solidFill>
                <a:latin typeface="Meiryo"/>
              </a:rPr>
              <a:t>月次売上 推移（百万円）</a:t>
            </a:r>
          </a:p>
        </c:rich>
      </c:tx>
      <c:layout/>
      <c:overlay val="0"/>
    </c:title>
    <c:autoTitleDeleted val="0"/>
    <c:plotArea>
      <c:layout/>
      <c:barChart>
        <c:barDir val="col"/>
        <c:grouping val="clustered"/>
        <c:varyColors val="0"/>
        <c:ser>
          <c:idx val="0"/>
          <c:order val="0"/>
          <c:tx>
            <c:strRef>
              <c:f>Sheet1!$B$1</c:f>
              <c:strCache>
                <c:ptCount val="1"/>
                <c:pt idx="0">
                  <c:v>月次売上（百万円）</c:v>
                </c:pt>
              </c:strCache>
            </c:strRef>
          </c:tx>
          <c:spPr>
            <a:solidFill>
              <a:srgbClr val="7E96B4"/>
            </a:solidFill>
            <a:effectLst/>
          </c:spPr>
          <c:invertIfNegative val="0"/>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dPt>
            <c:idx val="0"/>
            <c:invertIfNegative val="0"/>
            <c:bubble3D val="0"/>
            <c:spPr>
              <a:solidFill>
                <a:srgbClr val="7E96B4"/>
              </a:solidFill>
              <a:effectLst/>
            </c:spPr>
          </c:dPt>
          <c:dPt>
            <c:idx val="1"/>
            <c:invertIfNegative val="0"/>
            <c:bubble3D val="0"/>
            <c:spPr>
              <a:solidFill>
                <a:srgbClr val="7E96B4"/>
              </a:solidFill>
              <a:effectLst/>
            </c:spPr>
          </c:dPt>
          <c:dPt>
            <c:idx val="2"/>
            <c:invertIfNegative val="0"/>
            <c:bubble3D val="0"/>
            <c:spPr>
              <a:solidFill>
                <a:srgbClr val="7E96B4"/>
              </a:solidFill>
              <a:effectLst/>
            </c:spPr>
          </c:dPt>
          <c:dPt>
            <c:idx val="3"/>
            <c:invertIfNegative val="0"/>
            <c:bubble3D val="0"/>
            <c:spPr>
              <a:solidFill>
                <a:srgbClr val="7E96B4"/>
              </a:solidFill>
              <a:effectLst/>
            </c:spPr>
          </c:dPt>
          <c:dPt>
            <c:idx val="4"/>
            <c:invertIfNegative val="0"/>
            <c:bubble3D val="0"/>
            <c:spPr>
              <a:solidFill>
                <a:srgbClr val="7E96B4"/>
              </a:solidFill>
              <a:effectLst/>
            </c:spPr>
          </c:dPt>
          <c:dPt>
            <c:idx val="5"/>
            <c:invertIfNegative val="0"/>
            <c:bubble3D val="0"/>
            <c:spPr>
              <a:solidFill>
                <a:srgbClr val="7E96B4"/>
              </a:solidFill>
              <a:effectLst/>
            </c:spPr>
          </c:dPt>
          <c:dPt>
            <c:idx val="6"/>
            <c:invertIfNegative val="0"/>
            <c:bubble3D val="0"/>
            <c:spPr>
              <a:solidFill>
                <a:srgbClr val="7E96B4"/>
              </a:solidFill>
              <a:effectLst/>
            </c:spPr>
          </c:dPt>
          <c:dPt>
            <c:idx val="7"/>
            <c:invertIfNegative val="0"/>
            <c:bubble3D val="0"/>
            <c:spPr>
              <a:solidFill>
                <a:srgbClr val="7E96B4"/>
              </a:solidFill>
              <a:effectLst/>
            </c:spPr>
          </c:dPt>
          <c:dPt>
            <c:idx val="8"/>
            <c:invertIfNegative val="0"/>
            <c:bubble3D val="0"/>
            <c:spPr>
              <a:solidFill>
                <a:srgbClr val="7E96B4"/>
              </a:solidFill>
              <a:effectLst/>
            </c:spPr>
          </c:dPt>
          <c:dPt>
            <c:idx val="9"/>
            <c:invertIfNegative val="0"/>
            <c:bubble3D val="0"/>
            <c:spPr>
              <a:solidFill>
                <a:srgbClr val="7E96B4"/>
              </a:solidFill>
              <a:effectLst/>
            </c:spPr>
          </c:dPt>
          <c:dPt>
            <c:idx val="10"/>
            <c:invertIfNegative val="0"/>
            <c:bubble3D val="0"/>
            <c:spPr>
              <a:solidFill>
                <a:srgbClr val="7E96B4"/>
              </a:solidFill>
              <a:effectLst/>
            </c:spPr>
          </c:dPt>
          <c:dPt>
            <c:idx val="11"/>
            <c:invertIfNegative val="0"/>
            <c:bubble3D val="0"/>
            <c:spPr>
              <a:solidFill>
                <a:srgbClr val="7E96B4"/>
              </a:solidFill>
              <a:effectLst/>
            </c:spPr>
          </c:dPt>
          <c:dPt>
            <c:idx val="12"/>
            <c:invertIfNegative val="0"/>
            <c:bubble3D val="0"/>
            <c:spPr>
              <a:solidFill>
                <a:srgbClr val="E8703A"/>
              </a:solidFill>
              <a:effectLst/>
            </c:spPr>
          </c:dPt>
          <c:cat>
            <c:multiLvlStrRef>
              <c:f>Sheet1!$A$2:$A$14</c:f>
              <c:multiLvlStrCache>
                <c:ptCount val="13"/>
                <c:lvl>
                  <c:pt idx="0">
                    <c:v>08</c:v>
                  </c:pt>
                  <c:pt idx="1">
                    <c:v>09</c:v>
                  </c:pt>
                  <c:pt idx="2">
                    <c:v>10</c:v>
                  </c:pt>
                  <c:pt idx="3">
                    <c:v>11</c:v>
                  </c:pt>
                  <c:pt idx="4">
                    <c:v>12</c:v>
                  </c:pt>
                  <c:pt idx="5">
                    <c:v>01</c:v>
                  </c:pt>
                  <c:pt idx="6">
                    <c:v>02</c:v>
                  </c:pt>
                  <c:pt idx="7">
                    <c:v>03</c:v>
                  </c:pt>
                  <c:pt idx="8">
                    <c:v>04</c:v>
                  </c:pt>
                  <c:pt idx="9">
                    <c:v>05</c:v>
                  </c:pt>
                  <c:pt idx="10">
                    <c:v>06</c:v>
                  </c:pt>
                  <c:pt idx="11">
                    <c:v>07</c:v>
                  </c:pt>
                  <c:pt idx="12">
                    <c:v>08</c:v>
                  </c:pt>
                </c:lvl>
              </c:multiLvlStrCache>
            </c:multiLvlStrRef>
          </c:cat>
          <c:val>
            <c:numRef>
              <c:f>Sheet1!$B$2:$B$14</c:f>
              <c:numCache>
                <c:formatCode>General</c:formatCode>
                <c:ptCount val="13"/>
                <c:pt idx="0">
                  <c:v>7.15</c:v>
                </c:pt>
                <c:pt idx="1">
                  <c:v>8.74</c:v>
                </c:pt>
                <c:pt idx="2">
                  <c:v>12.43</c:v>
                </c:pt>
                <c:pt idx="3">
                  <c:v>12.51</c:v>
                </c:pt>
                <c:pt idx="4">
                  <c:v>14.08</c:v>
                </c:pt>
                <c:pt idx="5">
                  <c:v>10.89</c:v>
                </c:pt>
                <c:pt idx="6">
                  <c:v>6.78</c:v>
                </c:pt>
                <c:pt idx="7">
                  <c:v>9.99</c:v>
                </c:pt>
                <c:pt idx="8">
                  <c:v>10.9</c:v>
                </c:pt>
                <c:pt idx="9">
                  <c:v>11.31</c:v>
                </c:pt>
                <c:pt idx="10">
                  <c:v>13.41</c:v>
                </c:pt>
                <c:pt idx="11">
                  <c:v>11.81</c:v>
                </c:pt>
                <c:pt idx="12">
                  <c:v>9.71</c:v>
                </c:pt>
              </c:numCache>
            </c:numRef>
          </c:val>
        </c:ser>
        <c:dLbls>
          <c:numFmt formatCode="0.0" sourceLinked="0"/>
          <c:txPr>
            <a:bodyPr/>
            <a:lstStyle/>
            <a:p>
              <a:pPr>
                <a:defRPr b="0" i="0" strike="noStrike" sz="900" u="none">
                  <a:solidFill>
                    <a:srgbClr val="45566B"/>
                  </a:solidFill>
                  <a:latin typeface="Meiry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45566B"/>
                </a:solidFill>
                <a:latin typeface="Meiryo"/>
              </a:defRPr>
            </a:pPr>
            <a:endParaRPr lang="en-US"/>
          </a:p>
        </c:txPr>
        <c:crossAx val="2094734552"/>
        <c:crosses val="autoZero"/>
        <c:auto val="1"/>
        <c:lblAlgn val="ctr"/>
        <c:noMultiLvlLbl val="1"/>
      </c:catAx>
      <c:valAx>
        <c:axId val="2094734552"/>
        <c:scaling>
          <c:orientation val="minMax"/>
          <c:max val="16"/>
        </c:scaling>
        <c:delete val="0"/>
        <c:axPos val="l"/>
        <c:majorGridlines>
          <c:spPr>
            <a:ln w="12700" cap="flat">
              <a:solidFill>
                <a:srgbClr val="EDF0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4556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01 の扉。YAMANIGOLF 楽天市場店の2026年8月度実績を15枚で報告する。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売上は前年比+35.7%と大幅増収。客単価+14.0%が牽引し、CVRは-0.04ptで微減。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全指標のうち売上・アクセス・客単価が前年超え。CVRのみ微減。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13ヶ月推移。2026年8月は前年同月比+35.7%だが、前月比では-17.8%。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ROAS 372.3%を維持。広告経由売上が月次売上の60.5%を占める。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アクセス+24.8%と大幅拡大。楽天市場トップ+86.5%が最大の伸び。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GATESが+157%で首位。Sun Mountainが新規で4位に。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PEARLY GATES +157%、Sun Mountain新規が牽引。TOMMY HILFIGER -35%が最大の減少。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キャディバッグ+104.9%が牽引。シャツ・ポロシャツ-29.4%、メンズシューズ-56.4%が後退。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TOP10中9商品が新規。キャディバッグが7商品を占める。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サンマウンテン関連が首位躍進。ブランド×キャディバッグKWが軒並み急伸。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楽天市場トップ+86.5%が最大の伸び。Criteoリタゲが倍増、TikTokは消滅継続。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新作キャディバッグが伸長を独占。前年主力バッグの販売終了が減少要因。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増収基調は継続。TOMMY HILFIGER / new balance の立て直しとSNS再構築が次の課題。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主力ブランドの詳細分析。ウェア・バッグの2本柱が同時に半減。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038"/>
        </a:solidFill>
      </p:bgPr>
    </p:bg>
    <p:spTree>
      <p:nvGrpSpPr>
        <p:cNvPr id="1" name=""/>
        <p:cNvGrpSpPr/>
        <p:nvPr/>
      </p:nvGrpSpPr>
      <p:grpSpPr>
        <a:xfrm>
          <a:off x="0" y="0"/>
          <a:ext cx="0" cy="0"/>
          <a:chOff x="0" y="0"/>
          <a:chExt cx="0" cy="0"/>
        </a:xfrm>
      </p:grpSpPr>
      <p:sp>
        <p:nvSpPr>
          <p:cNvPr id="2" name="Text 0"/>
          <p:cNvSpPr txBox="1"/>
          <p:nvPr/>
        </p:nvSpPr>
        <p:spPr>
          <a:xfrm>
            <a:off x="822960" y="1600200"/>
            <a:ext cx="5486400" cy="365760"/>
          </a:xfrm>
          <a:prstGeom prst="rect">
            <a:avLst/>
          </a:prstGeom>
          <a:noFill/>
          <a:ln/>
        </p:spPr>
        <p:txBody>
          <a:bodyPr wrap="square" lIns="0" tIns="0" rIns="0" bIns="0" rtlCol="0" anchor="ctr"/>
          <a:lstStyle/>
          <a:p>
            <a:pPr indent="0" marL="0">
              <a:buNone/>
            </a:pPr>
            <a:r>
              <a:rPr lang="en-US" sz="1400" b="1" spc="400" kern="0" dirty="0">
                <a:solidFill>
                  <a:srgbClr val="E8703A"/>
                </a:solidFill>
                <a:latin typeface="Calibri" pitchFamily="34" charset="0"/>
                <a:ea typeface="Calibri" pitchFamily="34" charset="-122"/>
                <a:cs typeface="Calibri" pitchFamily="34" charset="-120"/>
              </a:rPr>
              <a:t>SECTION 01</a:t>
            </a:r>
            <a:endParaRPr lang="en-US" sz="1400" dirty="0"/>
          </a:p>
        </p:txBody>
      </p:sp>
      <p:sp>
        <p:nvSpPr>
          <p:cNvPr id="3" name="Text 1"/>
          <p:cNvSpPr txBox="1"/>
          <p:nvPr/>
        </p:nvSpPr>
        <p:spPr>
          <a:xfrm>
            <a:off x="822960" y="2011680"/>
            <a:ext cx="8229600" cy="86868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YAMANIGOLF</a:t>
            </a:r>
            <a:endParaRPr lang="en-US" sz="5200" dirty="0"/>
          </a:p>
        </p:txBody>
      </p:sp>
      <p:sp>
        <p:nvSpPr>
          <p:cNvPr id="4" name="Text 2"/>
          <p:cNvSpPr txBox="1"/>
          <p:nvPr/>
        </p:nvSpPr>
        <p:spPr>
          <a:xfrm>
            <a:off x="841248" y="2907792"/>
            <a:ext cx="8229600" cy="457200"/>
          </a:xfrm>
          <a:prstGeom prst="rect">
            <a:avLst/>
          </a:prstGeom>
          <a:noFill/>
          <a:ln/>
        </p:spPr>
        <p:txBody>
          <a:bodyPr wrap="square" lIns="0" tIns="0" rIns="0" bIns="0" rtlCol="0" anchor="ctr"/>
          <a:lstStyle/>
          <a:p>
            <a:pPr indent="0" marL="0">
              <a:buNone/>
            </a:pPr>
            <a:r>
              <a:rPr lang="en-US" sz="2000" dirty="0">
                <a:solidFill>
                  <a:srgbClr val="BFD0E3"/>
                </a:solidFill>
                <a:latin typeface="Meiryo" pitchFamily="34" charset="0"/>
                <a:ea typeface="Meiryo" pitchFamily="34" charset="-122"/>
                <a:cs typeface="Meiryo" pitchFamily="34" charset="-120"/>
              </a:rPr>
              <a:t>楽天市場店 ／ 2026年8月度</a:t>
            </a:r>
            <a:endParaRPr lang="en-US" sz="2000" dirty="0"/>
          </a:p>
        </p:txBody>
      </p:sp>
      <p:sp>
        <p:nvSpPr>
          <p:cNvPr id="5" name="Text 3"/>
          <p:cNvSpPr txBox="1"/>
          <p:nvPr/>
        </p:nvSpPr>
        <p:spPr>
          <a:xfrm>
            <a:off x="841248" y="3794760"/>
            <a:ext cx="10515600" cy="1371600"/>
          </a:xfrm>
          <a:prstGeom prst="rect">
            <a:avLst/>
          </a:prstGeom>
          <a:noFill/>
          <a:ln/>
        </p:spPr>
        <p:txBody>
          <a:bodyPr wrap="square" lIns="0" tIns="0" rIns="0" bIns="0" rtlCol="0" anchor="ctr"/>
          <a:lstStyle/>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店舗KPIサマリー  /  前年同月比較  /  月次売上推移  /  RPP広告パフォーマンス</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アクセス・転換率分析  /  ブランド別売上分析  /  ブランド別売上前年比</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カテゴリ別売上前年比（全ブランド / Tommy Hilfiger Golf）  /  商品別売上ランキング TOP10</a:t>
            </a:r>
            <a:endParaRPr lang="en-US" sz="1100" dirty="0"/>
          </a:p>
          <a:p>
            <a:pPr indent="0" marL="0">
              <a:lnSpc>
                <a:spcPct val="140000"/>
              </a:lnSpc>
              <a:buNone/>
            </a:pPr>
            <a:r>
              <a:rPr lang="en-US" sz="1100" dirty="0">
                <a:solidFill>
                  <a:srgbClr val="8EA6C2"/>
                </a:solidFill>
                <a:latin typeface="Meiryo" pitchFamily="34" charset="0"/>
                <a:ea typeface="Meiryo" pitchFamily="34" charset="-122"/>
                <a:cs typeface="Meiryo" pitchFamily="34" charset="-120"/>
              </a:rPr>
              <a:t>検索キーワード分析  /  流入参照元分析  /  前年対比 伸び・落ち商品  /  まとめと推奨アクション</a:t>
            </a:r>
            <a:endParaRPr lang="en-US" sz="1100" dirty="0"/>
          </a:p>
        </p:txBody>
      </p:sp>
      <p:sp>
        <p:nvSpPr>
          <p:cNvPr id="6" name="Text 4"/>
          <p:cNvSpPr txBox="1"/>
          <p:nvPr/>
        </p:nvSpPr>
        <p:spPr>
          <a:xfrm>
            <a:off x="822960" y="6263640"/>
            <a:ext cx="10515600" cy="274320"/>
          </a:xfrm>
          <a:prstGeom prst="rect">
            <a:avLst/>
          </a:prstGeom>
          <a:noFill/>
          <a:ln/>
        </p:spPr>
        <p:txBody>
          <a:bodyPr wrap="square" lIns="0" tIns="0" rIns="0" bIns="0" rtlCol="0" anchor="ctr"/>
          <a:lstStyle/>
          <a:p>
            <a:pPr indent="0" marL="0">
              <a:buNone/>
            </a:pPr>
            <a:r>
              <a:rPr lang="en-US" sz="850" dirty="0">
                <a:solidFill>
                  <a:srgbClr val="5E7A8F"/>
                </a:solidFill>
                <a:latin typeface="Meiryo" pitchFamily="34" charset="0"/>
                <a:ea typeface="Meiryo" pitchFamily="34" charset="-122"/>
                <a:cs typeface="Meiryo" pitchFamily="34" charset="-120"/>
              </a:rPr>
              <a:t>Confidential  |  YAMANIGOLF 楽天市場店</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2026年8月  店舗KPIサマリー</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売上</a:t>
            </a:r>
            <a:endParaRPr lang="en-US" sz="1050" dirty="0"/>
          </a:p>
        </p:txBody>
      </p:sp>
      <p:sp>
        <p:nvSpPr>
          <p:cNvPr id="8" name="Text 5"/>
          <p:cNvSpPr txBox="1"/>
          <p:nvPr/>
        </p:nvSpPr>
        <p:spPr>
          <a:xfrm>
            <a:off x="685800"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¥9,706,322</a:t>
            </a:r>
            <a:endParaRPr lang="en-US" sz="2500" dirty="0"/>
          </a:p>
        </p:txBody>
      </p:sp>
      <p:sp>
        <p:nvSpPr>
          <p:cNvPr id="9" name="Text 6"/>
          <p:cNvSpPr txBox="1"/>
          <p:nvPr/>
        </p:nvSpPr>
        <p:spPr>
          <a:xfrm>
            <a:off x="685800"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¥7,150,460  /  +35.7%</a:t>
            </a:r>
            <a:endParaRPr lang="en-US" sz="950" dirty="0"/>
          </a:p>
        </p:txBody>
      </p:sp>
      <p:sp>
        <p:nvSpPr>
          <p:cNvPr id="10" name="Shape 7"/>
          <p:cNvSpPr/>
          <p:nvPr/>
        </p:nvSpPr>
        <p:spPr>
          <a:xfrm>
            <a:off x="3392424"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3575304"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a:t>
            </a:r>
            <a:endParaRPr lang="en-US" sz="1050" dirty="0"/>
          </a:p>
        </p:txBody>
      </p:sp>
      <p:sp>
        <p:nvSpPr>
          <p:cNvPr id="12" name="Text 9"/>
          <p:cNvSpPr txBox="1"/>
          <p:nvPr/>
        </p:nvSpPr>
        <p:spPr>
          <a:xfrm>
            <a:off x="3575304"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13" name="Text 10"/>
          <p:cNvSpPr txBox="1"/>
          <p:nvPr/>
        </p:nvSpPr>
        <p:spPr>
          <a:xfrm>
            <a:off x="3575304"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68,060  /  +24.8%</a:t>
            </a:r>
            <a:endParaRPr lang="en-US" sz="950" dirty="0"/>
          </a:p>
        </p:txBody>
      </p:sp>
      <p:sp>
        <p:nvSpPr>
          <p:cNvPr id="14" name="Shape 11"/>
          <p:cNvSpPr/>
          <p:nvPr/>
        </p:nvSpPr>
        <p:spPr>
          <a:xfrm>
            <a:off x="6281928"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6464808"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6" name="Text 13"/>
          <p:cNvSpPr txBox="1"/>
          <p:nvPr/>
        </p:nvSpPr>
        <p:spPr>
          <a:xfrm>
            <a:off x="6464808"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7" name="Text 14"/>
          <p:cNvSpPr txBox="1"/>
          <p:nvPr/>
        </p:nvSpPr>
        <p:spPr>
          <a:xfrm>
            <a:off x="6464808" y="2093976"/>
            <a:ext cx="23317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8" name="Shape 15"/>
          <p:cNvSpPr/>
          <p:nvPr/>
        </p:nvSpPr>
        <p:spPr>
          <a:xfrm>
            <a:off x="9171432" y="1234440"/>
            <a:ext cx="2697480"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9354312" y="1362456"/>
            <a:ext cx="2331720"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20" name="Text 17"/>
          <p:cNvSpPr txBox="1"/>
          <p:nvPr/>
        </p:nvSpPr>
        <p:spPr>
          <a:xfrm>
            <a:off x="9354312" y="1600200"/>
            <a:ext cx="2331720"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21" name="Text 18"/>
          <p:cNvSpPr txBox="1"/>
          <p:nvPr/>
        </p:nvSpPr>
        <p:spPr>
          <a:xfrm>
            <a:off x="9354312" y="2093976"/>
            <a:ext cx="23317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22" name="Shape 19"/>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23" name="Text 20"/>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2026年8月のハイライト</a:t>
            </a:r>
            <a:endParaRPr lang="en-US" sz="1100" dirty="0"/>
          </a:p>
        </p:txBody>
      </p:sp>
      <p:sp>
        <p:nvSpPr>
          <p:cNvPr id="24" name="Text 21"/>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売上は前年比 +35.7%（¥7,150K → ¥9,706K）と大幅増収。アクセス +24.8% / 客単価 +14.0% がともに寄与。</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¥11,583（前年 +14.0%）が大幅改善。7月 ¥9,402 → 8月 ¥11,583（+23.2%）と高単価キャディバッグへのシフトが奏功。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0.99%（前年 1.03% / -0.04pt）。7月 1.35% からは -0.36pt 低下、高単価・低回転商材への構成シフトが主因。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¥1,380K → ¥2,828K（+104.9%）が最大の牽引役。秋冬モデル新作の先行投入が効いた。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PEARLY GATES +157% / Sun Mountain 新規 ¥859K / MASTER BUNNY +101% / ProSENDR +522% / New Era +567%。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TOMMY HILFIGER Golf -35%（¥2,119K → ¥1,371K）/ new balance -46% が後退、主力2ブランドの立て直しが課題。</a:t>
            </a:r>
            <a:endParaRPr lang="en-US" sz="950" dirty="0"/>
          </a:p>
        </p:txBody>
      </p:sp>
      <p:sp>
        <p:nvSpPr>
          <p:cNvPr id="25" name="Text 22"/>
          <p:cNvSpPr txBox="1"/>
          <p:nvPr/>
        </p:nvSpPr>
        <p:spPr>
          <a:xfrm>
            <a:off x="502920" y="48463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6" name="Shape 23"/>
          <p:cNvSpPr/>
          <p:nvPr/>
        </p:nvSpPr>
        <p:spPr>
          <a:xfrm>
            <a:off x="502920" y="5175504"/>
            <a:ext cx="2697480"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667512"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売上</a:t>
            </a:r>
            <a:endParaRPr lang="en-US" sz="950" dirty="0"/>
          </a:p>
        </p:txBody>
      </p:sp>
      <p:sp>
        <p:nvSpPr>
          <p:cNvPr id="28" name="Text 25"/>
          <p:cNvSpPr txBox="1"/>
          <p:nvPr/>
        </p:nvSpPr>
        <p:spPr>
          <a:xfrm>
            <a:off x="1783080"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-17.8%</a:t>
            </a:r>
            <a:endParaRPr lang="en-US" sz="1100" dirty="0"/>
          </a:p>
        </p:txBody>
      </p:sp>
      <p:sp>
        <p:nvSpPr>
          <p:cNvPr id="29" name="Text 26"/>
          <p:cNvSpPr txBox="1"/>
          <p:nvPr/>
        </p:nvSpPr>
        <p:spPr>
          <a:xfrm>
            <a:off x="667512"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¥11.81M   →   ¥9.71M</a:t>
            </a:r>
            <a:endParaRPr lang="en-US" sz="1350" dirty="0"/>
          </a:p>
        </p:txBody>
      </p:sp>
      <p:sp>
        <p:nvSpPr>
          <p:cNvPr id="30" name="Shape 27"/>
          <p:cNvSpPr/>
          <p:nvPr/>
        </p:nvSpPr>
        <p:spPr>
          <a:xfrm>
            <a:off x="3392424" y="5175504"/>
            <a:ext cx="2697480"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3557016"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a:t>
            </a:r>
            <a:endParaRPr lang="en-US" sz="950" dirty="0"/>
          </a:p>
        </p:txBody>
      </p:sp>
      <p:sp>
        <p:nvSpPr>
          <p:cNvPr id="32" name="Text 29"/>
          <p:cNvSpPr txBox="1"/>
          <p:nvPr/>
        </p:nvSpPr>
        <p:spPr>
          <a:xfrm>
            <a:off x="4672584"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33" name="Text 30"/>
          <p:cNvSpPr txBox="1"/>
          <p:nvPr/>
        </p:nvSpPr>
        <p:spPr>
          <a:xfrm>
            <a:off x="3557016"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34" name="Shape 31"/>
          <p:cNvSpPr/>
          <p:nvPr/>
        </p:nvSpPr>
        <p:spPr>
          <a:xfrm>
            <a:off x="6281928" y="5175504"/>
            <a:ext cx="2697480" cy="786384"/>
          </a:xfrm>
          <a:prstGeom prst="roundRect">
            <a:avLst>
              <a:gd name="adj" fmla="val 5814"/>
            </a:avLst>
          </a:prstGeom>
          <a:solidFill>
            <a:srgbClr val="FFFFFF"/>
          </a:solidFill>
          <a:ln w="12700">
            <a:solidFill>
              <a:srgbClr val="DCE1E8"/>
            </a:solidFill>
            <a:prstDash val="solid"/>
          </a:ln>
        </p:spPr>
      </p:sp>
      <p:sp>
        <p:nvSpPr>
          <p:cNvPr id="35" name="Text 32"/>
          <p:cNvSpPr txBox="1"/>
          <p:nvPr/>
        </p:nvSpPr>
        <p:spPr>
          <a:xfrm>
            <a:off x="6446520"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36" name="Text 33"/>
          <p:cNvSpPr txBox="1"/>
          <p:nvPr/>
        </p:nvSpPr>
        <p:spPr>
          <a:xfrm>
            <a:off x="7562088" y="52578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37" name="Text 34"/>
          <p:cNvSpPr txBox="1"/>
          <p:nvPr/>
        </p:nvSpPr>
        <p:spPr>
          <a:xfrm>
            <a:off x="6446520"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8" name="Shape 35"/>
          <p:cNvSpPr/>
          <p:nvPr/>
        </p:nvSpPr>
        <p:spPr>
          <a:xfrm>
            <a:off x="9171432" y="5175504"/>
            <a:ext cx="2697480" cy="786384"/>
          </a:xfrm>
          <a:prstGeom prst="roundRect">
            <a:avLst>
              <a:gd name="adj" fmla="val 5814"/>
            </a:avLst>
          </a:prstGeom>
          <a:solidFill>
            <a:srgbClr val="FFFFFF"/>
          </a:solidFill>
          <a:ln w="12700">
            <a:solidFill>
              <a:srgbClr val="DCE1E8"/>
            </a:solidFill>
            <a:prstDash val="solid"/>
          </a:ln>
        </p:spPr>
      </p:sp>
      <p:sp>
        <p:nvSpPr>
          <p:cNvPr id="39" name="Text 36"/>
          <p:cNvSpPr txBox="1"/>
          <p:nvPr/>
        </p:nvSpPr>
        <p:spPr>
          <a:xfrm>
            <a:off x="9336024" y="5257800"/>
            <a:ext cx="2368296"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40" name="Text 37"/>
          <p:cNvSpPr txBox="1"/>
          <p:nvPr/>
        </p:nvSpPr>
        <p:spPr>
          <a:xfrm>
            <a:off x="10451592" y="52578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41" name="Text 38"/>
          <p:cNvSpPr txBox="1"/>
          <p:nvPr/>
        </p:nvSpPr>
        <p:spPr>
          <a:xfrm>
            <a:off x="9336024" y="5504688"/>
            <a:ext cx="2368296"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前年同月比較（2026年8月 vs 2025年8月）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6766560" cy="914400"/>
        </p:xfrm>
        <a:graphic>
          <a:graphicData uri="http://schemas.openxmlformats.org/drawingml/2006/table">
            <a:tbl>
              <a:tblPr/>
              <a:tblGrid>
                <a:gridCol w="2103120"/>
                <a:gridCol w="1600200"/>
                <a:gridCol w="1600200"/>
                <a:gridCol w="1463040"/>
              </a:tblGrid>
              <a:tr h="365760">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指標</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2025年8月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売上金額</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¥9,706,322</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¥7,150,460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+35.7%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アクセス人数</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84,921</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68,060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+24.8%</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転換率</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0.99%</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B3261E"/>
                          </a:solidFill>
                          <a:latin typeface="Meiryo" pitchFamily="34" charset="0"/>
                          <a:ea typeface="Meiryo" pitchFamily="34" charset="-122"/>
                          <a:cs typeface="Meiryo" pitchFamily="34" charset="-120"/>
                        </a:rPr>
                        <a:t>-0.04pt</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客単価</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¥11,583</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¥10,157</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+14.0%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65760">
                <a:tc>
                  <a:txBody>
                    <a:bodyPr/>
                    <a:lstStyle/>
                    <a:p>
                      <a:pPr algn="l" indent="0" marL="0">
                        <a:buNone/>
                      </a:pPr>
                      <a:r>
                        <a:rPr lang="en-US" sz="1100" dirty="0">
                          <a:solidFill>
                            <a:srgbClr val="1F2733"/>
                          </a:solidFill>
                          <a:latin typeface="Meiryo" pitchFamily="34" charset="0"/>
                          <a:ea typeface="Meiryo" pitchFamily="34" charset="-122"/>
                          <a:cs typeface="Meiryo" pitchFamily="34" charset="-120"/>
                        </a:rPr>
                        <a:t>売上件数（推計）</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838件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dirty="0">
                          <a:solidFill>
                            <a:srgbClr val="1F2733"/>
                          </a:solidFill>
                          <a:latin typeface="Meiryo" pitchFamily="34" charset="0"/>
                          <a:ea typeface="Meiryo" pitchFamily="34" charset="-122"/>
                          <a:cs typeface="Meiryo" pitchFamily="34" charset="-120"/>
                        </a:rPr>
                        <a:t>704件</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100" b="1" dirty="0">
                          <a:solidFill>
                            <a:srgbClr val="1F7A4D"/>
                          </a:solidFill>
                          <a:latin typeface="Meiryo" pitchFamily="34" charset="0"/>
                          <a:ea typeface="Meiryo" pitchFamily="34" charset="-122"/>
                          <a:cs typeface="Meiryo" pitchFamily="34" charset="-120"/>
                        </a:rPr>
                        <a:t>+19.0%</a:t>
                      </a:r>
                      <a:endParaRPr lang="en-US" sz="11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7498080" y="1280160"/>
            <a:ext cx="4187952" cy="4526280"/>
          </a:xfrm>
          <a:prstGeom prst="roundRect">
            <a:avLst>
              <a:gd name="adj" fmla="val 1092"/>
            </a:avLst>
          </a:prstGeom>
          <a:solidFill>
            <a:srgbClr val="FAFBFD"/>
          </a:solidFill>
          <a:ln w="12700">
            <a:solidFill>
              <a:srgbClr val="DCE1E8"/>
            </a:solidFill>
            <a:prstDash val="solid"/>
          </a:ln>
        </p:spPr>
      </p:sp>
      <p:sp>
        <p:nvSpPr>
          <p:cNvPr id="8" name="Text 4"/>
          <p:cNvSpPr txBox="1"/>
          <p:nvPr/>
        </p:nvSpPr>
        <p:spPr>
          <a:xfrm>
            <a:off x="7699248" y="1371600"/>
            <a:ext cx="378561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9" name="Text 5"/>
          <p:cNvSpPr txBox="1"/>
          <p:nvPr/>
        </p:nvSpPr>
        <p:spPr>
          <a:xfrm>
            <a:off x="7699248" y="1645920"/>
            <a:ext cx="3785616"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売上・アクセス・客単価の3指標が同時に</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前年を上回り、大幅増収。</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特に客単価 +14.0% の改善が大きい。</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7月に落ち込んだ単価水準（¥9,402）から</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V字回復した。夏物冷感グッズ中心の低単価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構成から、秋冬キャディバッグ中心の高単価</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構成へ切り替わったことによる。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は前年比 -0.04pt の微減にとどまるが、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7月 1.35% からは -0.36pt と大きく低下。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高額商材は検討期間が長く、単月CVRは</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下がりやすい。</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アクセスの伸び（+24.8%）が売上を支えた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構図で、集客基盤そのものは拡大している。</a:t>
            </a:r>
            <a:endParaRPr lang="en-US" sz="950" dirty="0"/>
          </a:p>
        </p:txBody>
      </p:sp>
      <p:sp>
        <p:nvSpPr>
          <p:cNvPr id="10" name="Shape 6"/>
          <p:cNvSpPr/>
          <p:nvPr/>
        </p:nvSpPr>
        <p:spPr>
          <a:xfrm>
            <a:off x="502920" y="3611880"/>
            <a:ext cx="6766560" cy="2194560"/>
          </a:xfrm>
          <a:prstGeom prst="roundRect">
            <a:avLst>
              <a:gd name="adj" fmla="val 2083"/>
            </a:avLst>
          </a:prstGeom>
          <a:solidFill>
            <a:srgbClr val="FAFBFD"/>
          </a:solidFill>
          <a:ln w="12700">
            <a:solidFill>
              <a:srgbClr val="DCE1E8"/>
            </a:solidFill>
            <a:prstDash val="solid"/>
          </a:ln>
        </p:spPr>
      </p:sp>
      <p:sp>
        <p:nvSpPr>
          <p:cNvPr id="11" name="Text 7"/>
          <p:cNvSpPr txBox="1"/>
          <p:nvPr/>
        </p:nvSpPr>
        <p:spPr>
          <a:xfrm>
            <a:off x="704088" y="3703320"/>
            <a:ext cx="636422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売上構造の変化（商品分析ベース / 売上増 +¥2,184K の内訳）</a:t>
            </a:r>
            <a:endParaRPr lang="en-US" sz="1100" dirty="0"/>
          </a:p>
        </p:txBody>
      </p:sp>
      <p:sp>
        <p:nvSpPr>
          <p:cNvPr id="12" name="Text 8"/>
          <p:cNvSpPr txBox="1"/>
          <p:nvPr/>
        </p:nvSpPr>
        <p:spPr>
          <a:xfrm>
            <a:off x="704088" y="3977640"/>
            <a:ext cx="6364224" cy="1737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増加要因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・キャディバッグ  +¥1,448K（最大要因・全体増加額の約66%）</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・カートバッグ・ラウンドバッグ  +¥191K  /  帽子・バイザー  +¥182K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・ボストンバッグ  +¥135K  /  ドライバー用  +¥118K  /  トラベルカバー  +¥99K</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減少要因</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・シャツ・ポロシャツ  -¥289K  /  メンズシューズ  -¥252K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・傘・パラソル  -¥154K  /  トートバッグ  -¥107K  /  パンツ  -¥57K</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月次売上推移（直近13ヶ月）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206240" cy="914400"/>
        </p:xfrm>
        <a:graphic>
          <a:graphicData uri="http://schemas.openxmlformats.org/drawingml/2006/table">
            <a:tbl>
              <a:tblPr/>
              <a:tblGrid>
                <a:gridCol w="914400"/>
                <a:gridCol w="1463040"/>
                <a:gridCol w="868680"/>
                <a:gridCol w="960120"/>
              </a:tblGrid>
              <a:tr h="329184">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月</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CVR</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客単価</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¥7,150,460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2025/09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¥8,744,236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¥9,858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¥12,433,179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¥11,796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¥12,506,076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¥11,257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2025/12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¥14,084,676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0.89%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¥12,839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¥10,892,216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¥11,878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¥6,776,631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¥9,992,732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¥10,903,716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0.98%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¥11,687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¥11,310,702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¥12,321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¥13,412,035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29184">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2026/07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¥11,809,455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¥9,402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E8703A"/>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¥9,706,322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0.99%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¥11,583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7" name="Chart 0" descr=""/>
          <p:cNvGraphicFramePr/>
          <p:nvPr/>
        </p:nvGraphicFramePr>
        <p:xfrm>
          <a:off x="4983480" y="1280160"/>
          <a:ext cx="6720840" cy="3611880"/>
        </p:xfrm>
        <a:graphic xmlns:a="http://schemas.openxmlformats.org/drawingml/2006/main">
          <a:graphicData uri="http://schemas.openxmlformats.org/drawingml/2006/chart">
            <c:chart xmlns:c="http://schemas.openxmlformats.org/drawingml/2006/chart" r:id="rId1"/>
          </a:graphicData>
        </a:graphic>
      </p:graphicFrame>
      <p:sp>
        <p:nvSpPr>
          <p:cNvPr id="8" name="Shape 3"/>
          <p:cNvSpPr/>
          <p:nvPr/>
        </p:nvSpPr>
        <p:spPr>
          <a:xfrm>
            <a:off x="4983480" y="5029200"/>
            <a:ext cx="6720840" cy="1188720"/>
          </a:xfrm>
          <a:prstGeom prst="roundRect">
            <a:avLst>
              <a:gd name="adj" fmla="val 3846"/>
            </a:avLst>
          </a:prstGeom>
          <a:solidFill>
            <a:srgbClr val="FAFBFD"/>
          </a:solidFill>
          <a:ln w="12700">
            <a:solidFill>
              <a:srgbClr val="DCE1E8"/>
            </a:solidFill>
            <a:prstDash val="solid"/>
          </a:ln>
        </p:spPr>
      </p:sp>
      <p:sp>
        <p:nvSpPr>
          <p:cNvPr id="9" name="Text 4"/>
          <p:cNvSpPr txBox="1"/>
          <p:nvPr/>
        </p:nvSpPr>
        <p:spPr>
          <a:xfrm>
            <a:off x="5184648" y="5120640"/>
            <a:ext cx="6318504"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推移の読み方</a:t>
            </a:r>
            <a:endParaRPr lang="en-US" sz="1100" dirty="0"/>
          </a:p>
        </p:txBody>
      </p:sp>
      <p:sp>
        <p:nvSpPr>
          <p:cNvPr id="10" name="Text 5"/>
          <p:cNvSpPr txBox="1"/>
          <p:nvPr/>
        </p:nvSpPr>
        <p:spPr>
          <a:xfrm>
            <a:off x="5184648" y="5394960"/>
            <a:ext cx="6318504" cy="731520"/>
          </a:xfrm>
          <a:prstGeom prst="rect">
            <a:avLst/>
          </a:prstGeom>
          <a:noFill/>
          <a:ln/>
        </p:spPr>
        <p:txBody>
          <a:bodyPr wrap="square" lIns="0" tIns="0" rIns="0" bIns="0" rtlCol="0" anchor="t"/>
          <a:lstStyle/>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2026/08（オレンジ）は ¥9.71M。前年同月 ¥7.15M から +35.7% と伸長。</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前月 2026/07 ¥11.81M からは -17.8%。夏枯れの季節要因に加え、7月の</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冷感グッズ特需の反動が出た。</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CVR は 1.35%（13ヶ月中最高）→ 0.99% へ低下する一方、客単価は</a:t>
            </a:r>
            <a:endParaRPr lang="en-US" sz="850" dirty="0"/>
          </a:p>
          <a:p>
            <a:pPr indent="0" marL="0">
              <a:lnSpc>
                <a:spcPct val="122000"/>
              </a:lnSpc>
              <a:buNone/>
            </a:pPr>
            <a:r>
              <a:rPr lang="en-US" sz="850" dirty="0">
                <a:solidFill>
                  <a:srgbClr val="1F2733"/>
                </a:solidFill>
                <a:latin typeface="Meiryo" pitchFamily="34" charset="0"/>
                <a:ea typeface="Meiryo" pitchFamily="34" charset="-122"/>
                <a:cs typeface="Meiryo" pitchFamily="34" charset="-120"/>
              </a:rPr>
              <a:t>  ¥9,402 → ¥11,583 へ回復。単価と転換率はトレードオフの関係にある。</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RPP広告パフォーマンス</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有効予算</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¥1,580,000</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消化率: 99.87%</a:t>
            </a:r>
            <a:endParaRPr lang="en-US" sz="950" dirty="0"/>
          </a:p>
        </p:txBody>
      </p:sp>
      <p:sp>
        <p:nvSpPr>
          <p:cNvPr id="10" name="Shape 7"/>
          <p:cNvSpPr/>
          <p:nvPr/>
        </p:nvSpPr>
        <p:spPr>
          <a:xfrm>
            <a:off x="429768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クリック数</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57,006</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CTR 0.17%</a:t>
            </a:r>
            <a:endParaRPr lang="en-US" sz="950" dirty="0"/>
          </a:p>
        </p:txBody>
      </p:sp>
      <p:sp>
        <p:nvSpPr>
          <p:cNvPr id="14" name="Shape 11"/>
          <p:cNvSpPr/>
          <p:nvPr/>
        </p:nvSpPr>
        <p:spPr>
          <a:xfrm>
            <a:off x="8092440" y="1234440"/>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広告費（実績額）</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¥1,577,960</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CPC ¥28 / 割引後 ¥1,263,960</a:t>
            </a:r>
            <a:endParaRPr lang="en-US" sz="950" dirty="0"/>
          </a:p>
        </p:txBody>
      </p:sp>
      <p:sp>
        <p:nvSpPr>
          <p:cNvPr id="18" name="Shape 15"/>
          <p:cNvSpPr/>
          <p:nvPr/>
        </p:nvSpPr>
        <p:spPr>
          <a:xfrm>
            <a:off x="50292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9" name="Text 16"/>
          <p:cNvSpPr txBox="1"/>
          <p:nvPr/>
        </p:nvSpPr>
        <p:spPr>
          <a:xfrm>
            <a:off x="68580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ROAS（720時間）</a:t>
            </a:r>
            <a:endParaRPr lang="en-US" sz="1050" dirty="0"/>
          </a:p>
        </p:txBody>
      </p:sp>
      <p:sp>
        <p:nvSpPr>
          <p:cNvPr id="20" name="Text 17"/>
          <p:cNvSpPr txBox="1"/>
          <p:nvPr/>
        </p:nvSpPr>
        <p:spPr>
          <a:xfrm>
            <a:off x="68580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372.3%</a:t>
            </a:r>
            <a:endParaRPr lang="en-US" sz="2500" dirty="0"/>
          </a:p>
        </p:txBody>
      </p:sp>
      <p:sp>
        <p:nvSpPr>
          <p:cNvPr id="21" name="Text 18"/>
          <p:cNvSpPr txBox="1"/>
          <p:nvPr/>
        </p:nvSpPr>
        <p:spPr>
          <a:xfrm>
            <a:off x="68580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前月 373.0% と同水準</a:t>
            </a:r>
            <a:endParaRPr lang="en-US" sz="950" dirty="0"/>
          </a:p>
        </p:txBody>
      </p:sp>
      <p:sp>
        <p:nvSpPr>
          <p:cNvPr id="22" name="Shape 19"/>
          <p:cNvSpPr/>
          <p:nvPr/>
        </p:nvSpPr>
        <p:spPr>
          <a:xfrm>
            <a:off x="429768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3" name="Text 20"/>
          <p:cNvSpPr txBox="1"/>
          <p:nvPr/>
        </p:nvSpPr>
        <p:spPr>
          <a:xfrm>
            <a:off x="448056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広告経由売上</a:t>
            </a:r>
            <a:endParaRPr lang="en-US" sz="1050" dirty="0"/>
          </a:p>
        </p:txBody>
      </p:sp>
      <p:sp>
        <p:nvSpPr>
          <p:cNvPr id="24" name="Text 21"/>
          <p:cNvSpPr txBox="1"/>
          <p:nvPr/>
        </p:nvSpPr>
        <p:spPr>
          <a:xfrm>
            <a:off x="448056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¥5,875,210</a:t>
            </a:r>
            <a:endParaRPr lang="en-US" sz="2500" dirty="0"/>
          </a:p>
        </p:txBody>
      </p:sp>
      <p:sp>
        <p:nvSpPr>
          <p:cNvPr id="25" name="Text 22"/>
          <p:cNvSpPr txBox="1"/>
          <p:nvPr/>
        </p:nvSpPr>
        <p:spPr>
          <a:xfrm>
            <a:off x="4480560" y="3401568"/>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月次売上の 60.5%</a:t>
            </a:r>
            <a:endParaRPr lang="en-US" sz="950" dirty="0"/>
          </a:p>
        </p:txBody>
      </p:sp>
      <p:sp>
        <p:nvSpPr>
          <p:cNvPr id="26" name="Shape 23"/>
          <p:cNvSpPr/>
          <p:nvPr/>
        </p:nvSpPr>
        <p:spPr>
          <a:xfrm>
            <a:off x="8092440" y="2542032"/>
            <a:ext cx="3584448" cy="1170432"/>
          </a:xfrm>
          <a:prstGeom prst="roundRect">
            <a:avLst>
              <a:gd name="adj" fmla="val 4688"/>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27" name="Text 24"/>
          <p:cNvSpPr txBox="1"/>
          <p:nvPr/>
        </p:nvSpPr>
        <p:spPr>
          <a:xfrm>
            <a:off x="8275320" y="2670048"/>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CPA（注文獲得単価）</a:t>
            </a:r>
            <a:endParaRPr lang="en-US" sz="1050" dirty="0"/>
          </a:p>
        </p:txBody>
      </p:sp>
      <p:sp>
        <p:nvSpPr>
          <p:cNvPr id="28" name="Text 25"/>
          <p:cNvSpPr txBox="1"/>
          <p:nvPr/>
        </p:nvSpPr>
        <p:spPr>
          <a:xfrm>
            <a:off x="8275320" y="2907792"/>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¥3,507</a:t>
            </a:r>
            <a:endParaRPr lang="en-US" sz="2500" dirty="0"/>
          </a:p>
        </p:txBody>
      </p:sp>
      <p:sp>
        <p:nvSpPr>
          <p:cNvPr id="29" name="Text 26"/>
          <p:cNvSpPr txBox="1"/>
          <p:nvPr/>
        </p:nvSpPr>
        <p:spPr>
          <a:xfrm>
            <a:off x="8275320" y="3401568"/>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売上件数 450件 / CVR 0.78%</a:t>
            </a:r>
            <a:endParaRPr lang="en-US" sz="950" dirty="0"/>
          </a:p>
        </p:txBody>
      </p:sp>
      <p:sp>
        <p:nvSpPr>
          <p:cNvPr id="30" name="Shape 27"/>
          <p:cNvSpPr/>
          <p:nvPr/>
        </p:nvSpPr>
        <p:spPr>
          <a:xfrm>
            <a:off x="502920" y="3877056"/>
            <a:ext cx="11173968" cy="1709928"/>
          </a:xfrm>
          <a:prstGeom prst="roundRect">
            <a:avLst>
              <a:gd name="adj" fmla="val 2674"/>
            </a:avLst>
          </a:prstGeom>
          <a:solidFill>
            <a:srgbClr val="FAFBFD"/>
          </a:solidFill>
          <a:ln w="12700">
            <a:solidFill>
              <a:srgbClr val="DCE1E8"/>
            </a:solidFill>
            <a:prstDash val="solid"/>
          </a:ln>
        </p:spPr>
      </p:sp>
      <p:sp>
        <p:nvSpPr>
          <p:cNvPr id="31" name="Text 28"/>
          <p:cNvSpPr txBox="1"/>
          <p:nvPr/>
        </p:nvSpPr>
        <p:spPr>
          <a:xfrm>
            <a:off x="704088" y="3968496"/>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32" name="Text 29"/>
          <p:cNvSpPr txBox="1"/>
          <p:nvPr/>
        </p:nvSpPr>
        <p:spPr>
          <a:xfrm>
            <a:off x="704088" y="4242816"/>
            <a:ext cx="10771632" cy="1252728"/>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ROAS(720h) 372.3% で前月（373.0%）とほぼ同水準を維持。予算は ¥2,040,000 → ¥1,580,000 に -23% 縮小したが、消化率 99.87% でフル活用。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広告経由売上 ¥5,875,210 は月次売上 ¥9,706,322 の 60.5% を占め、前月（51.1%）から +9.4pt 上昇。RPP 依存度が高まっている点は要注視。</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CPC ¥28（前月 ¥33）で改善、CTR 0.17%（前月 0.18%）は横ばい。予算縮小により入札競争の激しい枠を外せた効果。</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CPA ¥3,507（前月 ¥2,765）と +27% 悪化、広告CVR も 1.18% → 0.78% へ低下。高単価キャディバッグ中心の構成で検討期間が伸びたことが影響。</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ROAS は維持できているため、獲得単価の悪化は客単価上昇（¥3,507 の CPA に対し広告経由客単価 ¥13,056）で十分吸収できている。</a:t>
            </a:r>
            <a:endParaRPr lang="en-US" sz="950" dirty="0"/>
          </a:p>
        </p:txBody>
      </p:sp>
      <p:sp>
        <p:nvSpPr>
          <p:cNvPr id="33" name="Text 30"/>
          <p:cNvSpPr txBox="1"/>
          <p:nvPr/>
        </p:nvSpPr>
        <p:spPr>
          <a:xfrm>
            <a:off x="502920" y="6016752"/>
            <a:ext cx="11173968"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ROAS(720時間) は楽天RPPレポートの「実績額（合計）」基準。割引後実績額 ¥1,263,960 で計算した場合は 464.9%。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アクセス・転換率分析</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7" name="Text 4"/>
          <p:cNvSpPr txBox="1"/>
          <p:nvPr/>
        </p:nvSpPr>
        <p:spPr>
          <a:xfrm>
            <a:off x="68580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アクセス数</a:t>
            </a:r>
            <a:endParaRPr lang="en-US" sz="1050" dirty="0"/>
          </a:p>
        </p:txBody>
      </p:sp>
      <p:sp>
        <p:nvSpPr>
          <p:cNvPr id="8" name="Text 5"/>
          <p:cNvSpPr txBox="1"/>
          <p:nvPr/>
        </p:nvSpPr>
        <p:spPr>
          <a:xfrm>
            <a:off x="68580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84,921人</a:t>
            </a:r>
            <a:endParaRPr lang="en-US" sz="2500" dirty="0"/>
          </a:p>
        </p:txBody>
      </p:sp>
      <p:sp>
        <p:nvSpPr>
          <p:cNvPr id="9" name="Text 6"/>
          <p:cNvSpPr txBox="1"/>
          <p:nvPr/>
        </p:nvSpPr>
        <p:spPr>
          <a:xfrm>
            <a:off x="68580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+24.8%</a:t>
            </a:r>
            <a:endParaRPr lang="en-US" sz="950" dirty="0"/>
          </a:p>
        </p:txBody>
      </p:sp>
      <p:sp>
        <p:nvSpPr>
          <p:cNvPr id="10" name="Shape 7"/>
          <p:cNvSpPr/>
          <p:nvPr/>
        </p:nvSpPr>
        <p:spPr>
          <a:xfrm>
            <a:off x="429768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1" name="Text 8"/>
          <p:cNvSpPr txBox="1"/>
          <p:nvPr/>
        </p:nvSpPr>
        <p:spPr>
          <a:xfrm>
            <a:off x="448056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CVR（転換率）</a:t>
            </a:r>
            <a:endParaRPr lang="en-US" sz="1050" dirty="0"/>
          </a:p>
        </p:txBody>
      </p:sp>
      <p:sp>
        <p:nvSpPr>
          <p:cNvPr id="12" name="Text 9"/>
          <p:cNvSpPr txBox="1"/>
          <p:nvPr/>
        </p:nvSpPr>
        <p:spPr>
          <a:xfrm>
            <a:off x="448056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0.99%</a:t>
            </a:r>
            <a:endParaRPr lang="en-US" sz="2500" dirty="0"/>
          </a:p>
        </p:txBody>
      </p:sp>
      <p:sp>
        <p:nvSpPr>
          <p:cNvPr id="13" name="Text 10"/>
          <p:cNvSpPr txBox="1"/>
          <p:nvPr/>
        </p:nvSpPr>
        <p:spPr>
          <a:xfrm>
            <a:off x="4480560" y="2093976"/>
            <a:ext cx="3218688"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 1.03% / -0.04pt</a:t>
            </a:r>
            <a:endParaRPr lang="en-US" sz="950" dirty="0"/>
          </a:p>
        </p:txBody>
      </p:sp>
      <p:sp>
        <p:nvSpPr>
          <p:cNvPr id="14" name="Shape 11"/>
          <p:cNvSpPr/>
          <p:nvPr/>
        </p:nvSpPr>
        <p:spPr>
          <a:xfrm>
            <a:off x="8092440" y="1234440"/>
            <a:ext cx="3584448" cy="1207008"/>
          </a:xfrm>
          <a:prstGeom prst="roundRect">
            <a:avLst>
              <a:gd name="adj" fmla="val 4545"/>
            </a:avLst>
          </a:prstGeom>
          <a:solidFill>
            <a:srgbClr val="F3F6FA"/>
          </a:solidFill>
          <a:ln w="12700">
            <a:solidFill>
              <a:srgbClr val="DCE1E8"/>
            </a:solidFill>
            <a:prstDash val="solid"/>
          </a:ln>
          <a:effectLst>
            <a:outerShdw sx="100000" sy="100000" kx="0" ky="0" algn="bl" rotWithShape="0" blurRad="76200" dist="12700" dir="5400000">
              <a:srgbClr val="9AA4B2">
                <a:alpha val="18000"/>
              </a:srgbClr>
            </a:outerShdw>
          </a:effectLst>
        </p:spPr>
      </p:sp>
      <p:sp>
        <p:nvSpPr>
          <p:cNvPr id="15" name="Text 12"/>
          <p:cNvSpPr txBox="1"/>
          <p:nvPr/>
        </p:nvSpPr>
        <p:spPr>
          <a:xfrm>
            <a:off x="8275320" y="1362456"/>
            <a:ext cx="3218688" cy="237744"/>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客単価</a:t>
            </a:r>
            <a:endParaRPr lang="en-US" sz="1050" dirty="0"/>
          </a:p>
        </p:txBody>
      </p:sp>
      <p:sp>
        <p:nvSpPr>
          <p:cNvPr id="16" name="Text 13"/>
          <p:cNvSpPr txBox="1"/>
          <p:nvPr/>
        </p:nvSpPr>
        <p:spPr>
          <a:xfrm>
            <a:off x="8275320" y="1600200"/>
            <a:ext cx="3218688" cy="475488"/>
          </a:xfrm>
          <a:prstGeom prst="rect">
            <a:avLst/>
          </a:prstGeom>
          <a:noFill/>
          <a:ln/>
        </p:spPr>
        <p:txBody>
          <a:bodyPr wrap="square" lIns="0" tIns="0" rIns="0" bIns="0" rtlCol="0" anchor="ctr"/>
          <a:lstStyle/>
          <a:p>
            <a:pPr indent="0" marL="0">
              <a:buNone/>
            </a:pPr>
            <a:r>
              <a:rPr lang="en-US" sz="2500" b="1" dirty="0">
                <a:solidFill>
                  <a:srgbClr val="0E2038"/>
                </a:solidFill>
                <a:latin typeface="Meiryo" pitchFamily="34" charset="0"/>
                <a:ea typeface="Meiryo" pitchFamily="34" charset="-122"/>
                <a:cs typeface="Meiryo" pitchFamily="34" charset="-120"/>
              </a:rPr>
              <a:t>¥11,583</a:t>
            </a:r>
            <a:endParaRPr lang="en-US" sz="2500" dirty="0"/>
          </a:p>
        </p:txBody>
      </p:sp>
      <p:sp>
        <p:nvSpPr>
          <p:cNvPr id="17" name="Text 14"/>
          <p:cNvSpPr txBox="1"/>
          <p:nvPr/>
        </p:nvSpPr>
        <p:spPr>
          <a:xfrm>
            <a:off x="8275320" y="2093976"/>
            <a:ext cx="3218688"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 ¥10,157 / +14.0%</a:t>
            </a:r>
            <a:endParaRPr lang="en-US" sz="950" dirty="0"/>
          </a:p>
        </p:txBody>
      </p:sp>
      <p:sp>
        <p:nvSpPr>
          <p:cNvPr id="18" name="Shape 15"/>
          <p:cNvSpPr/>
          <p:nvPr/>
        </p:nvSpPr>
        <p:spPr>
          <a:xfrm>
            <a:off x="502920" y="2697480"/>
            <a:ext cx="11173968" cy="1975104"/>
          </a:xfrm>
          <a:prstGeom prst="roundRect">
            <a:avLst>
              <a:gd name="adj" fmla="val 2315"/>
            </a:avLst>
          </a:prstGeom>
          <a:solidFill>
            <a:srgbClr val="FAFBFD"/>
          </a:solidFill>
          <a:ln w="12700">
            <a:solidFill>
              <a:srgbClr val="DCE1E8"/>
            </a:solidFill>
            <a:prstDash val="solid"/>
          </a:ln>
        </p:spPr>
      </p:sp>
      <p:sp>
        <p:nvSpPr>
          <p:cNvPr id="19" name="Text 16"/>
          <p:cNvSpPr txBox="1"/>
          <p:nvPr/>
        </p:nvSpPr>
        <p:spPr>
          <a:xfrm>
            <a:off x="704088" y="278892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考察</a:t>
            </a:r>
            <a:endParaRPr lang="en-US" sz="1100" dirty="0"/>
          </a:p>
        </p:txBody>
      </p:sp>
      <p:sp>
        <p:nvSpPr>
          <p:cNvPr id="20" name="Text 17"/>
          <p:cNvSpPr txBox="1"/>
          <p:nvPr/>
        </p:nvSpPr>
        <p:spPr>
          <a:xfrm>
            <a:off x="704088" y="3063240"/>
            <a:ext cx="10771632" cy="151790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アクセス数は前年比 +24.8%（68,060 → 84,921 人）と大幅拡大。参照元ベースでも 61,370 → 78,968 人（+28.7%）で整合。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伸びの牽引は 楽天市場トップ +86.5%（5,032 → 9,385）、店舗商品ページ +43.0%（6,071 → 8,680）、楽天サーチ +14.7%（27,517 → 31,567）。</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Criteoリタゲ（ads.as.criteo.com + sin.creativecdn.com + cat.jp2）は 1,797 → 3,539 人（+96.9%）と倍増。外部リタゲ投資が効いている。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CVR 0.99% は前年比 -0.04pt の微減だが、前月 1.35% からは -0.36pt。高単価キャディバッグへの構成シフトで検討期間が長期化したため。</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客単価 ¥11,583（+14.0%）。7月の夏物冷感グッズ中心（¥9,402）から、秋冬キャディバッグ中心へ切り替わり単価が回復。</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流入は 1,357 → 0 で完全消滅が継続。Instagram は 328 → 420（+28.0%）とわずかに回復も、SNS 全体では依然低水準。</a:t>
            </a:r>
            <a:endParaRPr lang="en-US" sz="950" dirty="0"/>
          </a:p>
        </p:txBody>
      </p:sp>
      <p:sp>
        <p:nvSpPr>
          <p:cNvPr id="21" name="Text 18"/>
          <p:cNvSpPr txBox="1"/>
          <p:nvPr/>
        </p:nvSpPr>
        <p:spPr>
          <a:xfrm>
            <a:off x="502920" y="4617720"/>
            <a:ext cx="548640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前月比（2026年7月 → 2026年8月）</a:t>
            </a:r>
            <a:endParaRPr lang="en-US" sz="1100" dirty="0"/>
          </a:p>
        </p:txBody>
      </p:sp>
      <p:sp>
        <p:nvSpPr>
          <p:cNvPr id="22" name="Shape 19"/>
          <p:cNvSpPr/>
          <p:nvPr/>
        </p:nvSpPr>
        <p:spPr>
          <a:xfrm>
            <a:off x="502920" y="4946904"/>
            <a:ext cx="3584448" cy="786384"/>
          </a:xfrm>
          <a:prstGeom prst="roundRect">
            <a:avLst>
              <a:gd name="adj" fmla="val 5814"/>
            </a:avLst>
          </a:prstGeom>
          <a:solidFill>
            <a:srgbClr val="FFFFFF"/>
          </a:solidFill>
          <a:ln w="12700">
            <a:solidFill>
              <a:srgbClr val="DCE1E8"/>
            </a:solidFill>
            <a:prstDash val="solid"/>
          </a:ln>
        </p:spPr>
      </p:sp>
      <p:sp>
        <p:nvSpPr>
          <p:cNvPr id="23" name="Text 20"/>
          <p:cNvSpPr txBox="1"/>
          <p:nvPr/>
        </p:nvSpPr>
        <p:spPr>
          <a:xfrm>
            <a:off x="66751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アクセス数</a:t>
            </a:r>
            <a:endParaRPr lang="en-US" sz="950" dirty="0"/>
          </a:p>
        </p:txBody>
      </p:sp>
      <p:sp>
        <p:nvSpPr>
          <p:cNvPr id="24" name="Text 21"/>
          <p:cNvSpPr txBox="1"/>
          <p:nvPr/>
        </p:nvSpPr>
        <p:spPr>
          <a:xfrm>
            <a:off x="267004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-8.5%</a:t>
            </a:r>
            <a:endParaRPr lang="en-US" sz="1100" dirty="0"/>
          </a:p>
        </p:txBody>
      </p:sp>
      <p:sp>
        <p:nvSpPr>
          <p:cNvPr id="25" name="Text 22"/>
          <p:cNvSpPr txBox="1"/>
          <p:nvPr/>
        </p:nvSpPr>
        <p:spPr>
          <a:xfrm>
            <a:off x="66751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92,812   →   84,921</a:t>
            </a:r>
            <a:endParaRPr lang="en-US" sz="1350" dirty="0"/>
          </a:p>
        </p:txBody>
      </p:sp>
      <p:sp>
        <p:nvSpPr>
          <p:cNvPr id="26" name="Shape 23"/>
          <p:cNvSpPr/>
          <p:nvPr/>
        </p:nvSpPr>
        <p:spPr>
          <a:xfrm>
            <a:off x="4297680" y="4946904"/>
            <a:ext cx="3584448" cy="786384"/>
          </a:xfrm>
          <a:prstGeom prst="roundRect">
            <a:avLst>
              <a:gd name="adj" fmla="val 5814"/>
            </a:avLst>
          </a:prstGeom>
          <a:solidFill>
            <a:srgbClr val="FFFFFF"/>
          </a:solidFill>
          <a:ln w="12700">
            <a:solidFill>
              <a:srgbClr val="DCE1E8"/>
            </a:solidFill>
            <a:prstDash val="solid"/>
          </a:ln>
        </p:spPr>
      </p:sp>
      <p:sp>
        <p:nvSpPr>
          <p:cNvPr id="27" name="Text 24"/>
          <p:cNvSpPr txBox="1"/>
          <p:nvPr/>
        </p:nvSpPr>
        <p:spPr>
          <a:xfrm>
            <a:off x="446227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CVR</a:t>
            </a:r>
            <a:endParaRPr lang="en-US" sz="950" dirty="0"/>
          </a:p>
        </p:txBody>
      </p:sp>
      <p:sp>
        <p:nvSpPr>
          <p:cNvPr id="28" name="Text 25"/>
          <p:cNvSpPr txBox="1"/>
          <p:nvPr/>
        </p:nvSpPr>
        <p:spPr>
          <a:xfrm>
            <a:off x="6464808" y="5029200"/>
            <a:ext cx="1252728" cy="219456"/>
          </a:xfrm>
          <a:prstGeom prst="rect">
            <a:avLst/>
          </a:prstGeom>
          <a:noFill/>
          <a:ln/>
        </p:spPr>
        <p:txBody>
          <a:bodyPr wrap="square" lIns="0" tIns="0" rIns="0" bIns="0" rtlCol="0" anchor="ctr"/>
          <a:lstStyle/>
          <a:p>
            <a:pPr algn="r" indent="0" marL="0">
              <a:buNone/>
            </a:pPr>
            <a:r>
              <a:rPr lang="en-US" sz="1100" b="1" dirty="0">
                <a:solidFill>
                  <a:srgbClr val="B3261E"/>
                </a:solidFill>
                <a:latin typeface="Meiryo" pitchFamily="34" charset="0"/>
                <a:ea typeface="Meiryo" pitchFamily="34" charset="-122"/>
                <a:cs typeface="Meiryo" pitchFamily="34" charset="-120"/>
              </a:rPr>
              <a:t>-0.36pt</a:t>
            </a:r>
            <a:endParaRPr lang="en-US" sz="1100" dirty="0"/>
          </a:p>
        </p:txBody>
      </p:sp>
      <p:sp>
        <p:nvSpPr>
          <p:cNvPr id="29" name="Text 26"/>
          <p:cNvSpPr txBox="1"/>
          <p:nvPr/>
        </p:nvSpPr>
        <p:spPr>
          <a:xfrm>
            <a:off x="446227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1.35%   →   0.99%</a:t>
            </a:r>
            <a:endParaRPr lang="en-US" sz="1350" dirty="0"/>
          </a:p>
        </p:txBody>
      </p:sp>
      <p:sp>
        <p:nvSpPr>
          <p:cNvPr id="30" name="Shape 27"/>
          <p:cNvSpPr/>
          <p:nvPr/>
        </p:nvSpPr>
        <p:spPr>
          <a:xfrm>
            <a:off x="8092440" y="4946904"/>
            <a:ext cx="3584448" cy="786384"/>
          </a:xfrm>
          <a:prstGeom prst="roundRect">
            <a:avLst>
              <a:gd name="adj" fmla="val 5814"/>
            </a:avLst>
          </a:prstGeom>
          <a:solidFill>
            <a:srgbClr val="FFFFFF"/>
          </a:solidFill>
          <a:ln w="12700">
            <a:solidFill>
              <a:srgbClr val="DCE1E8"/>
            </a:solidFill>
            <a:prstDash val="solid"/>
          </a:ln>
        </p:spPr>
      </p:sp>
      <p:sp>
        <p:nvSpPr>
          <p:cNvPr id="31" name="Text 28"/>
          <p:cNvSpPr txBox="1"/>
          <p:nvPr/>
        </p:nvSpPr>
        <p:spPr>
          <a:xfrm>
            <a:off x="8257032" y="5029200"/>
            <a:ext cx="3255264" cy="219456"/>
          </a:xfrm>
          <a:prstGeom prst="rect">
            <a:avLst/>
          </a:prstGeom>
          <a:noFill/>
          <a:ln/>
        </p:spPr>
        <p:txBody>
          <a:bodyPr wrap="square" lIns="0" tIns="0" rIns="0" bIns="0" rtlCol="0" anchor="ctr"/>
          <a:lstStyle/>
          <a:p>
            <a:pPr indent="0" marL="0">
              <a:buNone/>
            </a:pPr>
            <a:r>
              <a:rPr lang="en-US" sz="950" dirty="0">
                <a:solidFill>
                  <a:srgbClr val="6B7280"/>
                </a:solidFill>
                <a:latin typeface="Meiryo" pitchFamily="34" charset="0"/>
                <a:ea typeface="Meiryo" pitchFamily="34" charset="-122"/>
                <a:cs typeface="Meiryo" pitchFamily="34" charset="-120"/>
              </a:rPr>
              <a:t>客単価</a:t>
            </a:r>
            <a:endParaRPr lang="en-US" sz="950" dirty="0"/>
          </a:p>
        </p:txBody>
      </p:sp>
      <p:sp>
        <p:nvSpPr>
          <p:cNvPr id="32" name="Text 29"/>
          <p:cNvSpPr txBox="1"/>
          <p:nvPr/>
        </p:nvSpPr>
        <p:spPr>
          <a:xfrm>
            <a:off x="10259568" y="5029200"/>
            <a:ext cx="1252728" cy="219456"/>
          </a:xfrm>
          <a:prstGeom prst="rect">
            <a:avLst/>
          </a:prstGeom>
          <a:noFill/>
          <a:ln/>
        </p:spPr>
        <p:txBody>
          <a:bodyPr wrap="square" lIns="0" tIns="0" rIns="0" bIns="0" rtlCol="0" anchor="ctr"/>
          <a:lstStyle/>
          <a:p>
            <a:pPr algn="r" indent="0" marL="0">
              <a:buNone/>
            </a:pPr>
            <a:r>
              <a:rPr lang="en-US" sz="1100" b="1" dirty="0">
                <a:solidFill>
                  <a:srgbClr val="1F7A4D"/>
                </a:solidFill>
                <a:latin typeface="Meiryo" pitchFamily="34" charset="0"/>
                <a:ea typeface="Meiryo" pitchFamily="34" charset="-122"/>
                <a:cs typeface="Meiryo" pitchFamily="34" charset="-120"/>
              </a:rPr>
              <a:t>+23.2%</a:t>
            </a:r>
            <a:endParaRPr lang="en-US" sz="1100" dirty="0"/>
          </a:p>
        </p:txBody>
      </p:sp>
      <p:sp>
        <p:nvSpPr>
          <p:cNvPr id="33" name="Text 30"/>
          <p:cNvSpPr txBox="1"/>
          <p:nvPr/>
        </p:nvSpPr>
        <p:spPr>
          <a:xfrm>
            <a:off x="8257032" y="5276088"/>
            <a:ext cx="3255264" cy="292608"/>
          </a:xfrm>
          <a:prstGeom prst="rect">
            <a:avLst/>
          </a:prstGeom>
          <a:noFill/>
          <a:ln/>
        </p:spPr>
        <p:txBody>
          <a:bodyPr wrap="square" lIns="0" tIns="0" rIns="0" bIns="0" rtlCol="0" anchor="ctr"/>
          <a:lstStyle/>
          <a:p>
            <a:pPr indent="0" marL="0">
              <a:buNone/>
            </a:pPr>
            <a:r>
              <a:rPr lang="en-US" sz="1350" b="1" dirty="0">
                <a:solidFill>
                  <a:srgbClr val="0E2038"/>
                </a:solidFill>
                <a:latin typeface="Meiryo" pitchFamily="34" charset="0"/>
                <a:ea typeface="Meiryo" pitchFamily="34" charset="-122"/>
                <a:cs typeface="Meiryo" pitchFamily="34" charset="-120"/>
              </a:rPr>
              <a:t>¥9,402   →   ¥11,583</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5532120" cy="914400"/>
        </p:xfrm>
        <a:graphic>
          <a:graphicData uri="http://schemas.openxmlformats.org/drawingml/2006/table">
            <a:tbl>
              <a:tblPr/>
              <a:tblGrid>
                <a:gridCol w="2331720"/>
                <a:gridCol w="1325880"/>
                <a:gridCol w="868680"/>
                <a:gridCol w="1005840"/>
              </a:tblGrid>
              <a:tr h="26517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構成比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10.2%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517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0.8%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517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7" name="Shape 3"/>
          <p:cNvSpPr/>
          <p:nvPr/>
        </p:nvSpPr>
        <p:spPr>
          <a:xfrm>
            <a:off x="6263640" y="1280160"/>
            <a:ext cx="5422392" cy="868680"/>
          </a:xfrm>
          <a:prstGeom prst="roundRect">
            <a:avLst>
              <a:gd name="adj" fmla="val 5263"/>
            </a:avLst>
          </a:prstGeom>
          <a:solidFill>
            <a:srgbClr val="FFF3EC"/>
          </a:solidFill>
          <a:ln w="12700">
            <a:solidFill>
              <a:srgbClr val="E8703A"/>
            </a:solidFill>
            <a:prstDash val="solid"/>
          </a:ln>
        </p:spPr>
      </p:sp>
      <p:sp>
        <p:nvSpPr>
          <p:cNvPr id="8" name="Text 4"/>
          <p:cNvSpPr txBox="1"/>
          <p:nvPr/>
        </p:nvSpPr>
        <p:spPr>
          <a:xfrm>
            <a:off x="6446520" y="1353312"/>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1st  PEARLY GATES</a:t>
            </a:r>
            <a:endParaRPr lang="en-US" sz="1100" dirty="0"/>
          </a:p>
        </p:txBody>
      </p:sp>
      <p:sp>
        <p:nvSpPr>
          <p:cNvPr id="9" name="Text 5"/>
          <p:cNvSpPr txBox="1"/>
          <p:nvPr/>
        </p:nvSpPr>
        <p:spPr>
          <a:xfrm>
            <a:off x="9692640" y="1335024"/>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¥1,918,970</a:t>
            </a:r>
            <a:endParaRPr lang="en-US" sz="1400" dirty="0"/>
          </a:p>
        </p:txBody>
      </p:sp>
      <p:sp>
        <p:nvSpPr>
          <p:cNvPr id="10" name="Text 6"/>
          <p:cNvSpPr txBox="1"/>
          <p:nvPr/>
        </p:nvSpPr>
        <p:spPr>
          <a:xfrm>
            <a:off x="6446520" y="1627632"/>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99件  /  22.7%</a:t>
            </a:r>
            <a:endParaRPr lang="en-US" sz="900" dirty="0"/>
          </a:p>
        </p:txBody>
      </p:sp>
      <p:sp>
        <p:nvSpPr>
          <p:cNvPr id="11" name="Text 7"/>
          <p:cNvSpPr txBox="1"/>
          <p:nvPr/>
        </p:nvSpPr>
        <p:spPr>
          <a:xfrm>
            <a:off x="6446520" y="1856232"/>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前年比 257%（¥747K → ¥1,919K） ▲▲</a:t>
            </a:r>
            <a:endParaRPr lang="en-US" sz="950" dirty="0"/>
          </a:p>
        </p:txBody>
      </p:sp>
      <p:sp>
        <p:nvSpPr>
          <p:cNvPr id="12" name="Shape 8"/>
          <p:cNvSpPr/>
          <p:nvPr/>
        </p:nvSpPr>
        <p:spPr>
          <a:xfrm>
            <a:off x="6263640" y="2249424"/>
            <a:ext cx="5422392" cy="868680"/>
          </a:xfrm>
          <a:prstGeom prst="roundRect">
            <a:avLst>
              <a:gd name="adj" fmla="val 5263"/>
            </a:avLst>
          </a:prstGeom>
          <a:solidFill>
            <a:srgbClr val="F3F6FA"/>
          </a:solidFill>
          <a:ln w="12700">
            <a:solidFill>
              <a:srgbClr val="DCE1E8"/>
            </a:solidFill>
            <a:prstDash val="solid"/>
          </a:ln>
        </p:spPr>
      </p:sp>
      <p:sp>
        <p:nvSpPr>
          <p:cNvPr id="13" name="Text 9"/>
          <p:cNvSpPr txBox="1"/>
          <p:nvPr/>
        </p:nvSpPr>
        <p:spPr>
          <a:xfrm>
            <a:off x="6446520" y="2322576"/>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2nd  Admiral GOLF</a:t>
            </a:r>
            <a:endParaRPr lang="en-US" sz="1100" dirty="0"/>
          </a:p>
        </p:txBody>
      </p:sp>
      <p:sp>
        <p:nvSpPr>
          <p:cNvPr id="14" name="Text 10"/>
          <p:cNvSpPr txBox="1"/>
          <p:nvPr/>
        </p:nvSpPr>
        <p:spPr>
          <a:xfrm>
            <a:off x="9692640" y="2304288"/>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¥1,671,050</a:t>
            </a:r>
            <a:endParaRPr lang="en-US" sz="1400" dirty="0"/>
          </a:p>
        </p:txBody>
      </p:sp>
      <p:sp>
        <p:nvSpPr>
          <p:cNvPr id="15" name="Text 11"/>
          <p:cNvSpPr txBox="1"/>
          <p:nvPr/>
        </p:nvSpPr>
        <p:spPr>
          <a:xfrm>
            <a:off x="6446520" y="2596896"/>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237件  /  19.8%</a:t>
            </a:r>
            <a:endParaRPr lang="en-US" sz="900" dirty="0"/>
          </a:p>
        </p:txBody>
      </p:sp>
      <p:sp>
        <p:nvSpPr>
          <p:cNvPr id="16" name="Text 12"/>
          <p:cNvSpPr txBox="1"/>
          <p:nvPr/>
        </p:nvSpPr>
        <p:spPr>
          <a:xfrm>
            <a:off x="6446520" y="2825496"/>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104%（横ばい、冷感ベスト継続）</a:t>
            </a:r>
            <a:endParaRPr lang="en-US" sz="950" dirty="0"/>
          </a:p>
        </p:txBody>
      </p:sp>
      <p:sp>
        <p:nvSpPr>
          <p:cNvPr id="17" name="Shape 13"/>
          <p:cNvSpPr/>
          <p:nvPr/>
        </p:nvSpPr>
        <p:spPr>
          <a:xfrm>
            <a:off x="6263640" y="3218688"/>
            <a:ext cx="5422392" cy="868680"/>
          </a:xfrm>
          <a:prstGeom prst="roundRect">
            <a:avLst>
              <a:gd name="adj" fmla="val 5263"/>
            </a:avLst>
          </a:prstGeom>
          <a:solidFill>
            <a:srgbClr val="F3F6FA"/>
          </a:solidFill>
          <a:ln w="12700">
            <a:solidFill>
              <a:srgbClr val="DCE1E8"/>
            </a:solidFill>
            <a:prstDash val="solid"/>
          </a:ln>
        </p:spPr>
      </p:sp>
      <p:sp>
        <p:nvSpPr>
          <p:cNvPr id="18" name="Text 14"/>
          <p:cNvSpPr txBox="1"/>
          <p:nvPr/>
        </p:nvSpPr>
        <p:spPr>
          <a:xfrm>
            <a:off x="6446520" y="3291840"/>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3rd  TOMMY HILFIGER Golf</a:t>
            </a:r>
            <a:endParaRPr lang="en-US" sz="1100" dirty="0"/>
          </a:p>
        </p:txBody>
      </p:sp>
      <p:sp>
        <p:nvSpPr>
          <p:cNvPr id="19" name="Text 15"/>
          <p:cNvSpPr txBox="1"/>
          <p:nvPr/>
        </p:nvSpPr>
        <p:spPr>
          <a:xfrm>
            <a:off x="9692640" y="3273552"/>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¥1,370,960</a:t>
            </a:r>
            <a:endParaRPr lang="en-US" sz="1400" dirty="0"/>
          </a:p>
        </p:txBody>
      </p:sp>
      <p:sp>
        <p:nvSpPr>
          <p:cNvPr id="20" name="Text 16"/>
          <p:cNvSpPr txBox="1"/>
          <p:nvPr/>
        </p:nvSpPr>
        <p:spPr>
          <a:xfrm>
            <a:off x="6446520" y="3566160"/>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184件  /  16.2%</a:t>
            </a:r>
            <a:endParaRPr lang="en-US" sz="900" dirty="0"/>
          </a:p>
        </p:txBody>
      </p:sp>
      <p:sp>
        <p:nvSpPr>
          <p:cNvPr id="21" name="Text 17"/>
          <p:cNvSpPr txBox="1"/>
          <p:nvPr/>
        </p:nvSpPr>
        <p:spPr>
          <a:xfrm>
            <a:off x="6446520" y="3794760"/>
            <a:ext cx="5074920" cy="237744"/>
          </a:xfrm>
          <a:prstGeom prst="rect">
            <a:avLst/>
          </a:prstGeom>
          <a:noFill/>
          <a:ln/>
        </p:spPr>
        <p:txBody>
          <a:bodyPr wrap="square" lIns="0" tIns="0" rIns="0" bIns="0" rtlCol="0" anchor="ctr"/>
          <a:lstStyle/>
          <a:p>
            <a:pPr indent="0" marL="0">
              <a:buNone/>
            </a:pPr>
            <a:r>
              <a:rPr lang="en-US" sz="950" dirty="0">
                <a:solidFill>
                  <a:srgbClr val="B3261E"/>
                </a:solidFill>
                <a:latin typeface="Meiryo" pitchFamily="34" charset="0"/>
                <a:ea typeface="Meiryo" pitchFamily="34" charset="-122"/>
                <a:cs typeface="Meiryo" pitchFamily="34" charset="-120"/>
              </a:rPr>
              <a:t>前年比 65%（¥2,119K → ¥1,371K） ▼</a:t>
            </a:r>
            <a:endParaRPr lang="en-US" sz="950" dirty="0"/>
          </a:p>
        </p:txBody>
      </p:sp>
      <p:sp>
        <p:nvSpPr>
          <p:cNvPr id="22" name="Shape 18"/>
          <p:cNvSpPr/>
          <p:nvPr/>
        </p:nvSpPr>
        <p:spPr>
          <a:xfrm>
            <a:off x="6263640" y="4187952"/>
            <a:ext cx="5422392" cy="868680"/>
          </a:xfrm>
          <a:prstGeom prst="roundRect">
            <a:avLst>
              <a:gd name="adj" fmla="val 5263"/>
            </a:avLst>
          </a:prstGeom>
          <a:solidFill>
            <a:srgbClr val="F3F6FA"/>
          </a:solidFill>
          <a:ln w="12700">
            <a:solidFill>
              <a:srgbClr val="DCE1E8"/>
            </a:solidFill>
            <a:prstDash val="solid"/>
          </a:ln>
        </p:spPr>
      </p:sp>
      <p:sp>
        <p:nvSpPr>
          <p:cNvPr id="23" name="Text 19"/>
          <p:cNvSpPr txBox="1"/>
          <p:nvPr/>
        </p:nvSpPr>
        <p:spPr>
          <a:xfrm>
            <a:off x="6446520" y="4261104"/>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4th  Sun Mountain</a:t>
            </a:r>
            <a:endParaRPr lang="en-US" sz="1100" dirty="0"/>
          </a:p>
        </p:txBody>
      </p:sp>
      <p:sp>
        <p:nvSpPr>
          <p:cNvPr id="24" name="Text 20"/>
          <p:cNvSpPr txBox="1"/>
          <p:nvPr/>
        </p:nvSpPr>
        <p:spPr>
          <a:xfrm>
            <a:off x="9692640" y="4242816"/>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¥859,000</a:t>
            </a:r>
            <a:endParaRPr lang="en-US" sz="1400" dirty="0"/>
          </a:p>
        </p:txBody>
      </p:sp>
      <p:sp>
        <p:nvSpPr>
          <p:cNvPr id="25" name="Text 21"/>
          <p:cNvSpPr txBox="1"/>
          <p:nvPr/>
        </p:nvSpPr>
        <p:spPr>
          <a:xfrm>
            <a:off x="6446520" y="4535424"/>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62件  /  10.2%</a:t>
            </a:r>
            <a:endParaRPr lang="en-US" sz="900" dirty="0"/>
          </a:p>
        </p:txBody>
      </p:sp>
      <p:sp>
        <p:nvSpPr>
          <p:cNvPr id="26" name="Text 22"/>
          <p:cNvSpPr txBox="1"/>
          <p:nvPr/>
        </p:nvSpPr>
        <p:spPr>
          <a:xfrm>
            <a:off x="6446520" y="4764024"/>
            <a:ext cx="5074920" cy="237744"/>
          </a:xfrm>
          <a:prstGeom prst="rect">
            <a:avLst/>
          </a:prstGeom>
          <a:noFill/>
          <a:ln/>
        </p:spPr>
        <p:txBody>
          <a:bodyPr wrap="square" lIns="0" tIns="0" rIns="0" bIns="0" rtlCol="0" anchor="ctr"/>
          <a:lstStyle/>
          <a:p>
            <a:pPr indent="0" marL="0">
              <a:buNone/>
            </a:pPr>
            <a:r>
              <a:rPr lang="en-US" sz="950" dirty="0">
                <a:solidFill>
                  <a:srgbClr val="1F7A4D"/>
                </a:solidFill>
                <a:latin typeface="Meiryo" pitchFamily="34" charset="0"/>
                <a:ea typeface="Meiryo" pitchFamily="34" charset="-122"/>
                <a:cs typeface="Meiryo" pitchFamily="34" charset="-120"/>
              </a:rPr>
              <a:t>新規参入継続（前年 ¥0） ▲▲</a:t>
            </a:r>
            <a:endParaRPr lang="en-US" sz="950" dirty="0"/>
          </a:p>
        </p:txBody>
      </p:sp>
      <p:sp>
        <p:nvSpPr>
          <p:cNvPr id="27" name="Shape 23"/>
          <p:cNvSpPr/>
          <p:nvPr/>
        </p:nvSpPr>
        <p:spPr>
          <a:xfrm>
            <a:off x="6263640" y="5157216"/>
            <a:ext cx="5422392" cy="868680"/>
          </a:xfrm>
          <a:prstGeom prst="roundRect">
            <a:avLst>
              <a:gd name="adj" fmla="val 5263"/>
            </a:avLst>
          </a:prstGeom>
          <a:solidFill>
            <a:srgbClr val="F3F6FA"/>
          </a:solidFill>
          <a:ln w="12700">
            <a:solidFill>
              <a:srgbClr val="DCE1E8"/>
            </a:solidFill>
            <a:prstDash val="solid"/>
          </a:ln>
        </p:spPr>
      </p:sp>
      <p:sp>
        <p:nvSpPr>
          <p:cNvPr id="28" name="Text 24"/>
          <p:cNvSpPr txBox="1"/>
          <p:nvPr/>
        </p:nvSpPr>
        <p:spPr>
          <a:xfrm>
            <a:off x="6446520" y="5230368"/>
            <a:ext cx="3291840" cy="256032"/>
          </a:xfrm>
          <a:prstGeom prst="rect">
            <a:avLst/>
          </a:prstGeom>
          <a:noFill/>
          <a:ln/>
        </p:spPr>
        <p:txBody>
          <a:bodyPr wrap="square" lIns="0" tIns="0" rIns="0" bIns="0" rtlCol="0" anchor="ctr"/>
          <a:lstStyle/>
          <a:p>
            <a:pPr indent="0" marL="0">
              <a:buNone/>
            </a:pPr>
            <a:r>
              <a:rPr lang="en-US" sz="1100" b="1" dirty="0">
                <a:solidFill>
                  <a:srgbClr val="0E2038"/>
                </a:solidFill>
                <a:latin typeface="Meiryo" pitchFamily="34" charset="0"/>
                <a:ea typeface="Meiryo" pitchFamily="34" charset="-122"/>
                <a:cs typeface="Meiryo" pitchFamily="34" charset="-120"/>
              </a:rPr>
              <a:t>5th  Psycho Bunny</a:t>
            </a:r>
            <a:endParaRPr lang="en-US" sz="1100" dirty="0"/>
          </a:p>
        </p:txBody>
      </p:sp>
      <p:sp>
        <p:nvSpPr>
          <p:cNvPr id="29" name="Text 25"/>
          <p:cNvSpPr txBox="1"/>
          <p:nvPr/>
        </p:nvSpPr>
        <p:spPr>
          <a:xfrm>
            <a:off x="9692640" y="5212080"/>
            <a:ext cx="1828800" cy="292608"/>
          </a:xfrm>
          <a:prstGeom prst="rect">
            <a:avLst/>
          </a:prstGeom>
          <a:noFill/>
          <a:ln/>
        </p:spPr>
        <p:txBody>
          <a:bodyPr wrap="square" lIns="0" tIns="0" rIns="0" bIns="0" rtlCol="0" anchor="ctr"/>
          <a:lstStyle/>
          <a:p>
            <a:pPr algn="r" indent="0" marL="0">
              <a:buNone/>
            </a:pPr>
            <a:r>
              <a:rPr lang="en-US" sz="1400" b="1" dirty="0">
                <a:solidFill>
                  <a:srgbClr val="0E2038"/>
                </a:solidFill>
                <a:latin typeface="Meiryo" pitchFamily="34" charset="0"/>
                <a:ea typeface="Meiryo" pitchFamily="34" charset="-122"/>
                <a:cs typeface="Meiryo" pitchFamily="34" charset="-120"/>
              </a:rPr>
              <a:t>¥775,400</a:t>
            </a:r>
            <a:endParaRPr lang="en-US" sz="1400" dirty="0"/>
          </a:p>
        </p:txBody>
      </p:sp>
      <p:sp>
        <p:nvSpPr>
          <p:cNvPr id="30" name="Text 26"/>
          <p:cNvSpPr txBox="1"/>
          <p:nvPr/>
        </p:nvSpPr>
        <p:spPr>
          <a:xfrm>
            <a:off x="6446520" y="5504688"/>
            <a:ext cx="3291840" cy="219456"/>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90件  /  9.2%</a:t>
            </a:r>
            <a:endParaRPr lang="en-US" sz="900" dirty="0"/>
          </a:p>
        </p:txBody>
      </p:sp>
      <p:sp>
        <p:nvSpPr>
          <p:cNvPr id="31" name="Text 27"/>
          <p:cNvSpPr txBox="1"/>
          <p:nvPr/>
        </p:nvSpPr>
        <p:spPr>
          <a:xfrm>
            <a:off x="6446520" y="5733288"/>
            <a:ext cx="5074920" cy="237744"/>
          </a:xfrm>
          <a:prstGeom prst="rect">
            <a:avLst/>
          </a:prstGeom>
          <a:noFill/>
          <a:ln/>
        </p:spPr>
        <p:txBody>
          <a:bodyPr wrap="square" lIns="0" tIns="0" rIns="0" bIns="0" rtlCol="0" anchor="ctr"/>
          <a:lstStyle/>
          <a:p>
            <a:pPr indent="0" marL="0">
              <a:buNone/>
            </a:pPr>
            <a:r>
              <a:rPr lang="en-US" sz="950" dirty="0">
                <a:solidFill>
                  <a:srgbClr val="45566B"/>
                </a:solidFill>
                <a:latin typeface="Meiryo" pitchFamily="34" charset="0"/>
                <a:ea typeface="Meiryo" pitchFamily="34" charset="-122"/>
                <a:cs typeface="Meiryo" pitchFamily="34" charset="-120"/>
              </a:rPr>
              <a:t>前年比 99%（横ばい）</a:t>
            </a:r>
            <a:endParaRPr lang="en-US" sz="950" dirty="0"/>
          </a:p>
        </p:txBody>
      </p:sp>
      <p:sp>
        <p:nvSpPr>
          <p:cNvPr id="32" name="Text 28"/>
          <p:cNvSpPr txBox="1"/>
          <p:nvPr/>
        </p:nvSpPr>
        <p:spPr>
          <a:xfrm>
            <a:off x="502920" y="6053328"/>
            <a:ext cx="5532120" cy="256032"/>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商品分析レポート（売上上位1,000商品）ベース。店舗売上 ¥9,706,322 に対する捕捉率 87.0%。</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ブランド別売上前年比</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353312"/>
          <a:ext cx="11173968" cy="914400"/>
        </p:xfrm>
        <a:graphic>
          <a:graphicData uri="http://schemas.openxmlformats.org/drawingml/2006/table">
            <a:tbl>
              <a:tblPr/>
              <a:tblGrid>
                <a:gridCol w="2743200"/>
                <a:gridCol w="1572768"/>
                <a:gridCol w="822960"/>
                <a:gridCol w="1572768"/>
                <a:gridCol w="822960"/>
                <a:gridCol w="1261872"/>
                <a:gridCol w="2377440"/>
              </a:tblGrid>
              <a:tr h="242316">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ブランド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備考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PEARLY GATES</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¥1,918,970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¥747,230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Admiral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¥1,671,050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¥1,611,820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堅調</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TOMMY HILFIGER Golf</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¥1,370,960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¥2,119,460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Sun Mountain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¥859,000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新規参入継続</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Psycho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¥775,400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¥781,900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横ばい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MASTER BUNNY EDITION</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¥524,770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ProSENDR</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622%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balance</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¥224,980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¥417,030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大幅減少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¥212,420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¥73,840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New Era</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¥192,200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Travis Mathew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¥59,300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Jack Bunny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¥97,700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DISNEY</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¥77,900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急成長</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42316">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PING</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¥64,400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¥42,700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151%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伸長 ▲</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42316">
                <a:tc>
                  <a:txBody>
                    <a:bodyPr/>
                    <a:lstStyle/>
                    <a:p>
                      <a:pPr algn="l" indent="0" marL="0">
                        <a:buNone/>
                      </a:pPr>
                      <a:r>
                        <a:rPr lang="en-US" sz="900" b="1" dirty="0">
                          <a:solidFill>
                            <a:srgbClr val="0E2038"/>
                          </a:solidFill>
                          <a:latin typeface="Meiryo" pitchFamily="34" charset="0"/>
                          <a:ea typeface="Meiryo" pitchFamily="34" charset="-122"/>
                          <a:cs typeface="Meiryo" pitchFamily="34" charset="-120"/>
                        </a:rPr>
                        <a:t>合計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¥8,440,950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872件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¥6,257,440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753件</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0E2038"/>
                          </a:solidFill>
                          <a:latin typeface="Meiryo" pitchFamily="34" charset="0"/>
                          <a:ea typeface="Meiryo" pitchFamily="34" charset="-122"/>
                          <a:cs typeface="Meiryo" pitchFamily="34" charset="-120"/>
                        </a:rPr>
                        <a:t>135%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Text 4"/>
          <p:cNvSpPr txBox="1"/>
          <p:nvPr/>
        </p:nvSpPr>
        <p:spPr>
          <a:xfrm>
            <a:off x="502920" y="5650992"/>
            <a:ext cx="1828800" cy="237744"/>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9" name="Text 5"/>
          <p:cNvSpPr txBox="1"/>
          <p:nvPr/>
        </p:nvSpPr>
        <p:spPr>
          <a:xfrm>
            <a:off x="502920" y="5907024"/>
            <a:ext cx="11173968" cy="420624"/>
          </a:xfrm>
          <a:prstGeom prst="rect">
            <a:avLst/>
          </a:prstGeom>
          <a:noFill/>
          <a:ln/>
        </p:spPr>
        <p:txBody>
          <a:bodyPr wrap="square" lIns="0" tIns="0" rIns="0" bIns="0" rtlCol="0" anchor="t"/>
          <a:lstStyle/>
          <a:p>
            <a:pPr indent="0" marL="0">
              <a:buNone/>
            </a:pPr>
            <a:r>
              <a:rPr lang="en-US" sz="950" dirty="0">
                <a:solidFill>
                  <a:srgbClr val="1F2733"/>
                </a:solidFill>
                <a:latin typeface="Meiryo" pitchFamily="34" charset="0"/>
                <a:ea typeface="Meiryo" pitchFamily="34" charset="-122"/>
                <a:cs typeface="Meiryo" pitchFamily="34" charset="-120"/>
              </a:rPr>
              <a:t>PEARLY GATES +157% / MASTER BUNNY +101% / New Era +567% / ProSENDR +522% で伸長、Sun Mountain は新規 ¥859K を上乗せ。TOMMY HILFIGER Golf -35% / new balance -46% が後退し、構成比1位が TOMMY HILFIGER から PEARLY GATES へ入れ替わった。</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全ブランド</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キャディバッグ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¥2,828,300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¥1,380,000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204.9%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その他</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¥874,850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¥393,330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222.4%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カートバッグ・ラウンドバッグ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¥704,900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137.2%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シャツ・ポロシャツ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¥692,900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¥981,550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帽子・バイザー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¥628,420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¥445,960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140.9%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ユーティリティ用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¥283,800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¥243,500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116.6%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ドライバー用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¥237,500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¥119,440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198.8%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ベルト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¥227,450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¥196,950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115.5%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パンツ</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¥225,450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¥282,000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79.9%</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フェアウェイウッド用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¥213,900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¥145,800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146.7%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メンズシューズ</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¥194,600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¥446,100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43.6%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トラベルカバー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212.5%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ボストンバッグ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¥179,000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¥44,000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406.8%</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スカート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220.7%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パター用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¥73,320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105.3%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245352" y="1417320"/>
          <a:ext cx="5440680" cy="914400"/>
        </p:xfrm>
        <a:graphic>
          <a:graphicData uri="http://schemas.openxmlformats.org/drawingml/2006/table">
            <a:tbl>
              <a:tblPr/>
              <a:tblGrid>
                <a:gridCol w="2377440"/>
                <a:gridCol w="1143000"/>
                <a:gridCol w="1143000"/>
                <a:gridCol w="777240"/>
              </a:tblGrid>
              <a:tr h="269748">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 2025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アイアン用</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¥70,350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¥81,320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86.5%</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マーカー・ハットクリップ</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¥69,600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¥80,300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傘・パラソル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¥222,000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30.6%</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ソックス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¥70,130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93.7%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アイシングバッグ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¥65,200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176.2%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アンダーウェア</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¥18,000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ボールケース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¥55,300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¥66,500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83.2%</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ティー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¥48,800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¥26,000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187.7%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サングラス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1000.0%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トートバッグ</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¥40,000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¥146,500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B3261E"/>
                          </a:solidFill>
                          <a:latin typeface="Meiryo" pitchFamily="34" charset="0"/>
                          <a:ea typeface="Meiryo" pitchFamily="34" charset="-122"/>
                          <a:cs typeface="Meiryo" pitchFamily="34" charset="-120"/>
                        </a:rPr>
                        <a:t>27.3%</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クラブケース</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¥37,800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¥14,800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255.4%</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ボディバッグ・ウエストポーチ</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¥33,000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¥9,000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366.7%</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フック付タオル</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¥25,600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セーター</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¥21,700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00" b="1" dirty="0">
                          <a:solidFill>
                            <a:srgbClr val="E8703A"/>
                          </a:solidFill>
                          <a:latin typeface="Meiryo" pitchFamily="34" charset="0"/>
                          <a:ea typeface="Meiryo" pitchFamily="34" charset="-122"/>
                          <a:cs typeface="Meiryo" pitchFamily="34" charset="-120"/>
                        </a:rPr>
                        <a:t>NEW</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69748">
                <a:tc>
                  <a:txBody>
                    <a:bodyPr/>
                    <a:lstStyle/>
                    <a:p>
                      <a:pPr algn="l" indent="0" marL="0">
                        <a:buNone/>
                      </a:pPr>
                      <a:r>
                        <a:rPr lang="en-US" sz="900" dirty="0">
                          <a:solidFill>
                            <a:srgbClr val="1F2733"/>
                          </a:solidFill>
                          <a:latin typeface="Meiryo" pitchFamily="34" charset="0"/>
                          <a:ea typeface="Meiryo" pitchFamily="34" charset="-122"/>
                          <a:cs typeface="Meiryo" pitchFamily="34" charset="-120"/>
                        </a:rPr>
                        <a:t>ベスト</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¥19,950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dirty="0">
                          <a:solidFill>
                            <a:srgbClr val="1F2733"/>
                          </a:solidFill>
                          <a:latin typeface="Meiryo" pitchFamily="34" charset="0"/>
                          <a:ea typeface="Meiryo" pitchFamily="34" charset="-122"/>
                          <a:cs typeface="Meiryo" pitchFamily="34" charset="-120"/>
                        </a:rPr>
                        <a:t>¥9,450</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00" b="1" dirty="0">
                          <a:solidFill>
                            <a:srgbClr val="1F7A4D"/>
                          </a:solidFill>
                          <a:latin typeface="Meiryo" pitchFamily="34" charset="0"/>
                          <a:ea typeface="Meiryo" pitchFamily="34" charset="-122"/>
                          <a:cs typeface="Meiryo" pitchFamily="34" charset="-120"/>
                        </a:rPr>
                        <a:t>211.1%</a:t>
                      </a:r>
                      <a:endParaRPr lang="en-US" sz="9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9" name="Shape 4"/>
          <p:cNvSpPr/>
          <p:nvPr/>
        </p:nvSpPr>
        <p:spPr>
          <a:xfrm>
            <a:off x="502920" y="5806440"/>
            <a:ext cx="11173968" cy="804672"/>
          </a:xfrm>
          <a:prstGeom prst="roundRect">
            <a:avLst>
              <a:gd name="adj" fmla="val 5682"/>
            </a:avLst>
          </a:prstGeom>
          <a:solidFill>
            <a:srgbClr val="FAFBFD"/>
          </a:solidFill>
          <a:ln w="12700">
            <a:solidFill>
              <a:srgbClr val="DCE1E8"/>
            </a:solidFill>
            <a:prstDash val="solid"/>
          </a:ln>
        </p:spPr>
      </p:sp>
      <p:sp>
        <p:nvSpPr>
          <p:cNvPr id="10" name="Text 5"/>
          <p:cNvSpPr txBox="1"/>
          <p:nvPr/>
        </p:nvSpPr>
        <p:spPr>
          <a:xfrm>
            <a:off x="704088" y="589788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総括</a:t>
            </a:r>
            <a:endParaRPr lang="en-US" sz="1100" dirty="0"/>
          </a:p>
        </p:txBody>
      </p:sp>
      <p:sp>
        <p:nvSpPr>
          <p:cNvPr id="11" name="Text 6"/>
          <p:cNvSpPr txBox="1"/>
          <p:nvPr/>
        </p:nvSpPr>
        <p:spPr>
          <a:xfrm>
            <a:off x="704088" y="6172200"/>
            <a:ext cx="10771632" cy="347472"/>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合計 ¥6,257,440 → ¥8,440,950（前年比 135%）。キャディバッグ ¥2,828K（構成比 33.5%）が単独で +¥1,448K を稼ぎ、全体の増加額の約66%を占める。シャツ・ポロシャツ -29.4% / メンズシューズ -56.4% / 傘・パラソル -69.4% / トートバッグ -72.7% が主な減少要因。</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商品別売上ランキング TOP10（2026年8月）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73968" cy="914400"/>
        </p:xfrm>
        <a:graphic>
          <a:graphicData uri="http://schemas.openxmlformats.org/drawingml/2006/table">
            <a:tbl>
              <a:tblPr/>
              <a:tblGrid>
                <a:gridCol w="685800"/>
                <a:gridCol w="1463040"/>
                <a:gridCol w="5760720"/>
                <a:gridCol w="1463040"/>
                <a:gridCol w="795528"/>
                <a:gridCol w="1005840"/>
              </a:tblGrid>
              <a:tr h="310896">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商品コード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商品名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売上金額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PAMG5CUF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ビッグニコキャディバッグ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¥612,000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SUMG6SC1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APPROACH LITE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¥243,000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SUMG5FC1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SUN MOUNTAIN ST STANDARD JC 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¥238,000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7件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TRMZNT61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WIDENER 練習器</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MBMG64GF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PRO仕様キャディバッグ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¥200,000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PAMG67GF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THE CADDIE BAG</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¥180,000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MBMG629F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MASTER BUNNY EDITION PUスタンド式キャディバッグ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¥158,000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PAMG67HF</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PEARLY GATES キャディバッグ (46インチ対応)</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ADMB7A01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Admiral GOLF 濡らしてひんやり冷感ベスト フード付き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¥122,400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E8703A"/>
                          </a:solidFill>
                          <a:latin typeface="Meiryo" pitchFamily="34" charset="0"/>
                          <a:ea typeface="Meiryo" pitchFamily="34" charset="-122"/>
                          <a:cs typeface="Meiryo" pitchFamily="34" charset="-120"/>
                        </a:rPr>
                        <a:t>新規</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10896">
                <a:tc>
                  <a:txBody>
                    <a:bodyPr/>
                    <a:lstStyle/>
                    <a:p>
                      <a:pPr algn="ctr" indent="0" marL="0">
                        <a:buNone/>
                      </a:pPr>
                      <a:r>
                        <a:rPr lang="en-US" sz="950" dirty="0">
                          <a:solidFill>
                            <a:srgbClr val="1F2733"/>
                          </a:solidFill>
                          <a:latin typeface="Meiryo" pitchFamily="34" charset="0"/>
                          <a:ea typeface="Meiryo" pitchFamily="34" charset="-122"/>
                          <a:cs typeface="Meiryo" pitchFamily="34" charset="-120"/>
                        </a:rPr>
                        <a:t>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TRMZNT51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ProSENDR 練習器 (プロセンダー)</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2733"/>
                          </a:solidFill>
                          <a:latin typeface="Meiryo" pitchFamily="34" charset="0"/>
                          <a:ea typeface="Meiryo" pitchFamily="34" charset="-122"/>
                          <a:cs typeface="Meiryo" pitchFamily="34" charset="-120"/>
                        </a:rPr>
                        <a:t>¥108,000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5件</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+100.0%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7" name="Shape 3"/>
          <p:cNvSpPr/>
          <p:nvPr/>
        </p:nvSpPr>
        <p:spPr>
          <a:xfrm>
            <a:off x="502920" y="5138928"/>
            <a:ext cx="11173968" cy="1179576"/>
          </a:xfrm>
          <a:prstGeom prst="roundRect">
            <a:avLst>
              <a:gd name="adj" fmla="val 3876"/>
            </a:avLst>
          </a:prstGeom>
          <a:solidFill>
            <a:srgbClr val="FAFBFD"/>
          </a:solidFill>
          <a:ln w="12700">
            <a:solidFill>
              <a:srgbClr val="DCE1E8"/>
            </a:solidFill>
            <a:prstDash val="solid"/>
          </a:ln>
        </p:spPr>
      </p:sp>
      <p:sp>
        <p:nvSpPr>
          <p:cNvPr id="8" name="Text 4"/>
          <p:cNvSpPr txBox="1"/>
          <p:nvPr/>
        </p:nvSpPr>
        <p:spPr>
          <a:xfrm>
            <a:off x="704088" y="5230368"/>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9" name="Text 5"/>
          <p:cNvSpPr txBox="1"/>
          <p:nvPr/>
        </p:nvSpPr>
        <p:spPr>
          <a:xfrm>
            <a:off x="704088" y="5504688"/>
            <a:ext cx="10771632"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TOP10 のうち 9商品が「新規」。秋冬キャディバッグ新作の先行投入が8月売上を作った構図で、前年同月の商品構成とはほぼ入れ替わっている。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1位 PEARLY GATES ビッグニコキャディバッグ ¥612,000（7件・単価 ¥87,429）が突出。2〜3位 Sun Mountain 2型で計 ¥481,000、5・7位 MASTER BUNNY 2型で ¥358,000。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非バッグでは 4位 ProSENDR WIDENER（練習器）¥228,000、9位 Admiral GOLF 冷感ベスト ¥122,400（16件）が健闘。</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検索キーワード分析（2026年8月）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73152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楽天サーチ経由の上位キーワード比較（2026年8月 vs 2025年8月）</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73968" cy="914400"/>
        </p:xfrm>
        <a:graphic>
          <a:graphicData uri="http://schemas.openxmlformats.org/drawingml/2006/table">
            <a:tbl>
              <a:tblPr/>
              <a:tblGrid>
                <a:gridCol w="685800"/>
                <a:gridCol w="3931920"/>
                <a:gridCol w="1143000"/>
                <a:gridCol w="4224528"/>
                <a:gridCol w="1188720"/>
              </a:tblGrid>
              <a:tr h="306324">
                <a:tc>
                  <a:txBody>
                    <a:bodyPr/>
                    <a:lstStyle/>
                    <a:p>
                      <a:pPr algn="ctr" indent="0" marL="0">
                        <a:buNone/>
                      </a:pPr>
                      <a:r>
                        <a:rPr lang="en-US" sz="950" b="1" dirty="0">
                          <a:solidFill>
                            <a:srgbClr val="FFFFFF"/>
                          </a:solidFill>
                          <a:latin typeface="Meiryo" pitchFamily="34" charset="0"/>
                          <a:ea typeface="Meiryo" pitchFamily="34" charset="-122"/>
                          <a:cs typeface="Meiryo" pitchFamily="34" charset="-120"/>
                        </a:rPr>
                        <a:t>順位</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2026年キーワード</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アクセス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2025年キーワード（対応値）</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506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アドミラルゴルフ (304)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-7.6%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サンマウンテン</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261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214</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マスターバニー キャディバッグ (180)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+18.9%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213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キャディバッグ (62)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+243.5%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キャディバック (40)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+392.5%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ゴルフ ボストンバッグ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193</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—（前年圏外）</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E8703A"/>
                          </a:solidFill>
                          <a:latin typeface="Meiryo" pitchFamily="34" charset="0"/>
                          <a:ea typeface="Meiryo" pitchFamily="34" charset="-122"/>
                          <a:cs typeface="Meiryo" pitchFamily="34" charset="-120"/>
                        </a:rPr>
                        <a:t>NEW</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190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トミーヒルフィガー ゴルフ (77)</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+146.8%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182</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ジャックバニー キャディバッグ (35)</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1000" b="1" dirty="0">
                          <a:solidFill>
                            <a:srgbClr val="1F7A4D"/>
                          </a:solidFill>
                          <a:latin typeface="Meiryo" pitchFamily="34" charset="0"/>
                          <a:ea typeface="Meiryo" pitchFamily="34" charset="-122"/>
                          <a:cs typeface="Meiryo" pitchFamily="34" charset="-120"/>
                        </a:rPr>
                        <a:t>+420.0%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6324">
                <a:tc>
                  <a:txBody>
                    <a:bodyPr/>
                    <a:lstStyle/>
                    <a:p>
                      <a:pPr algn="ctr" indent="0" marL="0">
                        <a:buNone/>
                      </a:pPr>
                      <a:r>
                        <a:rPr lang="en-US" sz="1000" dirty="0">
                          <a:solidFill>
                            <a:srgbClr val="1F27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dirty="0">
                          <a:solidFill>
                            <a:srgbClr val="1F2733"/>
                          </a:solidFill>
                          <a:latin typeface="Meiryo" pitchFamily="34" charset="0"/>
                          <a:ea typeface="Meiryo" pitchFamily="34" charset="-122"/>
                          <a:cs typeface="Meiryo" pitchFamily="34" charset="-120"/>
                        </a:rPr>
                        <a:t>181</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F2733"/>
                          </a:solidFill>
                          <a:latin typeface="Meiryo" pitchFamily="34" charset="0"/>
                          <a:ea typeface="Meiryo" pitchFamily="34" charset="-122"/>
                          <a:cs typeface="Meiryo" pitchFamily="34" charset="-120"/>
                        </a:rPr>
                        <a:t>パーリーゲイツ (218)</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1000" b="1" dirty="0">
                          <a:solidFill>
                            <a:srgbClr val="B3261E"/>
                          </a:solidFill>
                          <a:latin typeface="Meiryo" pitchFamily="34" charset="0"/>
                          <a:ea typeface="Meiryo" pitchFamily="34" charset="-122"/>
                          <a:cs typeface="Meiryo" pitchFamily="34" charset="-120"/>
                        </a:rPr>
                        <a:t>-17.0%</a:t>
                      </a:r>
                      <a:endParaRPr lang="en-US" sz="100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502920" y="4846320"/>
            <a:ext cx="11173968" cy="1426464"/>
          </a:xfrm>
          <a:prstGeom prst="roundRect">
            <a:avLst>
              <a:gd name="adj" fmla="val 3205"/>
            </a:avLst>
          </a:prstGeom>
          <a:solidFill>
            <a:srgbClr val="FAFBFD"/>
          </a:solidFill>
          <a:ln w="12700">
            <a:solidFill>
              <a:srgbClr val="DCE1E8"/>
            </a:solidFill>
            <a:prstDash val="solid"/>
          </a:ln>
        </p:spPr>
      </p:sp>
      <p:sp>
        <p:nvSpPr>
          <p:cNvPr id="9" name="Text 5"/>
          <p:cNvSpPr txBox="1"/>
          <p:nvPr/>
        </p:nvSpPr>
        <p:spPr>
          <a:xfrm>
            <a:off x="704088" y="4937760"/>
            <a:ext cx="10771632"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04088" y="5212080"/>
            <a:ext cx="10771632" cy="969264"/>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「サンマウンテン キャディバッグ」506（前年圏外）が首位、「サンマウンテン」261 も3位に新規参入。Sun Mountain の商品拡張が指名検索を新規に生み出した。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ブランド×キャディバッグの複合KWが軒並み急伸：パーリーゲイツ +243%/+393%、ジャックバニー +420%、マスターバニー +19%。高単価バッグ需要の顕在化を裏付ける。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「ゴルフ ボストンバッグ」193 /「トラビスマシュー キャディバッグ」138 が新規TOP圏入り。バッグカテゴリ全体で検索流入が拡大している。</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 ニューバランス関連KWは大幅減（ニューバランスゴルフシューズ 300→180 / -40%、ニューバランス ゴルフシューズ 278→106 / -62%）。シューズ2型の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販売終了（-¥215K）と連動しており、new balance -46% の直接要因。後継モデルの投入と SEO 再構築が必要。「ping」も前年10位から圏外へ後退。</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流入参照元分析（2026年8月）</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8229600" cy="237744"/>
          </a:xfrm>
          <a:prstGeom prst="rect">
            <a:avLst/>
          </a:prstGeom>
          <a:noFill/>
          <a:ln/>
        </p:spPr>
        <p:txBody>
          <a:bodyPr wrap="square" lIns="0" tIns="0" rIns="0" bIns="0" rtlCol="0" anchor="ctr"/>
          <a:lstStyle/>
          <a:p>
            <a:pPr indent="0" marL="0">
              <a:buNone/>
            </a:pPr>
            <a:r>
              <a:rPr lang="en-US" sz="1050" b="1" dirty="0">
                <a:solidFill>
                  <a:srgbClr val="0E2038"/>
                </a:solidFill>
                <a:latin typeface="Meiryo" pitchFamily="34" charset="0"/>
                <a:ea typeface="Meiryo" pitchFamily="34" charset="-122"/>
                <a:cs typeface="Meiryo" pitchFamily="34" charset="-120"/>
              </a:rPr>
              <a:t>アクセス総数（参照元基準）: 78,968 人  ／  前年 61,370 人  ／  +28.7%</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6400800" cy="914400"/>
        </p:xfrm>
        <a:graphic>
          <a:graphicData uri="http://schemas.openxmlformats.org/drawingml/2006/table">
            <a:tbl>
              <a:tblPr/>
              <a:tblGrid>
                <a:gridCol w="2514600"/>
                <a:gridCol w="1051560"/>
                <a:gridCol w="868680"/>
                <a:gridCol w="1051560"/>
                <a:gridCol w="914400"/>
              </a:tblGrid>
              <a:tr h="30175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参照元</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シェア</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楽天サーチ</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31,567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27,517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+14.7%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楽天市場トップ</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9,385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5,032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+86.5%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店舗商品ページ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8,680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11.0%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6,071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+43.0%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android-app://chrome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3,199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991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+222.8%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Google</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3,158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4.0%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3,213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-1.7%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楽天その他サービス</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2,748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1,685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+63.1%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Yahoo</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2,313</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2,384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-3.0%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店舗カテゴリページ</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2,035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+16.9%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お気に入り</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1,736</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1,538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+12.9%</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ads.as.criteo.com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1,692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612</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+176.5%</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sin.creativecdn.com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1,641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2.1%</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1,077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950" b="1" dirty="0">
                          <a:solidFill>
                            <a:srgbClr val="1F7A4D"/>
                          </a:solidFill>
                          <a:latin typeface="Meiryo" pitchFamily="34" charset="0"/>
                          <a:ea typeface="Meiryo" pitchFamily="34" charset="-122"/>
                          <a:cs typeface="Meiryo" pitchFamily="34" charset="-120"/>
                        </a:rPr>
                        <a:t>+52.4%</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301752">
                <a:tc>
                  <a:txBody>
                    <a:bodyPr/>
                    <a:lstStyle/>
                    <a:p>
                      <a:pPr algn="l" indent="0" marL="0">
                        <a:buNone/>
                      </a:pPr>
                      <a:r>
                        <a:rPr lang="en-US" sz="950" dirty="0">
                          <a:solidFill>
                            <a:srgbClr val="1F2733"/>
                          </a:solidFill>
                          <a:latin typeface="Meiryo" pitchFamily="34" charset="0"/>
                          <a:ea typeface="Meiryo" pitchFamily="34" charset="-122"/>
                          <a:cs typeface="Meiryo" pitchFamily="34" charset="-120"/>
                        </a:rPr>
                        <a:t>www.tiktok.com</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0.0%</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dirty="0">
                          <a:solidFill>
                            <a:srgbClr val="1F2733"/>
                          </a:solidFill>
                          <a:latin typeface="Meiryo" pitchFamily="34" charset="0"/>
                          <a:ea typeface="Meiryo" pitchFamily="34" charset="-122"/>
                          <a:cs typeface="Meiryo" pitchFamily="34" charset="-120"/>
                        </a:rPr>
                        <a:t>1,357</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950" b="1" dirty="0">
                          <a:solidFill>
                            <a:srgbClr val="B3261E"/>
                          </a:solidFill>
                          <a:latin typeface="Meiryo" pitchFamily="34" charset="0"/>
                          <a:ea typeface="Meiryo" pitchFamily="34" charset="-122"/>
                          <a:cs typeface="Meiryo" pitchFamily="34" charset="-120"/>
                        </a:rPr>
                        <a:t>消滅</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bl>
          </a:graphicData>
        </a:graphic>
      </p:graphicFrame>
      <p:sp>
        <p:nvSpPr>
          <p:cNvPr id="8" name="Shape 4"/>
          <p:cNvSpPr/>
          <p:nvPr/>
        </p:nvSpPr>
        <p:spPr>
          <a:xfrm>
            <a:off x="7132320" y="1444752"/>
            <a:ext cx="4553712" cy="4480560"/>
          </a:xfrm>
          <a:prstGeom prst="roundRect">
            <a:avLst>
              <a:gd name="adj" fmla="val 1020"/>
            </a:avLst>
          </a:prstGeom>
          <a:solidFill>
            <a:srgbClr val="FAFBFD"/>
          </a:solidFill>
          <a:ln w="12700">
            <a:solidFill>
              <a:srgbClr val="DCE1E8"/>
            </a:solidFill>
            <a:prstDash val="solid"/>
          </a:ln>
        </p:spPr>
      </p:sp>
      <p:sp>
        <p:nvSpPr>
          <p:cNvPr id="9" name="Text 5"/>
          <p:cNvSpPr txBox="1"/>
          <p:nvPr/>
        </p:nvSpPr>
        <p:spPr>
          <a:xfrm>
            <a:off x="7333488" y="1536192"/>
            <a:ext cx="41513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注目ポイント</a:t>
            </a:r>
            <a:endParaRPr lang="en-US" sz="1100" dirty="0"/>
          </a:p>
        </p:txBody>
      </p:sp>
      <p:sp>
        <p:nvSpPr>
          <p:cNvPr id="10" name="Text 6"/>
          <p:cNvSpPr txBox="1"/>
          <p:nvPr/>
        </p:nvSpPr>
        <p:spPr>
          <a:xfrm>
            <a:off x="7333488" y="1810512"/>
            <a:ext cx="4151376" cy="402336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楽天市場トップ +86.5%（5,032 → 9,385）が最大の伸び幅。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楽天内アルゴリズム評価・特集掲載の効果が継続。</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楽天サーチは +14.7% と拡大するも、シェアは 44.8% →</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40.0% へ -4.8pt 低下。流入源が分散し、単一依存が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緩和された健全な構造変化。</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Criteoリタゲ合計 1,797 → 3,539 人（+96.9%）で倍増。</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高単価キャディバッグの検討層の再訪を確保できている。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android-app://chrome +222.8%（991 → 3,199）。</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Androidアプリ経由の流入計測が拡大。</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TikTok 1,357 → 0 で完全消滅が継続、Facebook -16.5%。</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Instagram は +28.0%（328 → 420）とわずかに回復するも、</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SNS 流入全体は 1,988 → 673 人（-66%）。SNS 施策の</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再構築は引き続き最優先の課題。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Google -1.7% / Yahoo -3.0% と外部検索はほぼ横ばい。</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前年対比 伸び・落ち商品</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70432"/>
            <a:ext cx="5486400" cy="274320"/>
          </a:xfrm>
          <a:prstGeom prst="rect">
            <a:avLst/>
          </a:prstGeom>
          <a:noFill/>
          <a:ln/>
        </p:spPr>
        <p:txBody>
          <a:bodyPr wrap="square" lIns="0" tIns="0" rIns="0" bIns="0" rtlCol="0" anchor="ctr"/>
          <a:lstStyle/>
          <a:p>
            <a:pPr indent="0" marL="0">
              <a:buNone/>
            </a:pPr>
            <a:r>
              <a:rPr lang="en-US" sz="1250" b="1" dirty="0">
                <a:solidFill>
                  <a:srgbClr val="1F7A4D"/>
                </a:solidFill>
                <a:latin typeface="Meiryo" pitchFamily="34" charset="0"/>
                <a:ea typeface="Meiryo" pitchFamily="34" charset="-122"/>
                <a:cs typeface="Meiryo" pitchFamily="34" charset="-120"/>
              </a:rPr>
              <a:t>▲  伸び商品（新規・前年比プラス）</a:t>
            </a:r>
            <a:endParaRPr lang="en-US" sz="1250" dirty="0"/>
          </a:p>
        </p:txBody>
      </p:sp>
      <p:sp>
        <p:nvSpPr>
          <p:cNvPr id="7" name="Shape 4"/>
          <p:cNvSpPr/>
          <p:nvPr/>
        </p:nvSpPr>
        <p:spPr>
          <a:xfrm>
            <a:off x="502920" y="1536192"/>
            <a:ext cx="5513832" cy="530352"/>
          </a:xfrm>
          <a:prstGeom prst="roundRect">
            <a:avLst>
              <a:gd name="adj" fmla="val 6897"/>
            </a:avLst>
          </a:prstGeom>
          <a:solidFill>
            <a:srgbClr val="F0F8F3"/>
          </a:solidFill>
          <a:ln w="12700">
            <a:solidFill>
              <a:srgbClr val="CBE4D6"/>
            </a:solidFill>
            <a:prstDash val="solid"/>
          </a:ln>
        </p:spPr>
      </p:sp>
      <p:sp>
        <p:nvSpPr>
          <p:cNvPr id="8" name="Text 5"/>
          <p:cNvSpPr txBox="1"/>
          <p:nvPr/>
        </p:nvSpPr>
        <p:spPr>
          <a:xfrm>
            <a:off x="667512" y="158191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PAMG5CUF</a:t>
            </a:r>
            <a:endParaRPr lang="en-US" sz="950" dirty="0"/>
          </a:p>
        </p:txBody>
      </p:sp>
      <p:sp>
        <p:nvSpPr>
          <p:cNvPr id="9" name="Text 6"/>
          <p:cNvSpPr txBox="1"/>
          <p:nvPr/>
        </p:nvSpPr>
        <p:spPr>
          <a:xfrm>
            <a:off x="66751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ビッグニコキャディバッグ</a:t>
            </a:r>
            <a:endParaRPr lang="en-US" sz="900" dirty="0"/>
          </a:p>
        </p:txBody>
      </p:sp>
      <p:sp>
        <p:nvSpPr>
          <p:cNvPr id="10" name="Text 7"/>
          <p:cNvSpPr txBox="1"/>
          <p:nvPr/>
        </p:nvSpPr>
        <p:spPr>
          <a:xfrm>
            <a:off x="3840480" y="168249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¥612,000</a:t>
            </a:r>
            <a:endParaRPr lang="en-US" sz="1000" dirty="0"/>
          </a:p>
        </p:txBody>
      </p:sp>
      <p:sp>
        <p:nvSpPr>
          <p:cNvPr id="11" name="Shape 8"/>
          <p:cNvSpPr/>
          <p:nvPr/>
        </p:nvSpPr>
        <p:spPr>
          <a:xfrm>
            <a:off x="502920" y="2157984"/>
            <a:ext cx="5513832" cy="530352"/>
          </a:xfrm>
          <a:prstGeom prst="roundRect">
            <a:avLst>
              <a:gd name="adj" fmla="val 6897"/>
            </a:avLst>
          </a:prstGeom>
          <a:solidFill>
            <a:srgbClr val="F0F8F3"/>
          </a:solidFill>
          <a:ln w="12700">
            <a:solidFill>
              <a:srgbClr val="CBE4D6"/>
            </a:solidFill>
            <a:prstDash val="solid"/>
          </a:ln>
        </p:spPr>
      </p:sp>
      <p:sp>
        <p:nvSpPr>
          <p:cNvPr id="12" name="Text 9"/>
          <p:cNvSpPr txBox="1"/>
          <p:nvPr/>
        </p:nvSpPr>
        <p:spPr>
          <a:xfrm>
            <a:off x="667512" y="2203704"/>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SUMG6SC1</a:t>
            </a:r>
            <a:endParaRPr lang="en-US" sz="950" dirty="0"/>
          </a:p>
        </p:txBody>
      </p:sp>
      <p:sp>
        <p:nvSpPr>
          <p:cNvPr id="13" name="Text 10"/>
          <p:cNvSpPr txBox="1"/>
          <p:nvPr/>
        </p:nvSpPr>
        <p:spPr>
          <a:xfrm>
            <a:off x="66751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APPROACH LITE JC</a:t>
            </a:r>
            <a:endParaRPr lang="en-US" sz="900" dirty="0"/>
          </a:p>
        </p:txBody>
      </p:sp>
      <p:sp>
        <p:nvSpPr>
          <p:cNvPr id="14" name="Text 11"/>
          <p:cNvSpPr txBox="1"/>
          <p:nvPr/>
        </p:nvSpPr>
        <p:spPr>
          <a:xfrm>
            <a:off x="3840480" y="2304288"/>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¥243,000</a:t>
            </a:r>
            <a:endParaRPr lang="en-US" sz="1000" dirty="0"/>
          </a:p>
        </p:txBody>
      </p:sp>
      <p:sp>
        <p:nvSpPr>
          <p:cNvPr id="15" name="Shape 12"/>
          <p:cNvSpPr/>
          <p:nvPr/>
        </p:nvSpPr>
        <p:spPr>
          <a:xfrm>
            <a:off x="502920" y="2779776"/>
            <a:ext cx="5513832" cy="530352"/>
          </a:xfrm>
          <a:prstGeom prst="roundRect">
            <a:avLst>
              <a:gd name="adj" fmla="val 6897"/>
            </a:avLst>
          </a:prstGeom>
          <a:solidFill>
            <a:srgbClr val="F0F8F3"/>
          </a:solidFill>
          <a:ln w="12700">
            <a:solidFill>
              <a:srgbClr val="CBE4D6"/>
            </a:solidFill>
            <a:prstDash val="solid"/>
          </a:ln>
        </p:spPr>
      </p:sp>
      <p:sp>
        <p:nvSpPr>
          <p:cNvPr id="16" name="Text 13"/>
          <p:cNvSpPr txBox="1"/>
          <p:nvPr/>
        </p:nvSpPr>
        <p:spPr>
          <a:xfrm>
            <a:off x="667512" y="2825496"/>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SUMG5FC1</a:t>
            </a:r>
            <a:endParaRPr lang="en-US" sz="950" dirty="0"/>
          </a:p>
        </p:txBody>
      </p:sp>
      <p:sp>
        <p:nvSpPr>
          <p:cNvPr id="17" name="Text 14"/>
          <p:cNvSpPr txBox="1"/>
          <p:nvPr/>
        </p:nvSpPr>
        <p:spPr>
          <a:xfrm>
            <a:off x="66751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SUN MOUNTAIN ST STANDARD JC</a:t>
            </a:r>
            <a:endParaRPr lang="en-US" sz="900" dirty="0"/>
          </a:p>
        </p:txBody>
      </p:sp>
      <p:sp>
        <p:nvSpPr>
          <p:cNvPr id="18" name="Text 15"/>
          <p:cNvSpPr txBox="1"/>
          <p:nvPr/>
        </p:nvSpPr>
        <p:spPr>
          <a:xfrm>
            <a:off x="3840480" y="2926080"/>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¥238,000</a:t>
            </a:r>
            <a:endParaRPr lang="en-US" sz="1000" dirty="0"/>
          </a:p>
        </p:txBody>
      </p:sp>
      <p:sp>
        <p:nvSpPr>
          <p:cNvPr id="19" name="Shape 16"/>
          <p:cNvSpPr/>
          <p:nvPr/>
        </p:nvSpPr>
        <p:spPr>
          <a:xfrm>
            <a:off x="502920" y="3401568"/>
            <a:ext cx="5513832" cy="530352"/>
          </a:xfrm>
          <a:prstGeom prst="roundRect">
            <a:avLst>
              <a:gd name="adj" fmla="val 6897"/>
            </a:avLst>
          </a:prstGeom>
          <a:solidFill>
            <a:srgbClr val="F0F8F3"/>
          </a:solidFill>
          <a:ln w="12700">
            <a:solidFill>
              <a:srgbClr val="CBE4D6"/>
            </a:solidFill>
            <a:prstDash val="solid"/>
          </a:ln>
        </p:spPr>
      </p:sp>
      <p:sp>
        <p:nvSpPr>
          <p:cNvPr id="20" name="Text 17"/>
          <p:cNvSpPr txBox="1"/>
          <p:nvPr/>
        </p:nvSpPr>
        <p:spPr>
          <a:xfrm>
            <a:off x="667512" y="3447288"/>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TRMZNT61</a:t>
            </a:r>
            <a:endParaRPr lang="en-US" sz="950" dirty="0"/>
          </a:p>
        </p:txBody>
      </p:sp>
      <p:sp>
        <p:nvSpPr>
          <p:cNvPr id="21" name="Text 18"/>
          <p:cNvSpPr txBox="1"/>
          <p:nvPr/>
        </p:nvSpPr>
        <p:spPr>
          <a:xfrm>
            <a:off x="66751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ProSENDR WIDENER 練習器</a:t>
            </a:r>
            <a:endParaRPr lang="en-US" sz="900" dirty="0"/>
          </a:p>
        </p:txBody>
      </p:sp>
      <p:sp>
        <p:nvSpPr>
          <p:cNvPr id="22" name="Text 19"/>
          <p:cNvSpPr txBox="1"/>
          <p:nvPr/>
        </p:nvSpPr>
        <p:spPr>
          <a:xfrm>
            <a:off x="3840480" y="3547872"/>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¥228,000</a:t>
            </a:r>
            <a:endParaRPr lang="en-US" sz="1000" dirty="0"/>
          </a:p>
        </p:txBody>
      </p:sp>
      <p:sp>
        <p:nvSpPr>
          <p:cNvPr id="23" name="Shape 20"/>
          <p:cNvSpPr/>
          <p:nvPr/>
        </p:nvSpPr>
        <p:spPr>
          <a:xfrm>
            <a:off x="502920" y="4023360"/>
            <a:ext cx="5513832" cy="530352"/>
          </a:xfrm>
          <a:prstGeom prst="roundRect">
            <a:avLst>
              <a:gd name="adj" fmla="val 6897"/>
            </a:avLst>
          </a:prstGeom>
          <a:solidFill>
            <a:srgbClr val="F0F8F3"/>
          </a:solidFill>
          <a:ln w="12700">
            <a:solidFill>
              <a:srgbClr val="CBE4D6"/>
            </a:solidFill>
            <a:prstDash val="solid"/>
          </a:ln>
        </p:spPr>
      </p:sp>
      <p:sp>
        <p:nvSpPr>
          <p:cNvPr id="24" name="Text 21"/>
          <p:cNvSpPr txBox="1"/>
          <p:nvPr/>
        </p:nvSpPr>
        <p:spPr>
          <a:xfrm>
            <a:off x="667512" y="4069080"/>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MBMG64GF</a:t>
            </a:r>
            <a:endParaRPr lang="en-US" sz="950" dirty="0"/>
          </a:p>
        </p:txBody>
      </p:sp>
      <p:sp>
        <p:nvSpPr>
          <p:cNvPr id="25" name="Text 22"/>
          <p:cNvSpPr txBox="1"/>
          <p:nvPr/>
        </p:nvSpPr>
        <p:spPr>
          <a:xfrm>
            <a:off x="66751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MASTER BUNNY PRO仕様キャディバッグ</a:t>
            </a:r>
            <a:endParaRPr lang="en-US" sz="900" dirty="0"/>
          </a:p>
        </p:txBody>
      </p:sp>
      <p:sp>
        <p:nvSpPr>
          <p:cNvPr id="26" name="Text 23"/>
          <p:cNvSpPr txBox="1"/>
          <p:nvPr/>
        </p:nvSpPr>
        <p:spPr>
          <a:xfrm>
            <a:off x="3840480" y="4169664"/>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¥200,000</a:t>
            </a:r>
            <a:endParaRPr lang="en-US" sz="1000" dirty="0"/>
          </a:p>
        </p:txBody>
      </p:sp>
      <p:sp>
        <p:nvSpPr>
          <p:cNvPr id="27" name="Shape 24"/>
          <p:cNvSpPr/>
          <p:nvPr/>
        </p:nvSpPr>
        <p:spPr>
          <a:xfrm>
            <a:off x="502920" y="4645152"/>
            <a:ext cx="5513832" cy="530352"/>
          </a:xfrm>
          <a:prstGeom prst="roundRect">
            <a:avLst>
              <a:gd name="adj" fmla="val 6897"/>
            </a:avLst>
          </a:prstGeom>
          <a:solidFill>
            <a:srgbClr val="F0F8F3"/>
          </a:solidFill>
          <a:ln w="12700">
            <a:solidFill>
              <a:srgbClr val="CBE4D6"/>
            </a:solidFill>
            <a:prstDash val="solid"/>
          </a:ln>
        </p:spPr>
      </p:sp>
      <p:sp>
        <p:nvSpPr>
          <p:cNvPr id="28" name="Text 25"/>
          <p:cNvSpPr txBox="1"/>
          <p:nvPr/>
        </p:nvSpPr>
        <p:spPr>
          <a:xfrm>
            <a:off x="667512" y="4690872"/>
            <a:ext cx="1188720" cy="219456"/>
          </a:xfrm>
          <a:prstGeom prst="rect">
            <a:avLst/>
          </a:prstGeom>
          <a:noFill/>
          <a:ln/>
        </p:spPr>
        <p:txBody>
          <a:bodyPr wrap="square" lIns="0" tIns="0" rIns="0" bIns="0" rtlCol="0" anchor="ctr"/>
          <a:lstStyle/>
          <a:p>
            <a:pPr indent="0" marL="0">
              <a:buNone/>
            </a:pPr>
            <a:r>
              <a:rPr lang="en-US" sz="950" b="1" dirty="0">
                <a:solidFill>
                  <a:srgbClr val="1F7A4D"/>
                </a:solidFill>
                <a:latin typeface="Calibri" pitchFamily="34" charset="0"/>
                <a:ea typeface="Calibri" pitchFamily="34" charset="-122"/>
                <a:cs typeface="Calibri" pitchFamily="34" charset="-120"/>
              </a:rPr>
              <a:t>ADMB7A01</a:t>
            </a:r>
            <a:endParaRPr lang="en-US" sz="950" dirty="0"/>
          </a:p>
        </p:txBody>
      </p:sp>
      <p:sp>
        <p:nvSpPr>
          <p:cNvPr id="29" name="Text 26"/>
          <p:cNvSpPr txBox="1"/>
          <p:nvPr/>
        </p:nvSpPr>
        <p:spPr>
          <a:xfrm>
            <a:off x="66751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冷感ベスト フード付き</a:t>
            </a:r>
            <a:endParaRPr lang="en-US" sz="900" dirty="0"/>
          </a:p>
        </p:txBody>
      </p:sp>
      <p:sp>
        <p:nvSpPr>
          <p:cNvPr id="30" name="Text 27"/>
          <p:cNvSpPr txBox="1"/>
          <p:nvPr/>
        </p:nvSpPr>
        <p:spPr>
          <a:xfrm>
            <a:off x="3840480" y="4791456"/>
            <a:ext cx="2011680" cy="256032"/>
          </a:xfrm>
          <a:prstGeom prst="rect">
            <a:avLst/>
          </a:prstGeom>
          <a:noFill/>
          <a:ln/>
        </p:spPr>
        <p:txBody>
          <a:bodyPr wrap="square" lIns="0" tIns="0" rIns="0" bIns="0" rtlCol="0" anchor="ctr"/>
          <a:lstStyle/>
          <a:p>
            <a:pPr algn="r" indent="0" marL="0">
              <a:buNone/>
            </a:pPr>
            <a:r>
              <a:rPr lang="en-US" sz="1000" b="1" dirty="0">
                <a:solidFill>
                  <a:srgbClr val="0E2038"/>
                </a:solidFill>
                <a:latin typeface="Meiryo" pitchFamily="34" charset="0"/>
                <a:ea typeface="Meiryo" pitchFamily="34" charset="-122"/>
                <a:cs typeface="Meiryo" pitchFamily="34" charset="-120"/>
              </a:rPr>
              <a:t>新規 → ¥122,400</a:t>
            </a:r>
            <a:endParaRPr lang="en-US" sz="1000" dirty="0"/>
          </a:p>
        </p:txBody>
      </p:sp>
      <p:sp>
        <p:nvSpPr>
          <p:cNvPr id="31" name="Text 28"/>
          <p:cNvSpPr txBox="1"/>
          <p:nvPr/>
        </p:nvSpPr>
        <p:spPr>
          <a:xfrm>
            <a:off x="6172200" y="1170432"/>
            <a:ext cx="5486400" cy="274320"/>
          </a:xfrm>
          <a:prstGeom prst="rect">
            <a:avLst/>
          </a:prstGeom>
          <a:noFill/>
          <a:ln/>
        </p:spPr>
        <p:txBody>
          <a:bodyPr wrap="square" lIns="0" tIns="0" rIns="0" bIns="0" rtlCol="0" anchor="ctr"/>
          <a:lstStyle/>
          <a:p>
            <a:pPr indent="0" marL="0">
              <a:buNone/>
            </a:pPr>
            <a:r>
              <a:rPr lang="en-US" sz="1250" b="1" dirty="0">
                <a:solidFill>
                  <a:srgbClr val="B3261E"/>
                </a:solidFill>
                <a:latin typeface="Meiryo" pitchFamily="34" charset="0"/>
                <a:ea typeface="Meiryo" pitchFamily="34" charset="-122"/>
                <a:cs typeface="Meiryo" pitchFamily="34" charset="-120"/>
              </a:rPr>
              <a:t>▼  落ち商品（前年から消滅・減少）</a:t>
            </a:r>
            <a:endParaRPr lang="en-US" sz="1250" dirty="0"/>
          </a:p>
        </p:txBody>
      </p:sp>
      <p:sp>
        <p:nvSpPr>
          <p:cNvPr id="32" name="Shape 29"/>
          <p:cNvSpPr/>
          <p:nvPr/>
        </p:nvSpPr>
        <p:spPr>
          <a:xfrm>
            <a:off x="6172200" y="1536192"/>
            <a:ext cx="5513832" cy="530352"/>
          </a:xfrm>
          <a:prstGeom prst="roundRect">
            <a:avLst>
              <a:gd name="adj" fmla="val 6897"/>
            </a:avLst>
          </a:prstGeom>
          <a:solidFill>
            <a:srgbClr val="FCF1F0"/>
          </a:solidFill>
          <a:ln w="12700">
            <a:solidFill>
              <a:srgbClr val="EFD2CF"/>
            </a:solidFill>
            <a:prstDash val="solid"/>
          </a:ln>
        </p:spPr>
      </p:sp>
      <p:sp>
        <p:nvSpPr>
          <p:cNvPr id="33" name="Text 30"/>
          <p:cNvSpPr txBox="1"/>
          <p:nvPr/>
        </p:nvSpPr>
        <p:spPr>
          <a:xfrm>
            <a:off x="6336792" y="158191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PBMG5FC5</a:t>
            </a:r>
            <a:endParaRPr lang="en-US" sz="950" dirty="0"/>
          </a:p>
        </p:txBody>
      </p:sp>
      <p:sp>
        <p:nvSpPr>
          <p:cNvPr id="34" name="Text 31"/>
          <p:cNvSpPr txBox="1"/>
          <p:nvPr/>
        </p:nvSpPr>
        <p:spPr>
          <a:xfrm>
            <a:off x="6336792" y="179222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Psycho Bunny カートCB MONOGRAM</a:t>
            </a:r>
            <a:endParaRPr lang="en-US" sz="900" dirty="0"/>
          </a:p>
        </p:txBody>
      </p:sp>
      <p:sp>
        <p:nvSpPr>
          <p:cNvPr id="35" name="Text 32"/>
          <p:cNvSpPr txBox="1"/>
          <p:nvPr/>
        </p:nvSpPr>
        <p:spPr>
          <a:xfrm>
            <a:off x="9326880" y="168249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¥176,000 → ¥0（消滅）</a:t>
            </a:r>
            <a:endParaRPr lang="en-US" sz="950" dirty="0"/>
          </a:p>
        </p:txBody>
      </p:sp>
      <p:sp>
        <p:nvSpPr>
          <p:cNvPr id="36" name="Shape 33"/>
          <p:cNvSpPr/>
          <p:nvPr/>
        </p:nvSpPr>
        <p:spPr>
          <a:xfrm>
            <a:off x="6172200" y="2157984"/>
            <a:ext cx="5513832" cy="530352"/>
          </a:xfrm>
          <a:prstGeom prst="roundRect">
            <a:avLst>
              <a:gd name="adj" fmla="val 6897"/>
            </a:avLst>
          </a:prstGeom>
          <a:solidFill>
            <a:srgbClr val="FCF1F0"/>
          </a:solidFill>
          <a:ln w="12700">
            <a:solidFill>
              <a:srgbClr val="EFD2CF"/>
            </a:solidFill>
            <a:prstDash val="solid"/>
          </a:ln>
        </p:spPr>
      </p:sp>
      <p:sp>
        <p:nvSpPr>
          <p:cNvPr id="37" name="Text 34"/>
          <p:cNvSpPr txBox="1"/>
          <p:nvPr/>
        </p:nvSpPr>
        <p:spPr>
          <a:xfrm>
            <a:off x="6336792" y="2203704"/>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THMG4SC5</a:t>
            </a:r>
            <a:endParaRPr lang="en-US" sz="950" dirty="0"/>
          </a:p>
        </p:txBody>
      </p:sp>
      <p:sp>
        <p:nvSpPr>
          <p:cNvPr id="38" name="Text 35"/>
          <p:cNvSpPr txBox="1"/>
          <p:nvPr/>
        </p:nvSpPr>
        <p:spPr>
          <a:xfrm>
            <a:off x="6336792" y="2414016"/>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Tommy Hilfiger カートCB ベーシック</a:t>
            </a:r>
            <a:endParaRPr lang="en-US" sz="900" dirty="0"/>
          </a:p>
        </p:txBody>
      </p:sp>
      <p:sp>
        <p:nvSpPr>
          <p:cNvPr id="39" name="Text 36"/>
          <p:cNvSpPr txBox="1"/>
          <p:nvPr/>
        </p:nvSpPr>
        <p:spPr>
          <a:xfrm>
            <a:off x="9326880" y="2304288"/>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¥144,000 → ¥0（消滅）</a:t>
            </a:r>
            <a:endParaRPr lang="en-US" sz="950" dirty="0"/>
          </a:p>
        </p:txBody>
      </p:sp>
      <p:sp>
        <p:nvSpPr>
          <p:cNvPr id="40" name="Shape 37"/>
          <p:cNvSpPr/>
          <p:nvPr/>
        </p:nvSpPr>
        <p:spPr>
          <a:xfrm>
            <a:off x="6172200" y="2779776"/>
            <a:ext cx="5513832" cy="530352"/>
          </a:xfrm>
          <a:prstGeom prst="roundRect">
            <a:avLst>
              <a:gd name="adj" fmla="val 6897"/>
            </a:avLst>
          </a:prstGeom>
          <a:solidFill>
            <a:srgbClr val="FCF1F0"/>
          </a:solidFill>
          <a:ln w="12700">
            <a:solidFill>
              <a:srgbClr val="EFD2CF"/>
            </a:solidFill>
            <a:prstDash val="solid"/>
          </a:ln>
        </p:spPr>
      </p:sp>
      <p:sp>
        <p:nvSpPr>
          <p:cNvPr id="41" name="Text 38"/>
          <p:cNvSpPr txBox="1"/>
          <p:nvPr/>
        </p:nvSpPr>
        <p:spPr>
          <a:xfrm>
            <a:off x="6336792" y="2825496"/>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ADMG4BC6</a:t>
            </a:r>
            <a:endParaRPr lang="en-US" sz="950" dirty="0"/>
          </a:p>
        </p:txBody>
      </p:sp>
      <p:sp>
        <p:nvSpPr>
          <p:cNvPr id="42" name="Text 39"/>
          <p:cNvSpPr txBox="1"/>
          <p:nvPr/>
        </p:nvSpPr>
        <p:spPr>
          <a:xfrm>
            <a:off x="6336792" y="3035808"/>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Admiral GOLF CB スマートスポーツ</a:t>
            </a:r>
            <a:endParaRPr lang="en-US" sz="900" dirty="0"/>
          </a:p>
        </p:txBody>
      </p:sp>
      <p:sp>
        <p:nvSpPr>
          <p:cNvPr id="43" name="Text 40"/>
          <p:cNvSpPr txBox="1"/>
          <p:nvPr/>
        </p:nvSpPr>
        <p:spPr>
          <a:xfrm>
            <a:off x="9326880" y="2926080"/>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¥132,000 → ¥0（消滅）</a:t>
            </a:r>
            <a:endParaRPr lang="en-US" sz="950" dirty="0"/>
          </a:p>
        </p:txBody>
      </p:sp>
      <p:sp>
        <p:nvSpPr>
          <p:cNvPr id="44" name="Shape 41"/>
          <p:cNvSpPr/>
          <p:nvPr/>
        </p:nvSpPr>
        <p:spPr>
          <a:xfrm>
            <a:off x="6172200" y="3401568"/>
            <a:ext cx="5513832" cy="530352"/>
          </a:xfrm>
          <a:prstGeom prst="roundRect">
            <a:avLst>
              <a:gd name="adj" fmla="val 6897"/>
            </a:avLst>
          </a:prstGeom>
          <a:solidFill>
            <a:srgbClr val="FCF1F0"/>
          </a:solidFill>
          <a:ln w="12700">
            <a:solidFill>
              <a:srgbClr val="EFD2CF"/>
            </a:solidFill>
            <a:prstDash val="solid"/>
          </a:ln>
        </p:spPr>
      </p:sp>
      <p:sp>
        <p:nvSpPr>
          <p:cNvPr id="45" name="Text 42"/>
          <p:cNvSpPr txBox="1"/>
          <p:nvPr/>
        </p:nvSpPr>
        <p:spPr>
          <a:xfrm>
            <a:off x="6336792" y="3447288"/>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NSMS59-07</a:t>
            </a:r>
            <a:endParaRPr lang="en-US" sz="950" dirty="0"/>
          </a:p>
        </p:txBody>
      </p:sp>
      <p:sp>
        <p:nvSpPr>
          <p:cNvPr id="46" name="Text 43"/>
          <p:cNvSpPr txBox="1"/>
          <p:nvPr/>
        </p:nvSpPr>
        <p:spPr>
          <a:xfrm>
            <a:off x="6336792" y="3657600"/>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47" name="Text 44"/>
          <p:cNvSpPr txBox="1"/>
          <p:nvPr/>
        </p:nvSpPr>
        <p:spPr>
          <a:xfrm>
            <a:off x="9326880" y="3547872"/>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¥123,200 → ¥0（消滅）</a:t>
            </a:r>
            <a:endParaRPr lang="en-US" sz="950" dirty="0"/>
          </a:p>
        </p:txBody>
      </p:sp>
      <p:sp>
        <p:nvSpPr>
          <p:cNvPr id="48" name="Shape 45"/>
          <p:cNvSpPr/>
          <p:nvPr/>
        </p:nvSpPr>
        <p:spPr>
          <a:xfrm>
            <a:off x="6172200" y="4023360"/>
            <a:ext cx="5513832" cy="530352"/>
          </a:xfrm>
          <a:prstGeom prst="roundRect">
            <a:avLst>
              <a:gd name="adj" fmla="val 6897"/>
            </a:avLst>
          </a:prstGeom>
          <a:solidFill>
            <a:srgbClr val="FCF1F0"/>
          </a:solidFill>
          <a:ln w="12700">
            <a:solidFill>
              <a:srgbClr val="EFD2CF"/>
            </a:solidFill>
            <a:prstDash val="solid"/>
          </a:ln>
        </p:spPr>
      </p:sp>
      <p:sp>
        <p:nvSpPr>
          <p:cNvPr id="49" name="Text 46"/>
          <p:cNvSpPr txBox="1"/>
          <p:nvPr/>
        </p:nvSpPr>
        <p:spPr>
          <a:xfrm>
            <a:off x="6336792" y="4069080"/>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PAMG523F</a:t>
            </a:r>
            <a:endParaRPr lang="en-US" sz="950" dirty="0"/>
          </a:p>
        </p:txBody>
      </p:sp>
      <p:sp>
        <p:nvSpPr>
          <p:cNvPr id="50" name="Text 47"/>
          <p:cNvSpPr txBox="1"/>
          <p:nvPr/>
        </p:nvSpPr>
        <p:spPr>
          <a:xfrm>
            <a:off x="6336792" y="4279392"/>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PEARLY GATES キャスター付CB</a:t>
            </a:r>
            <a:endParaRPr lang="en-US" sz="900" dirty="0"/>
          </a:p>
        </p:txBody>
      </p:sp>
      <p:sp>
        <p:nvSpPr>
          <p:cNvPr id="51" name="Text 48"/>
          <p:cNvSpPr txBox="1"/>
          <p:nvPr/>
        </p:nvSpPr>
        <p:spPr>
          <a:xfrm>
            <a:off x="9326880" y="4169664"/>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¥95,000 → ¥0（消滅）</a:t>
            </a:r>
            <a:endParaRPr lang="en-US" sz="950" dirty="0"/>
          </a:p>
        </p:txBody>
      </p:sp>
      <p:sp>
        <p:nvSpPr>
          <p:cNvPr id="52" name="Shape 49"/>
          <p:cNvSpPr/>
          <p:nvPr/>
        </p:nvSpPr>
        <p:spPr>
          <a:xfrm>
            <a:off x="6172200" y="4645152"/>
            <a:ext cx="5513832" cy="530352"/>
          </a:xfrm>
          <a:prstGeom prst="roundRect">
            <a:avLst>
              <a:gd name="adj" fmla="val 6897"/>
            </a:avLst>
          </a:prstGeom>
          <a:solidFill>
            <a:srgbClr val="FCF1F0"/>
          </a:solidFill>
          <a:ln w="12700">
            <a:solidFill>
              <a:srgbClr val="EFD2CF"/>
            </a:solidFill>
            <a:prstDash val="solid"/>
          </a:ln>
        </p:spPr>
      </p:sp>
      <p:sp>
        <p:nvSpPr>
          <p:cNvPr id="53" name="Text 50"/>
          <p:cNvSpPr txBox="1"/>
          <p:nvPr/>
        </p:nvSpPr>
        <p:spPr>
          <a:xfrm>
            <a:off x="6336792" y="4690872"/>
            <a:ext cx="1188720" cy="219456"/>
          </a:xfrm>
          <a:prstGeom prst="rect">
            <a:avLst/>
          </a:prstGeom>
          <a:noFill/>
          <a:ln/>
        </p:spPr>
        <p:txBody>
          <a:bodyPr wrap="square" lIns="0" tIns="0" rIns="0" bIns="0" rtlCol="0" anchor="ctr"/>
          <a:lstStyle/>
          <a:p>
            <a:pPr indent="0" marL="0">
              <a:buNone/>
            </a:pPr>
            <a:r>
              <a:rPr lang="en-US" sz="950" b="1" dirty="0">
                <a:solidFill>
                  <a:srgbClr val="B3261E"/>
                </a:solidFill>
                <a:latin typeface="Calibri" pitchFamily="34" charset="0"/>
                <a:ea typeface="Calibri" pitchFamily="34" charset="-122"/>
                <a:cs typeface="Calibri" pitchFamily="34" charset="-120"/>
              </a:rPr>
              <a:t>NSMS59-19</a:t>
            </a:r>
            <a:endParaRPr lang="en-US" sz="950" dirty="0"/>
          </a:p>
        </p:txBody>
      </p:sp>
      <p:sp>
        <p:nvSpPr>
          <p:cNvPr id="54" name="Text 51"/>
          <p:cNvSpPr txBox="1"/>
          <p:nvPr/>
        </p:nvSpPr>
        <p:spPr>
          <a:xfrm>
            <a:off x="6336792" y="4901184"/>
            <a:ext cx="3291840" cy="219456"/>
          </a:xfrm>
          <a:prstGeom prst="rect">
            <a:avLst/>
          </a:prstGeom>
          <a:noFill/>
          <a:ln/>
        </p:spPr>
        <p:txBody>
          <a:bodyPr wrap="square" lIns="0" tIns="0" rIns="0" bIns="0" rtlCol="0" anchor="ctr"/>
          <a:lstStyle/>
          <a:p>
            <a:pPr indent="0" marL="0">
              <a:buNone/>
            </a:pPr>
            <a:r>
              <a:rPr lang="en-US" sz="900" dirty="0">
                <a:solidFill>
                  <a:srgbClr val="1F2733"/>
                </a:solidFill>
                <a:latin typeface="Meiryo" pitchFamily="34" charset="0"/>
                <a:ea typeface="Meiryo" pitchFamily="34" charset="-122"/>
                <a:cs typeface="Meiryo" pitchFamily="34" charset="-120"/>
              </a:rPr>
              <a:t>new balance 574 v3 SL ゴルフシューズ</a:t>
            </a:r>
            <a:endParaRPr lang="en-US" sz="900" dirty="0"/>
          </a:p>
        </p:txBody>
      </p:sp>
      <p:sp>
        <p:nvSpPr>
          <p:cNvPr id="55" name="Text 52"/>
          <p:cNvSpPr txBox="1"/>
          <p:nvPr/>
        </p:nvSpPr>
        <p:spPr>
          <a:xfrm>
            <a:off x="9326880" y="4791456"/>
            <a:ext cx="2194560" cy="256032"/>
          </a:xfrm>
          <a:prstGeom prst="rect">
            <a:avLst/>
          </a:prstGeom>
          <a:noFill/>
          <a:ln/>
        </p:spPr>
        <p:txBody>
          <a:bodyPr wrap="square" lIns="0" tIns="0" rIns="0" bIns="0" rtlCol="0" anchor="ctr"/>
          <a:lstStyle/>
          <a:p>
            <a:pPr algn="r" indent="0" marL="0">
              <a:buNone/>
            </a:pPr>
            <a:r>
              <a:rPr lang="en-US" sz="950" b="1" dirty="0">
                <a:solidFill>
                  <a:srgbClr val="0E2038"/>
                </a:solidFill>
                <a:latin typeface="Meiryo" pitchFamily="34" charset="0"/>
                <a:ea typeface="Meiryo" pitchFamily="34" charset="-122"/>
                <a:cs typeface="Meiryo" pitchFamily="34" charset="-120"/>
              </a:rPr>
              <a:t>¥92,400 → ¥0（消滅）</a:t>
            </a:r>
            <a:endParaRPr lang="en-US" sz="950" dirty="0"/>
          </a:p>
        </p:txBody>
      </p:sp>
      <p:sp>
        <p:nvSpPr>
          <p:cNvPr id="56" name="Shape 53"/>
          <p:cNvSpPr/>
          <p:nvPr/>
        </p:nvSpPr>
        <p:spPr>
          <a:xfrm>
            <a:off x="502920" y="5376672"/>
            <a:ext cx="11183112" cy="1179576"/>
          </a:xfrm>
          <a:prstGeom prst="roundRect">
            <a:avLst>
              <a:gd name="adj" fmla="val 3876"/>
            </a:avLst>
          </a:prstGeom>
          <a:solidFill>
            <a:srgbClr val="FAFBFD"/>
          </a:solidFill>
          <a:ln w="12700">
            <a:solidFill>
              <a:srgbClr val="DCE1E8"/>
            </a:solidFill>
            <a:prstDash val="solid"/>
          </a:ln>
        </p:spPr>
      </p:sp>
      <p:sp>
        <p:nvSpPr>
          <p:cNvPr id="57" name="Text 54"/>
          <p:cNvSpPr txBox="1"/>
          <p:nvPr/>
        </p:nvSpPr>
        <p:spPr>
          <a:xfrm>
            <a:off x="704088" y="5468112"/>
            <a:ext cx="10780776"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a:t>
            </a:r>
            <a:endParaRPr lang="en-US" sz="1100" dirty="0"/>
          </a:p>
        </p:txBody>
      </p:sp>
      <p:sp>
        <p:nvSpPr>
          <p:cNvPr id="58" name="Text 55"/>
          <p:cNvSpPr txBox="1"/>
          <p:nvPr/>
        </p:nvSpPr>
        <p:spPr>
          <a:xfrm>
            <a:off x="704088" y="5742432"/>
            <a:ext cx="10780776" cy="722376"/>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伸び商品は秋冬キャディバッグ新作が独占。前年に存在しなかった商品群が +¥1,563K を新規に積み上げた。</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落ち商品は前年主力だったキャディバッグ5型と new balance 574 v3 SL ゴルフシューズ2型が揃って販売終了。計 -¥762K の消滅。</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商品入替は機能しているが、new balance のシューズは後継モデルが未投入。検索需要（KW -40〜62%）も連動して失っている点は要対応。</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まとめと推奨アクション</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Shape 3"/>
          <p:cNvSpPr/>
          <p:nvPr/>
        </p:nvSpPr>
        <p:spPr>
          <a:xfrm>
            <a:off x="502920" y="1207008"/>
            <a:ext cx="5513832" cy="4572000"/>
          </a:xfrm>
          <a:prstGeom prst="roundRect">
            <a:avLst>
              <a:gd name="adj" fmla="val 1200"/>
            </a:avLst>
          </a:prstGeom>
          <a:solidFill>
            <a:srgbClr val="F0F8F3"/>
          </a:solidFill>
          <a:ln w="12700">
            <a:solidFill>
              <a:srgbClr val="CBE4D6"/>
            </a:solidFill>
            <a:prstDash val="solid"/>
          </a:ln>
        </p:spPr>
      </p:sp>
      <p:sp>
        <p:nvSpPr>
          <p:cNvPr id="7" name="Text 4"/>
          <p:cNvSpPr txBox="1"/>
          <p:nvPr/>
        </p:nvSpPr>
        <p:spPr>
          <a:xfrm>
            <a:off x="731520" y="1335024"/>
            <a:ext cx="5029200" cy="292608"/>
          </a:xfrm>
          <a:prstGeom prst="rect">
            <a:avLst/>
          </a:prstGeom>
          <a:noFill/>
          <a:ln/>
        </p:spPr>
        <p:txBody>
          <a:bodyPr wrap="square" lIns="0" tIns="0" rIns="0" bIns="0" rtlCol="0" anchor="ctr"/>
          <a:lstStyle/>
          <a:p>
            <a:pPr indent="0" marL="0">
              <a:buNone/>
            </a:pPr>
            <a:r>
              <a:rPr lang="en-US" sz="1300" b="1" dirty="0">
                <a:solidFill>
                  <a:srgbClr val="1F7A4D"/>
                </a:solidFill>
                <a:latin typeface="Meiryo" pitchFamily="34" charset="0"/>
                <a:ea typeface="Meiryo" pitchFamily="34" charset="-122"/>
                <a:cs typeface="Meiryo" pitchFamily="34" charset="-120"/>
              </a:rPr>
              <a:t>✓  成果・ポジティブ指標</a:t>
            </a:r>
            <a:endParaRPr lang="en-US" sz="1300" dirty="0"/>
          </a:p>
        </p:txBody>
      </p:sp>
      <p:sp>
        <p:nvSpPr>
          <p:cNvPr id="8" name="Text 5"/>
          <p:cNvSpPr txBox="1"/>
          <p:nvPr/>
        </p:nvSpPr>
        <p:spPr>
          <a:xfrm>
            <a:off x="731520" y="1737360"/>
            <a:ext cx="5074920" cy="3931920"/>
          </a:xfrm>
          <a:prstGeom prst="rect">
            <a:avLst/>
          </a:prstGeom>
          <a:noFill/>
          <a:ln/>
        </p:spPr>
        <p:txBody>
          <a:bodyPr wrap="square" lIns="0" tIns="0" rIns="0" bIns="0" rtlCol="0" anchor="t"/>
          <a:lstStyle/>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売上 ¥9,706,322、前年比 +35.7% で大幅増収</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アクセス 84,921人（+24.8%）で大幅拡大</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客単価 ¥11,583（+14.0%）、7月比 +23.2% でV字回復</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キャディバッグ ¥2,828K（+104.9%）が売上を牽引</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PEARLY GATES +157%（¥747K → ¥1,919K）</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Sun Mountain 新規 ¥859K / MASTER BUNNY +101%</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ProSENDR +522% / New Era +567% で新規カテゴリ確立</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楽天市場トップ +86.5% / Criteoリタゲ +96.9%</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RPP ROAS 372.3% を予算 -23% でも維持、CPC ¥33→¥28</a:t>
            </a:r>
            <a:endParaRPr lang="en-US" sz="1000" dirty="0"/>
          </a:p>
          <a:p>
            <a:pPr indent="0" marL="0">
              <a:lnSpc>
                <a:spcPct val="136000"/>
              </a:lnSpc>
              <a:buNone/>
            </a:pPr>
            <a:r>
              <a:rPr lang="en-US" sz="1000" dirty="0">
                <a:solidFill>
                  <a:srgbClr val="1F2733"/>
                </a:solidFill>
                <a:latin typeface="Meiryo" pitchFamily="34" charset="0"/>
                <a:ea typeface="Meiryo" pitchFamily="34" charset="-122"/>
                <a:cs typeface="Meiryo" pitchFamily="34" charset="-120"/>
              </a:rPr>
              <a:t>●  サンマウンテン関連KWが検索1位・3位に新規躍進</a:t>
            </a:r>
            <a:endParaRPr lang="en-US" sz="1000" dirty="0"/>
          </a:p>
        </p:txBody>
      </p:sp>
      <p:sp>
        <p:nvSpPr>
          <p:cNvPr id="9" name="Shape 6"/>
          <p:cNvSpPr/>
          <p:nvPr/>
        </p:nvSpPr>
        <p:spPr>
          <a:xfrm>
            <a:off x="6172200" y="1207008"/>
            <a:ext cx="5513832" cy="4572000"/>
          </a:xfrm>
          <a:prstGeom prst="roundRect">
            <a:avLst>
              <a:gd name="adj" fmla="val 1200"/>
            </a:avLst>
          </a:prstGeom>
          <a:solidFill>
            <a:srgbClr val="FFF6F0"/>
          </a:solidFill>
          <a:ln w="12700">
            <a:solidFill>
              <a:srgbClr val="F2D9C8"/>
            </a:solidFill>
            <a:prstDash val="solid"/>
          </a:ln>
        </p:spPr>
      </p:sp>
      <p:sp>
        <p:nvSpPr>
          <p:cNvPr id="10" name="Text 7"/>
          <p:cNvSpPr txBox="1"/>
          <p:nvPr/>
        </p:nvSpPr>
        <p:spPr>
          <a:xfrm>
            <a:off x="6400800" y="1335024"/>
            <a:ext cx="5029200" cy="292608"/>
          </a:xfrm>
          <a:prstGeom prst="rect">
            <a:avLst/>
          </a:prstGeom>
          <a:noFill/>
          <a:ln/>
        </p:spPr>
        <p:txBody>
          <a:bodyPr wrap="square" lIns="0" tIns="0" rIns="0" bIns="0" rtlCol="0" anchor="ctr"/>
          <a:lstStyle/>
          <a:p>
            <a:pPr indent="0" marL="0">
              <a:buNone/>
            </a:pPr>
            <a:r>
              <a:rPr lang="en-US" sz="1300" b="1" dirty="0">
                <a:solidFill>
                  <a:srgbClr val="E8703A"/>
                </a:solidFill>
                <a:latin typeface="Meiryo" pitchFamily="34" charset="0"/>
                <a:ea typeface="Meiryo" pitchFamily="34" charset="-122"/>
                <a:cs typeface="Meiryo" pitchFamily="34" charset="-120"/>
              </a:rPr>
              <a:t>△  課題・推奨アクション</a:t>
            </a:r>
            <a:endParaRPr lang="en-US" sz="1300" dirty="0"/>
          </a:p>
        </p:txBody>
      </p:sp>
      <p:sp>
        <p:nvSpPr>
          <p:cNvPr id="11" name="Text 8"/>
          <p:cNvSpPr txBox="1"/>
          <p:nvPr/>
        </p:nvSpPr>
        <p:spPr>
          <a:xfrm>
            <a:off x="6400800" y="1737360"/>
            <a:ext cx="5074920" cy="3931920"/>
          </a:xfrm>
          <a:prstGeom prst="rect">
            <a:avLst/>
          </a:prstGeom>
          <a:noFill/>
          <a:ln/>
        </p:spPr>
        <p:txBody>
          <a:bodyPr wrap="square" lIns="0" tIns="0" rIns="0" bIns="0" rtlCol="0" anchor="t"/>
          <a:lstStyle/>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TOMMY HILFIGER Golf -35%（構成比1位→3位）が最大の課題</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シャツ・ポロシャツ -52% / キャディバッグ -53%。秋冬主力の</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ページ強化と新作投入計画の前倒しを推奨</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new balance -46%、574 v3 SL の後継モデル投入が急務</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指名KW -40〜62% と連動。空いた検索枠の奪還が必要</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CVR 0.99%（7月 1.35% から -0.36pt）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高単価バッグのLP・サイズ比較・レビュー導線を強化</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広告依存度 60.5%（前月 51.1% / +9.4pt）</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CPA ¥3,507（+27%）。ROAS維持できる範囲で入札を再調整</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SNS流入 -66%（TikTok 0 継続 / Facebook -17%）</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SNS 施策の全面再構築は引き続き最優先</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傘・パラソル -69% / トートバッグ -73% / メンズシューズ -56%</a:t>
            </a:r>
            <a:endParaRPr lang="en-US" sz="1000" dirty="0"/>
          </a:p>
          <a:p>
            <a:pPr indent="0" marL="0">
              <a:lnSpc>
                <a:spcPct val="130000"/>
              </a:lnSpc>
              <a:buNone/>
            </a:pPr>
            <a:r>
              <a:rPr lang="en-US" sz="1000" dirty="0">
                <a:solidFill>
                  <a:srgbClr val="1F2733"/>
                </a:solidFill>
                <a:latin typeface="Meiryo" pitchFamily="34" charset="0"/>
                <a:ea typeface="Meiryo" pitchFamily="34" charset="-122"/>
                <a:cs typeface="Meiryo" pitchFamily="34" charset="-120"/>
              </a:rPr>
              <a:t>   → 縮小カテゴリの品揃え見直し</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310896"/>
            <a:ext cx="11155680" cy="475488"/>
          </a:xfrm>
          <a:prstGeom prst="rect">
            <a:avLst/>
          </a:prstGeom>
          <a:noFill/>
          <a:ln/>
        </p:spPr>
        <p:txBody>
          <a:bodyPr wrap="square" lIns="0" tIns="0" rIns="0" bIns="0" rtlCol="0" anchor="ctr"/>
          <a:lstStyle/>
          <a:p>
            <a:pPr indent="0" marL="0">
              <a:buNone/>
            </a:pPr>
            <a:r>
              <a:rPr lang="en-US" sz="2600" b="1" dirty="0">
                <a:solidFill>
                  <a:srgbClr val="0E2038"/>
                </a:solidFill>
                <a:latin typeface="Meiryo" pitchFamily="34" charset="0"/>
                <a:ea typeface="Meiryo" pitchFamily="34" charset="-122"/>
                <a:cs typeface="Meiryo" pitchFamily="34" charset="-120"/>
              </a:rPr>
              <a:t>カテゴリ別売上前年比 — Tommy Hilfiger Golf</a:t>
            </a:r>
            <a:endParaRPr lang="en-US" sz="2600" dirty="0"/>
          </a:p>
        </p:txBody>
      </p:sp>
      <p:sp>
        <p:nvSpPr>
          <p:cNvPr id="3" name="Text 1"/>
          <p:cNvSpPr txBox="1"/>
          <p:nvPr/>
        </p:nvSpPr>
        <p:spPr>
          <a:xfrm>
            <a:off x="521208" y="786384"/>
            <a:ext cx="11155680" cy="274320"/>
          </a:xfrm>
          <a:prstGeom prst="rect">
            <a:avLst/>
          </a:prstGeom>
          <a:noFill/>
          <a:ln/>
        </p:spPr>
        <p:txBody>
          <a:bodyPr wrap="square" lIns="0" tIns="0" rIns="0" bIns="0" rtlCol="0" anchor="ctr"/>
          <a:lstStyle/>
          <a:p>
            <a:pPr indent="0" marL="0">
              <a:buNone/>
            </a:pPr>
            <a:r>
              <a:rPr lang="en-US" sz="1050" dirty="0">
                <a:solidFill>
                  <a:srgbClr val="6B7280"/>
                </a:solidFill>
                <a:latin typeface="Meiryo" pitchFamily="34" charset="0"/>
                <a:ea typeface="Meiryo" pitchFamily="34" charset="-122"/>
                <a:cs typeface="Meiryo" pitchFamily="34" charset="-120"/>
              </a:rPr>
              <a:t>YAMANIGOLF 楽天市場店 / 店舗分析レポート / 2026年8月度</a:t>
            </a:r>
            <a:endParaRPr lang="en-US" sz="1050" dirty="0"/>
          </a:p>
        </p:txBody>
      </p:sp>
      <p:sp>
        <p:nvSpPr>
          <p:cNvPr id="4" name="Text 2"/>
          <p:cNvSpPr txBox="1"/>
          <p:nvPr/>
        </p:nvSpPr>
        <p:spPr>
          <a:xfrm>
            <a:off x="502920" y="6382512"/>
            <a:ext cx="11155680" cy="256032"/>
          </a:xfrm>
          <a:prstGeom prst="rect">
            <a:avLst/>
          </a:prstGeom>
          <a:noFill/>
          <a:ln/>
        </p:spPr>
        <p:txBody>
          <a:bodyPr wrap="square" lIns="0" tIns="0" rIns="0" bIns="0" rtlCol="0" anchor="ctr"/>
          <a:lstStyle/>
          <a:p>
            <a:pPr algn="r" indent="0" marL="0">
              <a:buNone/>
            </a:pPr>
            <a:r>
              <a:rPr lang="en-US" sz="800" dirty="0">
                <a:solidFill>
                  <a:srgbClr val="9AA4B2"/>
                </a:solidFill>
                <a:latin typeface="Meiryo" pitchFamily="34" charset="0"/>
                <a:ea typeface="Meiryo" pitchFamily="34" charset="-122"/>
                <a:cs typeface="Meiryo" pitchFamily="34" charset="-120"/>
              </a:rPr>
              <a:t>Confidential  |  YAMANIGOLF 楽天市場店  /  2026年8月度 分析レポート</a:t>
            </a:r>
            <a:endParaRPr lang="en-US" sz="800" dirty="0"/>
          </a:p>
        </p:txBody>
      </p:sp>
      <p:sp>
        <p:nvSpPr>
          <p:cNvPr id="6" name="Text 3"/>
          <p:cNvSpPr txBox="1"/>
          <p:nvPr/>
        </p:nvSpPr>
        <p:spPr>
          <a:xfrm>
            <a:off x="502920" y="1115568"/>
            <a:ext cx="5486400" cy="237744"/>
          </a:xfrm>
          <a:prstGeom prst="rect">
            <a:avLst/>
          </a:prstGeom>
          <a:noFill/>
          <a:ln/>
        </p:spPr>
        <p:txBody>
          <a:bodyPr wrap="square" lIns="0" tIns="0" rIns="0" bIns="0" rtlCol="0" anchor="ctr"/>
          <a:lstStyle/>
          <a:p>
            <a:pPr indent="0" marL="0">
              <a:buNone/>
            </a:pPr>
            <a:r>
              <a:rPr lang="en-US" sz="1000" dirty="0">
                <a:solidFill>
                  <a:srgbClr val="45566B"/>
                </a:solidFill>
                <a:latin typeface="Meiryo" pitchFamily="34" charset="0"/>
                <a:ea typeface="Meiryo" pitchFamily="34" charset="-122"/>
                <a:cs typeface="Meiryo" pitchFamily="34" charset="-120"/>
              </a:rPr>
              <a:t>2026年8月 vs 2025年8月</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6629400" cy="914400"/>
        </p:xfrm>
        <a:graphic>
          <a:graphicData uri="http://schemas.openxmlformats.org/drawingml/2006/table">
            <a:tbl>
              <a:tblPr/>
              <a:tblGrid>
                <a:gridCol w="2286000"/>
                <a:gridCol w="1097280"/>
                <a:gridCol w="594360"/>
                <a:gridCol w="1097280"/>
                <a:gridCol w="594360"/>
                <a:gridCol w="960120"/>
              </a:tblGrid>
              <a:tr h="256032">
                <a:tc>
                  <a:txBody>
                    <a:bodyPr/>
                    <a:lstStyle/>
                    <a:p>
                      <a:pPr algn="l" indent="0" marL="0">
                        <a:buNone/>
                      </a:pPr>
                      <a:r>
                        <a:rPr lang="en-US" sz="950" b="1" dirty="0">
                          <a:solidFill>
                            <a:srgbClr val="FFFFFF"/>
                          </a:solidFill>
                          <a:latin typeface="Meiryo" pitchFamily="34" charset="0"/>
                          <a:ea typeface="Meiryo" pitchFamily="34" charset="-122"/>
                          <a:cs typeface="Meiryo" pitchFamily="34" charset="-120"/>
                        </a:rPr>
                        <a:t>カテゴリ</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売上(2026/08)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売上(2025/08)</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件数</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c>
                  <a:txBody>
                    <a:bodyPr/>
                    <a:lstStyle/>
                    <a:p>
                      <a:pPr algn="r" indent="0" marL="0">
                        <a:buNone/>
                      </a:pPr>
                      <a:r>
                        <a:rPr lang="en-US" sz="950" b="1" dirty="0">
                          <a:solidFill>
                            <a:srgbClr val="FFFFFF"/>
                          </a:solidFill>
                          <a:latin typeface="Meiryo" pitchFamily="34" charset="0"/>
                          <a:ea typeface="Meiryo" pitchFamily="34" charset="-122"/>
                          <a:cs typeface="Meiryo" pitchFamily="34" charset="-120"/>
                        </a:rPr>
                        <a:t>売上前年比</a:t>
                      </a:r>
                      <a:endParaRPr lang="en-US" sz="9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0E2038"/>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シャツ・ポロシャツ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¥253,550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47.6%</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キャディバッグ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¥174,000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46.8%</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カートバッグ・ラウンドバッグ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¥164,400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¥204,200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80.5%</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パンツ</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¥102,000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¥166,250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61.4%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帽子・バイザー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¥71,200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¥134,140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53.1%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ボストンバッグ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¥69,000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アンダーウェア</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10件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¥18,000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350.0%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その他</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¥55,400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¥130,700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37件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42.4%</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トラベルカバー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¥55,000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6件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91.7%</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ベルト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¥41,200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¥30,500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135.1%</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トートバッグ</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¥40,000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¥43,000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93.0%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ボディバッグ・ウエストポーチ</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¥33,000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スカート</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¥30,800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3件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¥16,800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1F7A4D"/>
                          </a:solidFill>
                          <a:latin typeface="Meiryo" pitchFamily="34" charset="0"/>
                          <a:ea typeface="Meiryo" pitchFamily="34" charset="-122"/>
                          <a:cs typeface="Meiryo" pitchFamily="34" charset="-120"/>
                        </a:rPr>
                        <a:t>183.3%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フェアウェイウッド用</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¥24,900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¥53,800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11件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c>
                  <a:txBody>
                    <a:bodyPr/>
                    <a:lstStyle/>
                    <a:p>
                      <a:pPr algn="r" indent="0" marL="0">
                        <a:buNone/>
                      </a:pPr>
                      <a:r>
                        <a:rPr lang="en-US" sz="850" b="1" dirty="0">
                          <a:solidFill>
                            <a:srgbClr val="B3261E"/>
                          </a:solidFill>
                          <a:latin typeface="Meiryo" pitchFamily="34" charset="0"/>
                          <a:ea typeface="Meiryo" pitchFamily="34" charset="-122"/>
                          <a:cs typeface="Meiryo" pitchFamily="34" charset="-120"/>
                        </a:rPr>
                        <a:t>46.3%</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FFFFF"/>
                    </a:solidFill>
                  </a:tcPr>
                </a:tc>
              </a:tr>
              <a:tr h="256032">
                <a:tc>
                  <a:txBody>
                    <a:bodyPr/>
                    <a:lstStyle/>
                    <a:p>
                      <a:pPr algn="l" indent="0" marL="0">
                        <a:buNone/>
                      </a:pPr>
                      <a:r>
                        <a:rPr lang="en-US" sz="850" dirty="0">
                          <a:solidFill>
                            <a:srgbClr val="1F2733"/>
                          </a:solidFill>
                          <a:latin typeface="Meiryo" pitchFamily="34" charset="0"/>
                          <a:ea typeface="Meiryo" pitchFamily="34" charset="-122"/>
                          <a:cs typeface="Meiryo" pitchFamily="34" charset="-120"/>
                        </a:rPr>
                        <a:t>セーター</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¥21,700</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2件</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dirty="0">
                          <a:solidFill>
                            <a:srgbClr val="1F2733"/>
                          </a:solidFill>
                          <a:latin typeface="Meiryo" pitchFamily="34" charset="0"/>
                          <a:ea typeface="Meiryo" pitchFamily="34" charset="-122"/>
                          <a:cs typeface="Meiryo" pitchFamily="34" charset="-120"/>
                        </a:rPr>
                        <a:t>—</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c>
                  <a:txBody>
                    <a:bodyPr/>
                    <a:lstStyle/>
                    <a:p>
                      <a:pPr algn="r" indent="0" marL="0">
                        <a:buNone/>
                      </a:pPr>
                      <a:r>
                        <a:rPr lang="en-US" sz="850" b="1" dirty="0">
                          <a:solidFill>
                            <a:srgbClr val="E8703A"/>
                          </a:solidFill>
                          <a:latin typeface="Meiryo" pitchFamily="34" charset="0"/>
                          <a:ea typeface="Meiryo" pitchFamily="34" charset="-122"/>
                          <a:cs typeface="Meiryo" pitchFamily="34" charset="-120"/>
                        </a:rPr>
                        <a:t>NEW</a:t>
                      </a:r>
                      <a:endParaRPr lang="en-US" sz="850" dirty="0">
                        <a:latin typeface="Meiryo" charset="0"/>
                        <a:ea typeface="Meiryo" charset="0"/>
                        <a:cs typeface="Meiryo" charset="0"/>
                      </a:endParaRPr>
                    </a:p>
                  </a:txBody>
                  <a:tcPr marL="91440" marR="91440" marT="45720" marB="45720" anchor="ctr">
                    <a:lnL w="6350" cap="flat" cmpd="sng" algn="ctr">
                      <a:solidFill>
                        <a:srgbClr val="DCE1E8"/>
                      </a:solidFill>
                      <a:prstDash val="solid"/>
                      <a:round/>
                      <a:headEnd type="none" w="med" len="med"/>
                      <a:tailEnd type="none" w="med" len="med"/>
                    </a:lnL>
                    <a:lnR w="6350" cap="flat" cmpd="sng" algn="ctr">
                      <a:solidFill>
                        <a:srgbClr val="DCE1E8"/>
                      </a:solidFill>
                      <a:prstDash val="solid"/>
                      <a:round/>
                      <a:headEnd type="none" w="med" len="med"/>
                      <a:tailEnd type="none" w="med" len="med"/>
                    </a:lnR>
                    <a:lnT w="6350" cap="flat" cmpd="sng" algn="ctr">
                      <a:solidFill>
                        <a:srgbClr val="DCE1E8"/>
                      </a:solidFill>
                      <a:prstDash val="solid"/>
                      <a:round/>
                      <a:headEnd type="none" w="med" len="med"/>
                      <a:tailEnd type="none" w="med" len="med"/>
                    </a:lnT>
                    <a:lnB w="6350" cap="flat" cmpd="sng" algn="ctr">
                      <a:solidFill>
                        <a:srgbClr val="DCE1E8"/>
                      </a:solidFill>
                      <a:prstDash val="solid"/>
                      <a:round/>
                      <a:headEnd type="none" w="med" len="med"/>
                      <a:tailEnd type="none" w="med" len="med"/>
                    </a:lnB>
                    <a:solidFill>
                      <a:srgbClr val="F3F6FA"/>
                    </a:solidFill>
                  </a:tcPr>
                </a:tc>
              </a:tr>
            </a:tbl>
          </a:graphicData>
        </a:graphic>
      </p:graphicFrame>
      <p:sp>
        <p:nvSpPr>
          <p:cNvPr id="8" name="Shape 4"/>
          <p:cNvSpPr/>
          <p:nvPr/>
        </p:nvSpPr>
        <p:spPr>
          <a:xfrm>
            <a:off x="7333488" y="1371600"/>
            <a:ext cx="4352544" cy="4526280"/>
          </a:xfrm>
          <a:prstGeom prst="roundRect">
            <a:avLst>
              <a:gd name="adj" fmla="val 1050"/>
            </a:avLst>
          </a:prstGeom>
          <a:solidFill>
            <a:srgbClr val="FAFBFD"/>
          </a:solidFill>
          <a:ln w="12700">
            <a:solidFill>
              <a:srgbClr val="DCE1E8"/>
            </a:solidFill>
            <a:prstDash val="solid"/>
          </a:ln>
        </p:spPr>
      </p:sp>
      <p:sp>
        <p:nvSpPr>
          <p:cNvPr id="9" name="Text 5"/>
          <p:cNvSpPr txBox="1"/>
          <p:nvPr/>
        </p:nvSpPr>
        <p:spPr>
          <a:xfrm>
            <a:off x="7534656" y="1463040"/>
            <a:ext cx="3950208" cy="256032"/>
          </a:xfrm>
          <a:prstGeom prst="rect">
            <a:avLst/>
          </a:prstGeom>
          <a:noFill/>
          <a:ln/>
        </p:spPr>
        <p:txBody>
          <a:bodyPr wrap="square" lIns="0" tIns="0" rIns="0" bIns="0" rtlCol="0" anchor="ctr"/>
          <a:lstStyle/>
          <a:p>
            <a:pPr indent="0" marL="0">
              <a:buNone/>
            </a:pPr>
            <a:r>
              <a:rPr lang="en-US" sz="1100" b="1" dirty="0">
                <a:solidFill>
                  <a:srgbClr val="E8703A"/>
                </a:solidFill>
                <a:latin typeface="Meiryo" pitchFamily="34" charset="0"/>
                <a:ea typeface="Meiryo" pitchFamily="34" charset="-122"/>
                <a:cs typeface="Meiryo" pitchFamily="34" charset="-120"/>
              </a:rPr>
              <a:t>■  分析・考察</a:t>
            </a:r>
            <a:endParaRPr lang="en-US" sz="1100" dirty="0"/>
          </a:p>
        </p:txBody>
      </p:sp>
      <p:sp>
        <p:nvSpPr>
          <p:cNvPr id="10" name="Text 6"/>
          <p:cNvSpPr txBox="1"/>
          <p:nvPr/>
        </p:nvSpPr>
        <p:spPr>
          <a:xfrm>
            <a:off x="7534656" y="1737360"/>
            <a:ext cx="3950208" cy="4069080"/>
          </a:xfrm>
          <a:prstGeom prst="rect">
            <a:avLst/>
          </a:prstGeom>
          <a:noFill/>
          <a:ln/>
        </p:spPr>
        <p:txBody>
          <a:bodyPr wrap="square" lIns="0" tIns="0" rIns="0" bIns="0" rtlCol="0" anchor="t"/>
          <a:lstStyle/>
          <a:p>
            <a:pPr indent="0" marL="0">
              <a:lnSpc>
                <a:spcPct val="122000"/>
              </a:lnSpc>
              <a:buNone/>
            </a:pPr>
            <a:r>
              <a:rPr lang="en-US" sz="950" dirty="0">
                <a:solidFill>
                  <a:srgbClr val="1F2733"/>
                </a:solidFill>
                <a:latin typeface="Meiryo" pitchFamily="34" charset="0"/>
                <a:ea typeface="Meiryo" pitchFamily="34" charset="-122"/>
                <a:cs typeface="Meiryo" pitchFamily="34" charset="-120"/>
              </a:rPr>
              <a:t>Tommy Hilfiger Golf 合計：</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¥2,119,460 → ¥1,370,960（前年比 65% / -35%）</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主力のシャツ・ポロシャツが -52.4%（¥533K → ¥254K）。</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件数も 60件 → 30件 と半減。夏物ウェアの残存在庫と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値引き施策の縮小が影響したとみられる。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キャディバッグ -53.2%（¥372K → ¥174K）。他ブランドが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秋冬新作を先行投入するなか、THG は投入が遅れた。</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帽子・バイザー -46.9% / パンツ -38.6% と、ウェア系が</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軒並み前年割れ。</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一方、ボストンバッグ +283%、アンダーウェア +250%、</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スカート +83%、ベルト +35% は伸長。小物・レディース</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ラインには拡大余地がある。</a:t>
            </a:r>
            <a:endParaRPr lang="en-US" sz="950" dirty="0"/>
          </a:p>
          <a:p>
            <a:pPr indent="0" marL="0">
              <a:lnSpc>
                <a:spcPct val="122000"/>
              </a:lnSpc>
              <a:buNone/>
            </a:pP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推奨：秋冬キャディバッグ／モックネックの投入前倒しと、</a:t>
            </a:r>
            <a:endParaRPr lang="en-US" sz="950" dirty="0"/>
          </a:p>
          <a:p>
            <a:pPr indent="0" marL="0">
              <a:lnSpc>
                <a:spcPct val="122000"/>
              </a:lnSpc>
              <a:buNone/>
            </a:pPr>
            <a:r>
              <a:rPr lang="en-US" sz="950" dirty="0">
                <a:solidFill>
                  <a:srgbClr val="1F2733"/>
                </a:solidFill>
                <a:latin typeface="Meiryo" pitchFamily="34" charset="0"/>
                <a:ea typeface="Meiryo" pitchFamily="34" charset="-122"/>
                <a:cs typeface="Meiryo" pitchFamily="34" charset="-120"/>
              </a:rPr>
              <a:t>  伸びているボストンバッグ・アンダーウェアの露出拡大。</a:t>
            </a:r>
            <a:endParaRPr lang="en-US" sz="950" dirty="0"/>
          </a:p>
        </p:txBody>
      </p:sp>
      <p:sp>
        <p:nvSpPr>
          <p:cNvPr id="11" name="Text 7"/>
          <p:cNvSpPr txBox="1"/>
          <p:nvPr/>
        </p:nvSpPr>
        <p:spPr>
          <a:xfrm>
            <a:off x="502920" y="5943600"/>
            <a:ext cx="6629400" cy="237744"/>
          </a:xfrm>
          <a:prstGeom prst="rect">
            <a:avLst/>
          </a:prstGeom>
          <a:noFill/>
          <a:ln/>
        </p:spPr>
        <p:txBody>
          <a:bodyPr wrap="square" lIns="0" tIns="0" rIns="0" bIns="0" rtlCol="0" anchor="ctr"/>
          <a:lstStyle/>
          <a:p>
            <a:pPr indent="0" marL="0">
              <a:buNone/>
            </a:pPr>
            <a:r>
              <a:rPr lang="en-US" sz="850" dirty="0">
                <a:solidFill>
                  <a:srgbClr val="6B7280"/>
                </a:solidFill>
                <a:latin typeface="Meiryo" pitchFamily="34" charset="0"/>
                <a:ea typeface="Meiryo" pitchFamily="34" charset="-122"/>
                <a:cs typeface="Meiryo" pitchFamily="34" charset="-120"/>
              </a:rPr>
              <a:t>※ 表は売上上位15カテゴリを掲載</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WAC WORKS</dc:creator>
  <cp:lastModifiedBy>WAC WORKS</cp:lastModifiedBy>
  <cp:revision>1</cp:revision>
  <dcterms:created xsi:type="dcterms:W3CDTF">2026-09-13T10:33:55Z</dcterms:created>
  <dcterms:modified xsi:type="dcterms:W3CDTF">2026-09-13T10:33:55Z</dcterms:modified>
</cp:coreProperties>
</file>