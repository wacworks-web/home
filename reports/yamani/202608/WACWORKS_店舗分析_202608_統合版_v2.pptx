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4.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B98A1E"/>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15.41</c:v>
                </c:pt>
                <c:pt idx="1">
                  <c:v>17.32</c:v>
                </c:pt>
                <c:pt idx="2">
                  <c:v>15.19</c:v>
                </c:pt>
                <c:pt idx="3">
                  <c:v>17.51</c:v>
                </c:pt>
                <c:pt idx="4">
                  <c:v>29.52</c:v>
                </c:pt>
                <c:pt idx="5">
                  <c:v>25.18</c:v>
                </c:pt>
                <c:pt idx="6">
                  <c:v>22.07</c:v>
                </c:pt>
                <c:pt idx="7">
                  <c:v>32.73</c:v>
                </c:pt>
                <c:pt idx="8">
                  <c:v>18.94</c:v>
                </c:pt>
                <c:pt idx="9">
                  <c:v>14.8</c:v>
                </c:pt>
                <c:pt idx="10">
                  <c:v>16.68</c:v>
                </c:pt>
                <c:pt idx="11">
                  <c:v>16.44</c:v>
                </c:pt>
                <c:pt idx="12">
                  <c:v>14.91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0E7C7B"/>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5.13</c:v>
                </c:pt>
                <c:pt idx="1">
                  <c:v>7.06</c:v>
                </c:pt>
                <c:pt idx="2">
                  <c:v>7.06</c:v>
                </c:pt>
                <c:pt idx="3">
                  <c:v>9.72</c:v>
                </c:pt>
                <c:pt idx="4">
                  <c:v>11.08</c:v>
                </c:pt>
                <c:pt idx="5">
                  <c:v>10.4</c:v>
                </c:pt>
                <c:pt idx="6">
                  <c:v>9.86</c:v>
                </c:pt>
                <c:pt idx="7">
                  <c:v>14.06</c:v>
                </c:pt>
                <c:pt idx="8">
                  <c:v>7.84</c:v>
                </c:pt>
                <c:pt idx="9">
                  <c:v>6.54</c:v>
                </c:pt>
                <c:pt idx="10">
                  <c:v>6.39</c:v>
                </c:pt>
                <c:pt idx="11">
                  <c:v>7.91</c:v>
                </c:pt>
                <c:pt idx="12">
                  <c:v>7.17</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E2038"/>
                </a:solidFill>
                <a:latin typeface="Meiryo"/>
              </a:defRPr>
            </a:pPr>
            <a:r>
              <a:rPr sz="1100" b="0" i="0" u="none" strike="noStrike">
                <a:solidFill>
                  <a:srgbClr val="0E2038"/>
                </a:solidFill>
                <a:latin typeface="Meiryo"/>
              </a:rPr>
              <a:t>週次 売上構成（百万円）</a:t>
            </a:r>
          </a:p>
        </c:rich>
      </c:tx>
      <c:layout/>
      <c:overlay val="0"/>
    </c:title>
    <c:autoTitleDeleted val="0"/>
    <c:plotArea>
      <c:layout/>
      <c:barChart>
        <c:barDir val="col"/>
        <c:grouping val="stacked"/>
        <c:varyColors val="0"/>
        <c:ser>
          <c:idx val="0"/>
          <c:order val="0"/>
          <c:tx>
            <c:strRef>
              <c:f>Sheet1!$B$1</c:f>
              <c:strCache>
                <c:ptCount val="1"/>
                <c:pt idx="0">
                  <c:v>自然検索売上（百万円）</c:v>
                </c:pt>
              </c:strCache>
            </c:strRef>
          </c:tx>
          <c:spPr>
            <a:solidFill>
              <a:srgbClr val="8DA2BC"/>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Sheet1!$B$2:$B$6</c:f>
              <c:numCache>
                <c:formatCode>General</c:formatCode>
                <c:ptCount val="5"/>
                <c:pt idx="0">
                  <c:v>3.42</c:v>
                </c:pt>
                <c:pt idx="1">
                  <c:v>3.61</c:v>
                </c:pt>
                <c:pt idx="2">
                  <c:v>3.23</c:v>
                </c:pt>
                <c:pt idx="3">
                  <c:v>3.27</c:v>
                </c:pt>
                <c:pt idx="4">
                  <c:v>1.49</c:v>
                </c:pt>
              </c:numCache>
            </c:numRef>
          </c:val>
        </c:ser>
        <c:ser>
          <c:idx val="1"/>
          <c:order val="1"/>
          <c:tx>
            <c:strRef>
              <c:f>Sheet1!$C$1</c:f>
              <c:strCache>
                <c:ptCount val="1"/>
                <c:pt idx="0">
                  <c:v>広告経由売上（百万円）</c:v>
                </c:pt>
              </c:strCache>
            </c:strRef>
          </c:tx>
          <c:spPr>
            <a:solidFill>
              <a:srgbClr val="146EB4"/>
            </a:solidFill>
            <a:effectLst/>
          </c:spPr>
          <c:invertIfNegative val="0"/>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cat>
            <c:multiLvlStrRef>
              <c:f>Sheet1!$A$2:$A$6</c:f>
              <c:multiLvlStrCache>
                <c:ptCount val="5"/>
                <c:lvl>
                  <c:pt idx="0">
                    <c:v>8/1-7</c:v>
                  </c:pt>
                  <c:pt idx="1">
                    <c:v>8/8-14</c:v>
                  </c:pt>
                  <c:pt idx="2">
                    <c:v>8/15-21</c:v>
                  </c:pt>
                  <c:pt idx="3">
                    <c:v>8/22-28</c:v>
                  </c:pt>
                  <c:pt idx="4">
                    <c:v>8/29-31</c:v>
                  </c:pt>
                </c:lvl>
              </c:multiLvlStrCache>
            </c:multiLvlStrRef>
          </c:cat>
          <c:val>
            <c:numRef>
              <c:f>Sheet1!$C$2:$C$6</c:f>
              <c:numCache>
                <c:formatCode>General</c:formatCode>
                <c:ptCount val="5"/>
                <c:pt idx="0">
                  <c:v>1.8</c:v>
                </c:pt>
                <c:pt idx="1">
                  <c:v>2.2</c:v>
                </c:pt>
                <c:pt idx="2">
                  <c:v>1.79</c:v>
                </c:pt>
                <c:pt idx="3">
                  <c:v>1.83</c:v>
                </c:pt>
                <c:pt idx="4">
                  <c:v>0.97</c:v>
                </c:pt>
              </c:numCache>
            </c:numRef>
          </c:val>
        </c:ser>
        <c:dLbls>
          <c:numFmt formatCode="0.0" sourceLinked="0"/>
          <c:txPr>
            <a:bodyPr/>
            <a:lstStyle/>
            <a:p>
              <a:pPr>
                <a:defRPr b="0" i="0" strike="noStrike" sz="800" u="none">
                  <a:solidFill>
                    <a:srgbClr val="FFFFFF"/>
                  </a:solidFill>
                  <a:latin typeface="Meiryo"/>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4556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4556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ヤマニ様 2026年8月度 4店舗統合レポートの表紙。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4チャネル合計 ¥55.4M（前年比 +14.9%）。Amazonが最大規模、Yahooが最大の伸び率。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の扉。BAG MANIA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アクセス-27.9%の大幅減をCVR+0.26ptで吸収し、売上は-3.2%に踏みとどまった。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アクセス-27.9%に対し売上-3.2%。転換率の改善が減少を吸収した。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Q4セール期と3月決算期にピーク。8月は端境期で13ヶ月中の底値圏。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270.5%で前月から-36.5pt悪化。CPAは+35%上昇。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アクセス-27.9%、うち約30%はSNS消失。CVRは13ヶ月中最高の0.89%。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STUARTが構成比42.7%で首位継続。BEAMS +67%が最大の伸び。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BEAMS +67%が最大の伸び。MARGARET HOWELL -29% / UNGARO -30%が後退。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主力のレディース財布-10.8%。メンズ財布・ハンドバッグ・名刺入れが伸長。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STUARTがTOP8を独占。口金タイプが後退しL字ファスナーが伸長。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一般KWが急増、ブランド指名KWが軒並み減少。流入構造が転換している。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SNS -90.6%が最大の減少要因。楽天内流入も一律-15〜16%で縮小。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L字ファスナー・かぶせ型が伸長、口金（がま口）型が全面的に後退。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転換効率は改善。課題は集客基盤の縮小と中堅ブランドの後退。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主力ブランドの詳細。財布は-9.7%だが小物・バッグが大幅伸長。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の扉。BAG MANIA Yahoo!ショッピング店の2026年8月度実績。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売上+39.7%で3チャネル中最大の伸び率。成長はアプリ経由が牽引。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主要指標が全面的に前年超え。客単価のみ微減。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集客が全方位で拡大。購買率は楽天の約1.85倍を維持。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Q4セール期と3月決算期にピーク。8月は前年比+39.7%で底上げ。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397%と高効率を維持も、前月463.9%からは-66.9pt。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STUARTがTOP10中8商品。訪問者あたりの効率に大きな差。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JILL STUART 37.6%で首位。楽天店（42.7%）より分散した構成。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取扱終了のNOMADOIを除く全ブランドが前年超え。BEAMS +102% / LANVIN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前年主力6型が消滅し、新規5型が入れ替わる大規模な商品入替。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成長はアプリ単独。売上の79.5%がアプリ経由で、前年比+60.0%。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3店舗で唯一の全面プラス。アプリ経路への集中と広告効率の回復が次の課題。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の扉。BAG MANIA Amazonベンダーの2026年8月度実績。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上代+15.0%で4チャネル中最大規模。ただし増収は全額が広告由来。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増収は全額が広告由来。自然検索は-7.0%で縮小している。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月末3日に広告費を集中投下、ROASは1,201%→558%まで低下。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露出を倍にしながらCPC-28%。広告単体の効率は大幅改善。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上代+7.0%で伸長も、店舗全体の伸び(+15.0%)には届かず構成比は低下。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4チャネル最大規模。広告効率は良いが、自然検索の縮小が中期リスク。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400" b="1" spc="200" kern="0" dirty="0">
                <a:solidFill>
                  <a:srgbClr val="E8703A"/>
                </a:solidFill>
                <a:latin typeface="Meiryo" pitchFamily="34" charset="0"/>
                <a:ea typeface="Meiryo" pitchFamily="34" charset="-122"/>
                <a:cs typeface="Meiryo" pitchFamily="34" charset="-120"/>
              </a:rPr>
              <a:t>WAC WORKS — 店舗分析レポート</a:t>
            </a:r>
            <a:endParaRPr lang="en-US" sz="1400" dirty="0"/>
          </a:p>
        </p:txBody>
      </p:sp>
      <p:sp>
        <p:nvSpPr>
          <p:cNvPr id="3" name="Text 1"/>
          <p:cNvSpPr txBox="1"/>
          <p:nvPr/>
        </p:nvSpPr>
        <p:spPr>
          <a:xfrm>
            <a:off x="822960" y="1874520"/>
            <a:ext cx="10058400" cy="77724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ヤマニ様 4店舗 月次振り返り</a:t>
            </a:r>
            <a:endParaRPr lang="en-US" sz="4000" dirty="0"/>
          </a:p>
        </p:txBody>
      </p:sp>
      <p:sp>
        <p:nvSpPr>
          <p:cNvPr id="4" name="Text 2"/>
          <p:cNvSpPr txBox="1"/>
          <p:nvPr/>
        </p:nvSpPr>
        <p:spPr>
          <a:xfrm>
            <a:off x="841248" y="2743200"/>
            <a:ext cx="8229600" cy="457200"/>
          </a:xfrm>
          <a:prstGeom prst="rect">
            <a:avLst/>
          </a:prstGeom>
          <a:noFill/>
          <a:ln/>
        </p:spPr>
        <p:txBody>
          <a:bodyPr wrap="square" lIns="0" tIns="0" rIns="0" bIns="0" rtlCol="0" anchor="ctr"/>
          <a:lstStyle/>
          <a:p>
            <a:pPr indent="0" marL="0">
              <a:buNone/>
            </a:pPr>
            <a:r>
              <a:rPr lang="en-US" sz="2200" dirty="0">
                <a:solidFill>
                  <a:srgbClr val="BFD0E3"/>
                </a:solidFill>
                <a:latin typeface="Meiryo" pitchFamily="34" charset="0"/>
                <a:ea typeface="Meiryo" pitchFamily="34" charset="-122"/>
                <a:cs typeface="Meiryo" pitchFamily="34" charset="-120"/>
              </a:rPr>
              <a:t>2026 年 8 月度</a:t>
            </a:r>
            <a:endParaRPr lang="en-US" sz="2200" dirty="0"/>
          </a:p>
        </p:txBody>
      </p:sp>
      <p:sp>
        <p:nvSpPr>
          <p:cNvPr id="5" name="Text 3"/>
          <p:cNvSpPr txBox="1"/>
          <p:nvPr/>
        </p:nvSpPr>
        <p:spPr>
          <a:xfrm>
            <a:off x="841248" y="3611880"/>
            <a:ext cx="3657600" cy="274320"/>
          </a:xfrm>
          <a:prstGeom prst="rect">
            <a:avLst/>
          </a:prstGeom>
          <a:noFill/>
          <a:ln/>
        </p:spPr>
        <p:txBody>
          <a:bodyPr wrap="square" lIns="0" tIns="0" rIns="0" bIns="0" rtlCol="0" anchor="ctr"/>
          <a:lstStyle/>
          <a:p>
            <a:pPr indent="0" marL="0">
              <a:buNone/>
            </a:pPr>
            <a:r>
              <a:rPr lang="en-US" sz="1200" b="1" dirty="0">
                <a:solidFill>
                  <a:srgbClr val="E8703A"/>
                </a:solidFill>
                <a:latin typeface="Meiryo" pitchFamily="34" charset="0"/>
                <a:ea typeface="Meiryo" pitchFamily="34" charset="-122"/>
                <a:cs typeface="Meiryo" pitchFamily="34" charset="-120"/>
              </a:rPr>
              <a:t>■  構成</a:t>
            </a:r>
            <a:endParaRPr lang="en-US" sz="1200" dirty="0"/>
          </a:p>
        </p:txBody>
      </p:sp>
      <p:sp>
        <p:nvSpPr>
          <p:cNvPr id="6" name="Text 4"/>
          <p:cNvSpPr txBox="1"/>
          <p:nvPr/>
        </p:nvSpPr>
        <p:spPr>
          <a:xfrm>
            <a:off x="841248" y="3977640"/>
            <a:ext cx="10515600" cy="1371600"/>
          </a:xfrm>
          <a:prstGeom prst="rect">
            <a:avLst/>
          </a:prstGeom>
          <a:noFill/>
          <a:ln/>
        </p:spPr>
        <p:txBody>
          <a:bodyPr wrap="square" lIns="0" tIns="0" rIns="0" bIns="0" rtlCol="0" anchor="ctr"/>
          <a:lstStyle/>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01    YAMANIGOLF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02    BAG MANIA 楽天市場店                             /  15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03    BAG MANIA Yahoo!ショッピング店            /  12 slides</a:t>
            </a:r>
            <a:endParaRPr lang="en-US" sz="1200" dirty="0"/>
          </a:p>
          <a:p>
            <a:pPr indent="0" marL="0">
              <a:lnSpc>
                <a:spcPct val="150000"/>
              </a:lnSpc>
              <a:buNone/>
            </a:pPr>
            <a:r>
              <a:rPr lang="en-US" sz="1200" dirty="0">
                <a:solidFill>
                  <a:srgbClr val="8EA6C2"/>
                </a:solidFill>
                <a:latin typeface="Meiryo" pitchFamily="34" charset="0"/>
                <a:ea typeface="Meiryo" pitchFamily="34" charset="-122"/>
                <a:cs typeface="Meiryo" pitchFamily="34" charset="-120"/>
              </a:rPr>
              <a:t>SECTION 04    BAG MANIA Amazon ベンダー                    /   7 slides</a:t>
            </a:r>
            <a:endParaRPr lang="en-US" sz="1200" dirty="0"/>
          </a:p>
        </p:txBody>
      </p:sp>
      <p:sp>
        <p:nvSpPr>
          <p:cNvPr id="7" name="Text 5"/>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WAC WORKS  /  2026年8月度 店舗分析レポート</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4チャネル横断サマリー（2026年8月）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ヤマニ様 4店舗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WAC WORKS  /  2026年8月度 店舗分析レポート</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2743200"/>
                <a:gridCol w="1508760"/>
                <a:gridCol w="1005840"/>
                <a:gridCol w="1143000"/>
                <a:gridCol w="960120"/>
                <a:gridCol w="1463040"/>
                <a:gridCol w="1143000"/>
                <a:gridCol w="1207008"/>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チャネル</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転換率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広告経由比率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YAMANIGOLF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¥9,706,322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¥11,583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¥1,577,960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372%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楽天市場店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¥14,905,535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¥12,600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0.89%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¥2,767,357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50.2%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Yahoo!店</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¥1,080,261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59.8%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BAG MANIA Amazon（上代）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E2038"/>
                          </a:solidFill>
                          <a:latin typeface="Meiryo" pitchFamily="34" charset="0"/>
                          <a:ea typeface="Meiryo" pitchFamily="34" charset="-122"/>
                          <a:cs typeface="Meiryo" pitchFamily="34" charset="-120"/>
                        </a:rPr>
                        <a:t>合計</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¥55,399,086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+14.9%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¥6,285,999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0E2038"/>
                          </a:solidFill>
                          <a:latin typeface="Meiryo" pitchFamily="34" charset="0"/>
                          <a:ea typeface="Meiryo" pitchFamily="34" charset="-122"/>
                          <a:cs typeface="Meiryo" pitchFamily="34" charset="-120"/>
                        </a:rPr>
                        <a:t>47.4%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502920" y="3703320"/>
            <a:ext cx="11173968" cy="1975104"/>
          </a:xfrm>
          <a:prstGeom prst="roundRect">
            <a:avLst>
              <a:gd name="adj" fmla="val 2315"/>
            </a:avLst>
          </a:prstGeom>
          <a:solidFill>
            <a:srgbClr val="FAFBFD"/>
          </a:solidFill>
          <a:ln w="12700">
            <a:solidFill>
              <a:srgbClr val="DCE1E8"/>
            </a:solidFill>
            <a:prstDash val="solid"/>
          </a:ln>
        </p:spPr>
      </p:sp>
      <p:sp>
        <p:nvSpPr>
          <p:cNvPr id="8" name="Text 4"/>
          <p:cNvSpPr txBox="1"/>
          <p:nvPr/>
        </p:nvSpPr>
        <p:spPr>
          <a:xfrm>
            <a:off x="704088" y="3794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4チャネルを並べて見えること</a:t>
            </a:r>
            <a:endParaRPr lang="en-US" sz="1100" dirty="0"/>
          </a:p>
        </p:txBody>
      </p:sp>
      <p:sp>
        <p:nvSpPr>
          <p:cNvPr id="9" name="Text 5"/>
          <p:cNvSpPr txBox="1"/>
          <p:nvPr/>
        </p:nvSpPr>
        <p:spPr>
          <a:xfrm>
            <a:off x="704088" y="406908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合計 ¥48,220,721 → ¥55,399,086（+14.9%）。4チャネルのうち3チャネルが増収で、唯一 BAG MANIA 楽天店（-3.2%）が横ばい。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規模では Amazon が ¥23.6M（上代）で全体の 42.6% を占め最大。伸び率では Yahoo +39.7% が最大、次いで YAMANIGOLF +35.7%。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転換率は Yahoo 1.65% が突出（楽天2店の約1.8倍）。Yahoo はアプリ経由が売上の 79.5% を占め、アプリ内での露出が転換の高さを支えている。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広告効率は Amazon 999% が圧倒的。次いで Yahoo 397% / YAMANIGOLF 372% / BAG MANIA楽天 271%。楽天2店は広告効率の改善余地が大きい。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広告依存度は全チャネルで高水準（36〜61%）。合計 ¥6,285,999 の広告費で ¥26,247,854（全売上の 47.4%）を生んでおり、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広告を止めた場合の売上耐性が構造的な課題。特に Amazon は自然検索 -7.0% と土台が細っている点が最大のリスク。</a:t>
            </a:r>
            <a:endParaRPr lang="en-US" sz="950" dirty="0"/>
          </a:p>
        </p:txBody>
      </p:sp>
      <p:sp>
        <p:nvSpPr>
          <p:cNvPr id="10" name="Text 6"/>
          <p:cNvSpPr txBox="1"/>
          <p:nvPr/>
        </p:nvSpPr>
        <p:spPr>
          <a:xfrm>
            <a:off x="502920" y="5897880"/>
            <a:ext cx="11173968" cy="420624"/>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Amazonは上代（下代は ¥14,970,830）。楽天・Yahooとは価格ベースが異なるため単純比較には注意。転換率は楽天=CVR / Yahoo=購買率（注文者数÷訪問者数）。広告ROASは各媒体レポートの定義に準拠。</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YAMANIGOLF 楽天市場店</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¥9,706,322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¥7,150,460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84,921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68,060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+24.8%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0.99%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-0.04pt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¥11,583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¥10,157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838件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704件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+19.0%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売上・アクセス・客単価の3指標が同時に</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特に客単価 +14.0% の改善が大きい。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7月に落ち込んだ単価水準（¥9,402）から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 1.35% からは -0.36pt と大きく低下。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高額商材は検討期間が長く、単月CVRは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アクセスの伸び（+24.8%）が売上を支えた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・傘・パラソル  -¥154K  /  トートバッグ  -¥107K  /  パンツ  -¥57K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¥7,150,460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¥8,744,236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¥12,433,179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¥11,796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¥12,506,076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¥11,257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¥14,084,676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¥10,892,216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¥6,776,631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¥9,992,732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¥10,903,716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¥11,687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¥11,310,702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¥13,412,035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¥11,809,455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¥9,706,322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¥11,583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冷感グッズ特需の反動が出た。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¥9,402 → ¥11,583 へ回復。単価と転換率はトレードオフの関係にある。</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¥9,706,322 に対する捕捉率 87.0%。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¥747,230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¥1,611,820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堅調</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¥2,119,460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新規参入継続</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¥781,900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横ばい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¥417,030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¥42,700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¥6,257,440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753件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Meiryo" pitchFamily="34" charset="0"/>
                <a:ea typeface="Meiryo" pitchFamily="34" charset="-122"/>
                <a:cs typeface="Meiryo"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キャディバッグ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¥1,380,000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204.9%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¥874,850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¥393,330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222.4%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カートバッグ・ラウンドバッグ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¥704,900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137.2%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シャツ・ポロシャツ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¥692,900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¥981,550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帽子・バイザー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¥628,420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¥445,960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ユーティリティ用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¥283,800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116.6%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ドライバー用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¥119,440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¥196,950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パンツ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¥225,450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フェアウェイウッド用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¥145,800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メンズシューズ</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¥446,100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43.6%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トラベルカバー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406.8%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スカート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220.7%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パター用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アイアン用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¥70,350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マーカー・ハットクリップ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傘・パラソル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30.6%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ソックス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¥70,130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93.7%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アイシングバッグ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176.2%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アンダーウェア</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ボールケース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ティー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187.7%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サングラス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クラブケース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フック付タオル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セーター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ベスト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211.1%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PAMG5CUF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ビッグニコキャディバッグ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¥612,000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SUMG6SC1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APPROACH LITE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SUMG5FC1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STANDARD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WIDENER 練習器</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MBMG64GF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PRO仕様キャディバッグ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THE CADDIE BAG</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MBMG629F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PUスタンド式キャディバッグ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¥158,000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PAMG67HF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キャディバッグ (46インチ対応)</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ADMB7A01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Admiral GOLF 濡らしてひんやり冷感ベスト フード付き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練習器 (プロセンダー)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¥108,000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 (304)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 (180)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 (62)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+243.5%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 (40)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+392.5%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ゴルフ ボストンバッグ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 (77)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+146.8%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 (35)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+420.0%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(218)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-17.0%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78,968 人  ／  前年 61,370 人  ／  +28.7%</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9,385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店舗カテゴリページ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+176.5%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www.tiktok.com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1,797 → 3,539 人（+96.9%）で倍増。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+222.8%（991 → 3,199）。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流入全体は 1,988 → 673 人（-66%）。SNS 施策の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Google -1.7% / Yahoo -3.0% と外部検索はほぼ横ばい。</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 ¥9,706,322、前年比 +35.7% で大幅増収</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84,921人（+24.8%）で大幅拡大</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客単価 ¥11,583（+14.0%）、7月比 +23.2% でV字回復</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PEARLY GATES +157%（¥747K → ¥1,919K）</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Sun Mountain 新規 ¥859K / MASTER BUNNY +101%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楽天市場トップ +86.5% / Criteoリタゲ +96.9%</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RPP ROAS 372.3% を予算 -23% でも維持、CPC ¥33→¥28</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CVR 0.99%（7月 1.35% から -0.36pt）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広告依存度 60.5%（前月 51.1% / +9.4pt）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-66%（TikTok 0 継続 / Facebook -17%）</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縮小カテゴリの品揃え見直し</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シャツ・ポロシャツ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¥253,550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47.6%</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キャディバッグ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¥174,000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46.8%</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カートバッグ・ラウンドバッグ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¥164,400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¥204,200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80.5%</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パンツ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¥166,250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61.4%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帽子・バイザー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¥71,200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¥134,140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53.1%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ボストンバッグ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¥69,000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アンダーウェア</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その他</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¥130,700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42.4%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トラベルカバー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91.7%</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ベルト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135.1%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トートバッグ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93.0%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ボディバッグ・ウエストポーチ</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スカート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フェアウェイウッド用</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¥24,900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セーター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Tommy Hilfiger Golf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表は売上上位15カテゴリを掲載</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B98A1E"/>
                </a:solidFill>
                <a:latin typeface="Calibri" pitchFamily="34" charset="0"/>
                <a:ea typeface="Calibri" pitchFamily="34" charset="-122"/>
                <a:cs typeface="Calibri" pitchFamily="34" charset="-120"/>
              </a:rPr>
              <a:t>SECTION 02</a:t>
            </a:r>
            <a:endParaRPr lang="en-US" sz="1400" dirty="0"/>
          </a:p>
        </p:txBody>
      </p:sp>
      <p:sp>
        <p:nvSpPr>
          <p:cNvPr id="3" name="Text 1"/>
          <p:cNvSpPr txBox="1"/>
          <p:nvPr/>
        </p:nvSpPr>
        <p:spPr>
          <a:xfrm>
            <a:off x="822960" y="196596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BAG MANIA</a:t>
            </a:r>
            <a:endParaRPr lang="en-US" sz="5200" dirty="0"/>
          </a:p>
        </p:txBody>
      </p:sp>
      <p:sp>
        <p:nvSpPr>
          <p:cNvPr id="4" name="Text 2"/>
          <p:cNvSpPr txBox="1"/>
          <p:nvPr/>
        </p:nvSpPr>
        <p:spPr>
          <a:xfrm>
            <a:off x="841248" y="286207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4904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JILL STUART）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楽天市場店</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¥14,905,535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¥15,405,720  /  -3.2%</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184,280  /  -27.9%</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¥14,905,535（前年比 -3.2%）でほぼ前年並みを維持。アクセス -27.9% の大幅減を CVR +0.26pt が打ち消した。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は直近13ヶ月で最高水準（前年 0.63% / 前月 0.87%）。流入は減ったが購買意欲の高い層が残っている。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アクセス減の最大要因は SNS の消失：Instagram 7,287 → 782（-89.3%）/ Facebook 1,067 → 0。SNS計 -90.6%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アクセス減 -24,834人のうち約 30%（-7,572人）を占める。楽天内流入も一律 -15〜16% で縮小。</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ブランドは JILL STUART +4%（構成比 42.7% で首位継続）/ BEAMS +67% / PATRICK COX +11% / Pinky&amp;Dianne +7% が伸長。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MARGARET HOWELL -29% / UNGARO -30% / MANIUNO -42% が後退。中堅ブランドの落ち込みが売上減の主因。</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¥16.44M   →   ¥14.91M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¥14,905,535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¥15,405,720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132,898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184,280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-27.9%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0.89%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0.63%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+0.26pt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¥12,600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¥13,327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-5.5%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1,183件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1,156件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アクセスが -27.9%（-51,382人）と大きく減る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一方で、売上は -3.2% にとどまった。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+0.26pt / 売上件数 +2.3% が示すとおり、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「買う人」の数はむしろ増えている。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つまり8月に失ったのは購買につながらない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低質な流入。SNS（Instagram / Facebook）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経由の -7,572人がその中心で、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売上インパクトは限定的だった。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ただしアクセス基盤そのものは縮小しており、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 -15.9% / 店舗商品ページ -16.0%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-15.0% と楽天内も一律で減少。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中期的には集客の立て直しが必要。</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-5.5% は名刺入れ・キーケースなど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小物カテゴリの構成比上昇による。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売上構造の変化（商品分析ベース / 売上 -¥450K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・メンズ財布  +¥366K  /  ハンドバッグ  +¥288K  /  名刺入れ  +¥168K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・メンズコインケース  +¥58K  /  ボストンバッグ  +¥48K  /  キーケース  +¥28K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・レディース財布  -¥893K（最大要因・主力カテゴリ）</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・トートバッグ  -¥245K  /  UNGARO 口金財布系  -¥330K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・ボディバッグ・ウエストポーチ  -¥129K  /  ショルダーバッグ  -¥100K</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¥15,405,720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¥17,319,450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¥15,192,320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¥17,506,556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¥29,521,369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¥25,176,858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¥22,070,327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¥32,728,062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¥18,941,785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¥14,795,242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¥16,683,793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¥16,444,213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¥12,190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B98A1E"/>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¥14,905,535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¥12,600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2026/08（ゴールド）は ¥14.91M で13ヶ月中の底値圏。売上ピークは 2026/03 ¥32.73M、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2025/12 ¥29.52M で、Q4セール期と3月決算期に需要が集中する構造。</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8月は前年 ¥15.41M → -3.2%、前月 ¥16.44M → -9.4%。端境期で例年どおりの水準。</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注目すべきは CVR。0.53%（2026/02）を底に 6ヶ月連続で改善し、8月 0.89% は13ヶ月中最高。</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流入規模は縮小しているが、転換効率は着実に上がっている。</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¥3,000,000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92.24%</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101,633</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0.10%</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¥2,767,357</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割引後も同額</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270.5%</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307.0% / -36.5pt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¥7,486,655</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50.2%</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¥4,522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612件 / CVR 0.60%</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270.5% で前月（307.0%）から -36.5pt 悪化。予算は ¥3,000,000 据え置きだが、消化率が 88.29% → 92.24% へ上昇し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広告費は ¥2,648,932 → ¥2,767,357（+4.5%）に増加。にもかかわらず広告経由売上は ¥8,132,531 → ¥7,486,655（-7.9%）へ減少した。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¥21）で +33% 上昇、CPA ¥4,522（前月 ¥3,349）も +35% 悪化。クリック単価の高騰が効率悪化の主因。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広告CVR 0.60%（前月 0.62%）は横ばい。店舗全体のCVRが 0.89% と改善しているのに対し広告経由が伸びていない点に注目。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オーガニックの方が転換効率が高く、広告予算をそのまま積むより入札の選別を強めるほうが合理的。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50.2%（前月 49.4%）はほぼ横ばい。売上の半分を RPP が支える構造は継続している。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2026年8月は割引後実績額と実績額がともに ¥2,767,357 で同額。ROAS(720時間) はこの実績額基準。</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132,898人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-27.9%</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0.89%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0.63% / +0.26pt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¥12,600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¥13,327 / -5.5%</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 132,898人（-27.9%）。参照元ベースでも 156,607 → 131,773 人（-15.9%）で、いずれも大幅減。</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減少の中心は SNS。Instagram 7,287 → 782（-89.3%）、Facebook 1,067 → 0（消滅）で SNS計 -90.6%（-7,572人）。</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参照元ベースの減少 -24,834人のうち約 30% を SNS が占める。残りは楽天内流入の一律縮小（サーチ -15.9% 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0.89% は前年 +0.26pt、直近13ヶ月で最高。売上件数も +2.3% と増えており、失った流入は購買に結びついていなかった層。</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¥12,600（-5.5%）。名刺入れ +35.7% / キーケース +5.5% など小物カテゴリの構成比上昇が単価を押し下げた。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Criteoリタゲ合計は 5,210 → 4,141 人（-20.5%）。sin.creativecdn.com -43.2% の落ち込みが大きく、配信量の見直しが必要。</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-14.1%</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154,796   →   132,898</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+0.02pt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0.87%   →   0.89%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+3.4%</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¥12,190   →   ¥12,600</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¥5,803,100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¥1,872,800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MARGARET HOWELL</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PATRICK COX</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UNGARO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¥754,350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LANVIN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¥509,100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Mila schon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MANIUNO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その他</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950" b="1" dirty="0">
                          <a:solidFill>
                            <a:srgbClr val="0E2038"/>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¥13,575,750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1,277件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BF5E6"/>
          </a:solidFill>
          <a:ln w="12700">
            <a:solidFill>
              <a:srgbClr val="B98A1E"/>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JILL STUART</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¥5,803,100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536件  /  42.7%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104%（¥5.59M → ¥5.80M）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Pinky&amp;Dianne</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¥1,872,800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160件  /  13.8%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107%（堅調） ▲</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MARGARET HOWELL</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¥1,656,000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101件  /  12.2%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71%（¥2.33M → ¥1.66M）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PATRICK COX</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¥1,250,500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115件  /  9.2%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111%（伸長）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BEAMS</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¥1,084,300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131件  /  8.0%</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167%（¥650K → ¥1,084K） ▲▲</a:t>
            </a:r>
            <a:endParaRPr lang="en-US" sz="950" dirty="0"/>
          </a:p>
        </p:txBody>
      </p:sp>
      <p:sp>
        <p:nvSpPr>
          <p:cNvPr id="32" name="Text 28"/>
          <p:cNvSpPr txBox="1"/>
          <p:nvPr/>
        </p:nvSpPr>
        <p:spPr>
          <a:xfrm>
            <a:off x="502920" y="51389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¥14,905,535 に対する捕捉率 91.1%。</a:t>
            </a:r>
            <a:endParaRPr lang="en-US" sz="850" dirty="0"/>
          </a:p>
        </p:txBody>
      </p:sp>
      <p:sp>
        <p:nvSpPr>
          <p:cNvPr id="33" name="Text 29"/>
          <p:cNvSpPr txBox="1"/>
          <p:nvPr/>
        </p:nvSpPr>
        <p:spPr>
          <a:xfrm>
            <a:off x="502920" y="5486400"/>
            <a:ext cx="5532120" cy="731520"/>
          </a:xfrm>
          <a:prstGeom prst="rect">
            <a:avLst/>
          </a:prstGeom>
          <a:noFill/>
          <a:ln/>
        </p:spPr>
        <p:txBody>
          <a:bodyPr wrap="square" lIns="0" tIns="0" rIns="0" bIns="0" rtlCol="0" anchor="t"/>
          <a:lstStyle/>
          <a:p>
            <a:pPr indent="0" marL="0">
              <a:buNone/>
            </a:pPr>
            <a:r>
              <a:rPr lang="en-US" sz="900" dirty="0">
                <a:solidFill>
                  <a:srgbClr val="1F2733"/>
                </a:solidFill>
                <a:latin typeface="Meiryo" pitchFamily="34" charset="0"/>
                <a:ea typeface="Meiryo" pitchFamily="34" charset="-122"/>
                <a:cs typeface="Meiryo" pitchFamily="34" charset="-120"/>
              </a:rPr>
              <a:t>▶  上位3ブランドで構成比 68.7%。JILL STUART 単独で 42.7% と依存度が高く、同ブランドの主力商品入替が店舗全体の売上を直接左右する構造。</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2743200"/>
                <a:gridCol w="1572768"/>
                <a:gridCol w="822960"/>
                <a:gridCol w="1572768"/>
                <a:gridCol w="822960"/>
                <a:gridCol w="1261872"/>
                <a:gridCol w="2377440"/>
              </a:tblGrid>
              <a:tr h="30632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¥5,803,100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536件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¥5,590,500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¥1,872,800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¥1,755,750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堅調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¥1,656,000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¥1,250,500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¥1,123,950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¥649,600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167%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大幅成長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¥754,350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¥1,084,500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¥509,100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¥595,400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微減</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¥238,500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¥158,000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伸長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¥233,000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¥400,000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大幅減少 ▼</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¥174,100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¥335,300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99件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52%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減少</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¥13,575,750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1,277件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¥14,026,000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1,253件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502920" y="5193792"/>
            <a:ext cx="11173968" cy="1097280"/>
          </a:xfrm>
          <a:prstGeom prst="roundRect">
            <a:avLst>
              <a:gd name="adj" fmla="val 4167"/>
            </a:avLst>
          </a:prstGeom>
          <a:solidFill>
            <a:srgbClr val="FAFBFD"/>
          </a:solidFill>
          <a:ln w="12700">
            <a:solidFill>
              <a:srgbClr val="DCE1E8"/>
            </a:solidFill>
            <a:prstDash val="solid"/>
          </a:ln>
        </p:spPr>
      </p:sp>
      <p:sp>
        <p:nvSpPr>
          <p:cNvPr id="9" name="Text 5"/>
          <p:cNvSpPr txBox="1"/>
          <p:nvPr/>
        </p:nvSpPr>
        <p:spPr>
          <a:xfrm>
            <a:off x="704088" y="5285232"/>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0" name="Text 6"/>
          <p:cNvSpPr txBox="1"/>
          <p:nvPr/>
        </p:nvSpPr>
        <p:spPr>
          <a:xfrm>
            <a:off x="704088" y="5559552"/>
            <a:ext cx="10771632" cy="640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上位2ブランド（JILL STUART +4% / Pinky&amp;Dianne +7%）と BEAMS +67% / PATRICK COX +11% が伸長し、全体では -3% に踏みとどまった。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後退したのは中堅ブランド。MARGARET HOWELL -29%（-¥677K）/ UNGARO -30%（-¥330K）/ MANIUNO -42%（-¥167K）の3ブランドで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計 -¥1,174K の減少となり、全体の売上減 -¥450K を上回る。上位ブランドの伸びがこれを相殺した構図。</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BEAMS は DESIGN シリーズの二つ折り財布2型（新規 計 ¥410K）が寄与。ブランド構成の入れ替えが進行している。</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¥7,366,400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¥8,259,000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¥1,128,250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¥1,373,150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¥1,092,400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¥726,500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バックパック・リュック</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¥672,400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¥469,000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¥556,200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¥516,250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¥476,400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¥576,800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261.4%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¥174,200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26.1%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キーホルダー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クラッチバッグ・セカンドバッグ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袋・ギフトバッグ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ネックストラップ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クレジットカードケース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バッグオーガナイザー・バッグインバッグ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9" name="Shape 4"/>
          <p:cNvSpPr/>
          <p:nvPr/>
        </p:nvSpPr>
        <p:spPr>
          <a:xfrm>
            <a:off x="502920" y="5577840"/>
            <a:ext cx="11173968" cy="777240"/>
          </a:xfrm>
          <a:prstGeom prst="roundRect">
            <a:avLst>
              <a:gd name="adj" fmla="val 5882"/>
            </a:avLst>
          </a:prstGeom>
          <a:solidFill>
            <a:srgbClr val="FAFBFD"/>
          </a:solidFill>
          <a:ln w="12700">
            <a:solidFill>
              <a:srgbClr val="DCE1E8"/>
            </a:solidFill>
            <a:prstDash val="solid"/>
          </a:ln>
        </p:spPr>
      </p:sp>
      <p:sp>
        <p:nvSpPr>
          <p:cNvPr id="10" name="Text 5"/>
          <p:cNvSpPr txBox="1"/>
          <p:nvPr/>
        </p:nvSpPr>
        <p:spPr>
          <a:xfrm>
            <a:off x="704088" y="566928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5943600"/>
            <a:ext cx="10771632" cy="3200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¥14,026,000 → ¥13,575,750（前年比 97%）。主力のレディース財布が -10.8%（-¥893K）で全体を押し下げた一方、メンズ財布 +50.4%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ハンドバッグ +107.3% / 名刺入れ +35.7% / メンズコインケース +161.4% と、財布以外・メンズ領域が伸長。商品構成の多角化が進んでいる。</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¥720,000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¥624,000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¥456,000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¥354,000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L字ファスナー長財布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¥350,000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JSLW0DK1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キーケース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¥331,500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¥286,000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98A1E"/>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長財布かぶせ</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¥225,000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444752"/>
          </a:xfrm>
          <a:prstGeom prst="roundRect">
            <a:avLst>
              <a:gd name="adj" fmla="val 3165"/>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8商品が JILL STUART。1位 グローリア 折り財布 ¥720,000（60件）、2位 エターナル L字ファスナー折り財布 ¥624,000（+73.3%）。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留め具タイプで明暗が分かれた。L字ファスナー系（2位 +73.3% / 5位 +38.9%）とラウンドファスナー（6位 +26.3%）が伸長する一方、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口金（がま口）系は 3位 -39.7% / 8位 -68.1% と大幅減。同じシリーズ内でも留め具によって前年比が逆方向に振れている。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4位 グローリア 名刺入れ +168.2%（59件）が財布以外で最大の伸び。9位 BEAMS DESIGN Aggressive 二つ折り財布 ¥270,000 が新規ランクイン。</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2,759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レディース (886)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+211.4%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1,636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財布 (2,745)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-40.4%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1,527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長財布 レディース (832)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+83.5%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(151)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+568.2%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二つ折り財布 レディース (446)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+117.3%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財布 二つ折り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98A1E"/>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キーケース レディース (492)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612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名刺入れ レディース (389)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+57.3%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マーガレットハウエル 財布 (660)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-28.3%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447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ジルスチュアート バッグ (323)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+38.4%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流入の質が入れ替わった。一般KWが急伸：「財布 レディース」+211.4%（886 → 2,759）で首位、「キーケース」+568.2%（151 → 1,009）、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「長財布 レディース」+83.5%、「二つ折り財布 レディース」+117.3%。カテゴリ名検索での露出が大きく取れている。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逆にブランド指名KWは軒並み減少：「ジルスチュアート 財布」-40.4%（2,745 → 1,636、前年1位から陥落）、「マーガレットハウエル 財布」</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-28.3%、「ピンキー&amp;ダイアン 財布」-42.2%（514 → 297）、「パトリックコックス 財布」-21.8%。前年2位「財布 レディース 二つ折」も -72.3%。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一般KWは競合と並ぶ土俵のため、指名検索より転換率が落ちやすい。にもかかわらず CVR 0.89% と改善している点は商品ページ側の強さを示す。</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一方で指名検索の減少はブランド想起の弱まりを意味し、中期的な集客リスク。SNS 消失（Instagram -89%）との関連が疑われる。</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131,773 人  ／  前年 156,607 人  ／  -15.9%</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51,658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19,553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23,267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13,060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6,855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+79.2%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5,453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5,887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5,963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-25.5%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みんなのレビュー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-43.2%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Instagram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7,287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-89.3%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Facebook</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の消失が最大の減少要因。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7,287 → 782（-89.3%）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Facebook 1,067 → 0（消滅）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SNS計 8,354 → 782（-90.6% / -7,572人）で、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参照元減少 -24,834人の約30%を占める。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楽天内流入も一律で縮小。楽天サーチ -15.9%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店舗商品ページ -16.0% / 楽天市場トップ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-15.0% と、ほぼ同じ減少率。シェア構成は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前年とほぼ変わらず（楽天サーチ 33.0% で同率）、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流入全体が等比で縮んだ形。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5,210 → 4,141 人（-20.5%）。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ads.as.criteo.com は +8.4% と伸びたが、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sin.creativecdn.com が -43.2% と大きく減少。</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+79.2%（3,199 → 5,734）。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 アプリ経由の計測が拡大。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-25.5% / Google -3.2%。外部検索は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の落ち込みが目立つ。</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Aggressive 二つ折り財布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¥270,000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L字ファスナー折り財布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¥360,000 → ¥624,000（+73%）</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JSLW3AM1</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名刺入れ</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¥132,000 → ¥354,000（+168%）</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長財布（かぶせ）</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¥204,000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JSLW6ST2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Honey L字ファスナー長財布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¥176,000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BMMW6CS2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Passive 二つ折り財布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¥140,400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JSLW3AS1</a:t>
            </a:r>
            <a:endParaRPr lang="en-US" sz="950" dirty="0"/>
          </a:p>
        </p:txBody>
      </p:sp>
      <p:sp>
        <p:nvSpPr>
          <p:cNvPr id="34" name="Text 31"/>
          <p:cNvSpPr txBox="1"/>
          <p:nvPr/>
        </p:nvSpPr>
        <p:spPr>
          <a:xfrm>
            <a:off x="6336792" y="179222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グローリア 口金折り財布</a:t>
            </a:r>
            <a:endParaRPr lang="en-US" sz="85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¥897,000 → ¥286,000（-68%）</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8" name="Text 35"/>
          <p:cNvSpPr txBox="1"/>
          <p:nvPr/>
        </p:nvSpPr>
        <p:spPr>
          <a:xfrm>
            <a:off x="6336792" y="2414016"/>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口金折り財布</a:t>
            </a:r>
            <a:endParaRPr lang="en-US" sz="85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¥450,000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JSLW0DS1</a:t>
            </a:r>
            <a:endParaRPr lang="en-US" sz="950" dirty="0"/>
          </a:p>
        </p:txBody>
      </p:sp>
      <p:sp>
        <p:nvSpPr>
          <p:cNvPr id="42" name="Text 39"/>
          <p:cNvSpPr txBox="1"/>
          <p:nvPr/>
        </p:nvSpPr>
        <p:spPr>
          <a:xfrm>
            <a:off x="6336792" y="3035808"/>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口金折り財布</a:t>
            </a:r>
            <a:endParaRPr lang="en-US" sz="85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¥756,000 → ¥456,000（-40%）</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JSLW3DS1</a:t>
            </a:r>
            <a:endParaRPr lang="en-US" sz="950" dirty="0"/>
          </a:p>
        </p:txBody>
      </p:sp>
      <p:sp>
        <p:nvSpPr>
          <p:cNvPr id="46" name="Text 43"/>
          <p:cNvSpPr txBox="1"/>
          <p:nvPr/>
        </p:nvSpPr>
        <p:spPr>
          <a:xfrm>
            <a:off x="6336792" y="3657600"/>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折り財布</a:t>
            </a:r>
            <a:endParaRPr lang="en-US" sz="85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¥285,000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UULW6AS4</a:t>
            </a:r>
            <a:endParaRPr lang="en-US" sz="950" dirty="0"/>
          </a:p>
        </p:txBody>
      </p:sp>
      <p:sp>
        <p:nvSpPr>
          <p:cNvPr id="50" name="Text 47"/>
          <p:cNvSpPr txBox="1"/>
          <p:nvPr/>
        </p:nvSpPr>
        <p:spPr>
          <a:xfrm>
            <a:off x="6336792" y="4279392"/>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口金付折り財布</a:t>
            </a:r>
            <a:endParaRPr lang="en-US" sz="85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¥208,000 → ¥39,000（-81%）</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UULW6AT1</a:t>
            </a:r>
            <a:endParaRPr lang="en-US" sz="950" dirty="0"/>
          </a:p>
        </p:txBody>
      </p:sp>
      <p:sp>
        <p:nvSpPr>
          <p:cNvPr id="54" name="Text 51"/>
          <p:cNvSpPr txBox="1"/>
          <p:nvPr/>
        </p:nvSpPr>
        <p:spPr>
          <a:xfrm>
            <a:off x="6336792" y="4901184"/>
            <a:ext cx="338328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U by ungaro アイガー 口金長財布</a:t>
            </a:r>
            <a:endParaRPr lang="en-US" sz="85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¥150,000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 — 留め具タイプの明確な移行</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落ち商品6件のうち5件が「口金（がま口）」タイプ。JILL STUART 3型（グローリア -68% / ルナティ 消滅 / エターナル -40%）と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U by ungaro 2型（-81% / 消滅）で、計 -¥1,674K。ブランドを跨いで同じ形状が同時に落ちており、需要そのものの移行と判断できる。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対して伸び商品は L字ファスナー（エターナル +73% / Honey 新規）とかぶせ型（Honey 長財布 新規）、BEAMS の二つ折り2型。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秋冬の仕入・ページ強化は L字ファスナー／かぶせ型に寄せ、口金型は在庫消化と露出縮小に切り替えるのが妥当。</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CVR 0.89%（+0.26pt）で直近13ヶ月の最高水準</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売上件数 +2.3%（1,156件 → 1,183件）と実数で増加</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-27.9% に対し売上 -3.2% に踏みとどまる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+4%（構成比 42.7%）で首位継続</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BEAMS +67%（¥650K → ¥1,084K）が最大の伸び</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PATRICK COX +11% / Pinky&amp;Dianne +7% / Mila schon +51%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メンズ財布 +50% / ハンドバッグ +107% / 名刺入れ +36%</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JILL STUART 名刺入れ +239% / キーケース +43% /</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トートバッグ +416% と財布以外への拡張が進行</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一般KW が急伸（財布 レディース +211% / キーケース +568%）</a:t>
            </a:r>
            <a:endParaRPr lang="en-US" sz="1000" dirty="0"/>
          </a:p>
        </p:txBody>
      </p:sp>
      <p:sp>
        <p:nvSpPr>
          <p:cNvPr id="9" name="Shape 6"/>
          <p:cNvSpPr/>
          <p:nvPr/>
        </p:nvSpPr>
        <p:spPr>
          <a:xfrm>
            <a:off x="6172200" y="1207008"/>
            <a:ext cx="5513832" cy="4572000"/>
          </a:xfrm>
          <a:prstGeom prst="roundRect">
            <a:avLst>
              <a:gd name="adj" fmla="val 1200"/>
            </a:avLst>
          </a:prstGeom>
          <a:solidFill>
            <a:srgbClr val="FDF8EC"/>
          </a:solidFill>
          <a:ln w="12700">
            <a:solidFill>
              <a:srgbClr val="EADFC2"/>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B98A1E"/>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-90.6%（Instagram -89% / Facebook 消滅）</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アクセス減の約30%。SNS運用の再開・再構築が最優先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ブランド指名KW が全面減（ジルスチュアート 財布 -40%）</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SNS消失と連動した想起低下。指名検索の回復施策が必要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口金（がま口）財布が全面後退（5型で -¥1,674K）</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L字ファスナー／かぶせ型へ仕入・露出をシフト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MARGARET HOWELL -29% / UNGARO -30% / MANIUNO -42%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中堅3ブランドで -¥1,174K。品揃え刷新か縮小の判断を</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RPP ROAS 270.5%（-36.5pt）/ CPA ¥4,522（+35%）</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CPC ¥21→¥28 の高騰。入札の選別強化で効率を戻す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Criteoリタゲ -20.5%（sin.creativecdn.com -43.2%）</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配信設定の確認が必要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客単価 -5.5% → 小物比率上昇。高単価バッグの露出強化</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JILL STUART</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レディース財布</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¥4,329,300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¥4,794,000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90.3%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名刺入れ</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¥209,500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238.7%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キーケース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¥345,500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ハンドバッグ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344.4%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定期入れ・パスケース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¥151,000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レディースコインケース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103.9%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515.9%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ショルダーバッグ・メッセンジャーバッグ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98A1E"/>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¥58,500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182.8%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B98A1E"/>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JILL STUART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¥5,590,500 → ¥5,803,100（前年比 104% / +3.8%）</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主力のレディース財布は -9.7%（¥4,794K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¥4,329K）。件数も 364件 → 327件 と減少。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口金タイプ3型の後退が直接の要因。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それを財布以外が補った。名刺入れ +139%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（¥210K → ¥500K・81件）、キーケース +43%、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トートバッグ +416%、ハンドバッグ +244%、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ショルダーバッグは新規 ¥85K。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結果、財布の構成比は 85.8% → 74.6% 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-11.2pt 低下。単一カテゴリ依存が緩和され、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ブランドとしての幅が出てきている。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推奨：伸びている名刺入れ・キーケース・バッグ</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を独立導線で強化しつつ、財布は L字ファスナー</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系へ主力を移す。</a:t>
            </a:r>
            <a:endParaRPr lang="en-US" sz="950" dirty="0"/>
          </a:p>
        </p:txBody>
      </p:sp>
      <p:sp>
        <p:nvSpPr>
          <p:cNvPr id="11" name="Text 7"/>
          <p:cNvSpPr txBox="1"/>
          <p:nvPr/>
        </p:nvSpPr>
        <p:spPr>
          <a:xfrm>
            <a:off x="502920" y="484632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0E7C7B"/>
                </a:solidFill>
                <a:latin typeface="Calibri" pitchFamily="34" charset="0"/>
                <a:ea typeface="Calibri" pitchFamily="34" charset="-122"/>
                <a:cs typeface="Calibri" pitchFamily="34" charset="-120"/>
              </a:rPr>
              <a:t>SECTION 03</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Yahoo! ショッピング店 ／ 2026年8月度</a:t>
            </a:r>
            <a:endParaRPr lang="en-US" sz="2000" dirty="0"/>
          </a:p>
        </p:txBody>
      </p:sp>
      <p:sp>
        <p:nvSpPr>
          <p:cNvPr id="5" name="Text 3"/>
          <p:cNvSpPr txBox="1"/>
          <p:nvPr/>
        </p:nvSpPr>
        <p:spPr>
          <a:xfrm>
            <a:off x="841248" y="3749040"/>
            <a:ext cx="10515600" cy="109728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アクセス・転換率分析  /  月次売上推移</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Yahoo広告パフォーマンス  /  商品別売上ランキング TOP10  /  ブランド別売上分析</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デバイス別売上・優良配送分析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Yahoo!ショッピング店</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¥7,167,305</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¥5,129,320  /  +39.7%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27,823  /  +25.8%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 ¥7,167,305（前年比 +39.7%）。楽天 BAG MANIA -3.2% / YAMANIGOLF +35.7% と比べ、3店舗で最大の伸び率。</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+25.8% / セッション +27.1% / PV +25.0% と集客が全方位で拡大。購買率 1.65%（+0.22pt）も改善し、注文数は 585件（+44.4%）。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成長の実体はアプリ。アプリ経由売上 ¥5,697,870（+60.0%）で構成比 79.5%（前年 69.4% / +10.1pt）。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スマホWeb -6.4% / PC -6.2% と非アプリ経路は縮小しており、伸びは完全にアプリ由来。</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優良配送も拡大。売上 ¥1,615,565（+56.5%）/ 注文 143件（+64.4%）で、売上シェア 22.54%（+2.41pt）。</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¥12,400（-3.8%）はやや低下。Yahoo広告は ROAS 397%（前月 463.9%）と効率が落ちた点が唯一の懸念。</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-9.4%</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¥7.91M   →   ¥7.17M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+1.0%</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¥12,280   →   ¥12,400</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売上金額</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¥7,167,305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¥5,129,320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+39.7%</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585件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405件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+44.4%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注文者数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578人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398人</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+45.2%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訪問者数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35,012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27,823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セッション数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56,473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44,446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+27.1%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ページビュー</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120,896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96,718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+25.0%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購買率</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+0.22pt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¥12,400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¥12,888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-3.8%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売上・注文・集客のすべてが前年を上回る、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3店舗で唯一の全面プラス。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 +44.4% が売上 +39.7% を上回る。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-3.8% を件数の伸びが補った形で、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「買う人が増えた」ことによる素直な増収。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 は楽天 BAG MANIA（0.89%）の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約1.85倍。Yahoo は購入意欲の高い顧客が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集まる構造が継続している。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ただし前月 2026/07 の 2.06% からは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-0.41pt 低下。訪問者が +11.8% 増えた分、</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相対的に転換率が薄まった。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回遊 3.45ページ</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（-0.9%）は横ばい。サイト内行動は安定。</a:t>
            </a:r>
            <a:endParaRPr lang="en-US" sz="950" dirty="0"/>
          </a:p>
        </p:txBody>
      </p:sp>
      <p:sp>
        <p:nvSpPr>
          <p:cNvPr id="10" name="Shape 6"/>
          <p:cNvSpPr/>
          <p:nvPr/>
        </p:nvSpPr>
        <p:spPr>
          <a:xfrm>
            <a:off x="502920" y="3977640"/>
            <a:ext cx="6766560" cy="1828800"/>
          </a:xfrm>
          <a:prstGeom prst="roundRect">
            <a:avLst>
              <a:gd name="adj" fmla="val 2500"/>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売上増 +¥2,038K の内訳（デバイス別）</a:t>
            </a:r>
            <a:endParaRPr lang="en-US" sz="1100" dirty="0"/>
          </a:p>
        </p:txBody>
      </p:sp>
      <p:sp>
        <p:nvSpPr>
          <p:cNvPr id="12" name="Text 8"/>
          <p:cNvSpPr txBox="1"/>
          <p:nvPr/>
        </p:nvSpPr>
        <p:spPr>
          <a:xfrm>
            <a:off x="704088" y="4343400"/>
            <a:ext cx="6364224" cy="137160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・アプリ  ¥3,560,790 → ¥5,697,870  （+¥2,137K / +60.0%）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・スマホWeb  ¥1,144,315 → ¥1,071,675  （-¥73K / -6.4%）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・PC  ¥424,215 → ¥397,760  （-¥26K / -6.2%）</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増加分はアプリ単独で +¥2,137K。非アプリ経路の -¥99K を差し引いて +¥2,038K。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の成長はアプリ内の露出獲得によるものと断定できる。</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訪問者数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35,012人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購買率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1.65%</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1.43% / +0.22pt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¥12,400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¥12,888 / -3.8%</a:t>
            </a:r>
            <a:endParaRPr lang="en-US" sz="950" dirty="0"/>
          </a:p>
        </p:txBody>
      </p:sp>
      <p:sp>
        <p:nvSpPr>
          <p:cNvPr id="18" name="Shape 15"/>
          <p:cNvSpPr/>
          <p:nvPr/>
        </p:nvSpPr>
        <p:spPr>
          <a:xfrm>
            <a:off x="502920" y="2697480"/>
            <a:ext cx="11173968" cy="2240280"/>
          </a:xfrm>
          <a:prstGeom prst="roundRect">
            <a:avLst>
              <a:gd name="adj" fmla="val 2041"/>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783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訪問者 35,012人（+25.8%）／ セッション 56,473（+27.1%）／ PV 120,896（+25.0%）と、集客指標が揃って拡大。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PV の伸び（+25.0%）が訪問者の伸び（+25.8%）とほぼ同率で、1人あたりの回遊量は変わらないまま母数が増えた健全な拡大。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購買率 1.65%（前年 +0.22pt）。楽天 BAG MANIA の 0.89% に対し約1.85倍で、Yahoo の高転換体質は継続。</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一方、前月 2026/07 の 2.06% からは -0.41pt。訪問者が +11.8% 増えた分だけ相対的に転換率が薄まった形で、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注文件数自体は 659件 → 585件（-11.2%）と減少している点には注意が必要。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¥12,400（-3.8%）。名刺入れ（平均単価 ¥6,566）など小物の販売増が単価を押し下げた。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平均滞在時間 199秒（-2.0%）／ 平均回遊ページ数 3.45（-0.9%）はほぼ横ばいで、サイト内の行動品質は維持されている。</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訪問者数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+11.8%</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31,309   →   35,012</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購買率</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-0.41pt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2.06%   →   1.65%</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注文件数</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659件   →   585件</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¥5,129,320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¥12,888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¥7,056,550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¥7,056,215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¥9,715,700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¥11,084,249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¥13,102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¥10,399,845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¥13,333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¥9,856,826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¥14,060,721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¥7,838,095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¥12,683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¥6,540,603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¥12,901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¥6,387,312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¥7,908,515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¥12,280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0E7C7B"/>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¥7,167,305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¥12,400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2026/08（ティール）は ¥7.17M。前年同月 ¥5.13M から +39.7% と大きく底上げされた。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売上ピークは 2026/03 ¥14.06M、2025/12 ¥11.08M、2026/01 ¥10.40M。Q4セール期と</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3月決算期に需要が集中する構造は楽天店と共通。</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¥7.91M からは -9.4%。ただし前年同月の水準（¥5.13M）を大きく上回っており、</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年間を通じたベースラインそのものが切り上がっている。</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Yahoo広告パフォーマンス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表示回数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4,346,242</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0.71%</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30,840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CPC ¥35（前月 ¥37）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広告費（配信実績）</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¥1,080,261</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請求額 ¥1,077,339</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397%</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前月 463.9% / -66.9pt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¥4,288,966</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月次売上の 59.8%</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¥3,052</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354件 / CVR 1.15%</a:t>
            </a:r>
            <a:endParaRPr lang="en-US" sz="950" dirty="0"/>
          </a:p>
        </p:txBody>
      </p:sp>
      <p:sp>
        <p:nvSpPr>
          <p:cNvPr id="30" name="Shape 27"/>
          <p:cNvSpPr/>
          <p:nvPr/>
        </p:nvSpPr>
        <p:spPr>
          <a:xfrm>
            <a:off x="502920" y="3877056"/>
            <a:ext cx="11173968" cy="1975104"/>
          </a:xfrm>
          <a:prstGeom prst="roundRect">
            <a:avLst>
              <a:gd name="adj" fmla="val 2315"/>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397% は絶対水準としては高効率（楽天 BAG MANIA 270.5% / YAMANIGOLF 372.3% を上回る）だが、前月 463.9% から -66.9pt 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広告費 ¥1,080,261（前月 ¥1,019,816 / +5.9%）に対し広告経由売上は ¥4,730,803 → ¥4,288,966（-9.3%）へ減少。投下を増やしたが回収が落ちた。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¥35（前月 ¥37）は改善、CTR 0.71%（前月 0.70%）も横ばい。つまりクリックまでの効率は落ちていない。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悪化しているのはクリック後。広告CVR 1.15%（前月 1.44% / -0.29pt）、CPA ¥3,052（前月 ¥2,575 / +18.5%）。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店舗全体の購買率も 2.06% → 1.65% と同方向に動いており、広告固有ではなく8月の需要全体が薄かった可能性が高い。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広告依存度 59.8%（前月 59.8%）で横ばい。売上の約6割を広告が支える構造は変わっていない。</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広告費はYahoo広告レポートの「利用金額（配信実績）」基準。請求額 ¥1,077,339 との差は ¥2,922。CVR・CPA は売上件数 354件から算出。</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594360"/>
                <a:gridCol w="1298448"/>
                <a:gridCol w="4224528"/>
                <a:gridCol w="1234440"/>
                <a:gridCol w="731520"/>
                <a:gridCol w="960120"/>
                <a:gridCol w="960120"/>
                <a:gridCol w="1170432"/>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訪問者数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購買率</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¥288,900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+15.6%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¥270,200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¥209,400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¥197,100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568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JSLW0DT1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エターナル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¥183,600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+33.3%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ラウンドファスナー長財布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¥130,600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3.70%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JSLW3AM1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グローリア 名刺入れ</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PDLWBES3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 パドロック L字ファスナー折り財布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¥118,200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BMMW6JS2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 DESIGN Aggressive 二つ折り財布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¥114,300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JSLW5AS1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 インプルーブ 口金折り財布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¥98,700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7C7B"/>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4956048"/>
            <a:ext cx="11173968" cy="1325880"/>
          </a:xfrm>
          <a:prstGeom prst="roundRect">
            <a:avLst>
              <a:gd name="adj" fmla="val 3448"/>
            </a:avLst>
          </a:prstGeom>
          <a:solidFill>
            <a:srgbClr val="FAFBFD"/>
          </a:solidFill>
          <a:ln w="12700">
            <a:solidFill>
              <a:srgbClr val="DCE1E8"/>
            </a:solidFill>
            <a:prstDash val="solid"/>
          </a:ln>
        </p:spPr>
      </p:sp>
      <p:sp>
        <p:nvSpPr>
          <p:cNvPr id="8" name="Text 4"/>
          <p:cNvSpPr txBox="1"/>
          <p:nvPr/>
        </p:nvSpPr>
        <p:spPr>
          <a:xfrm>
            <a:off x="704088" y="504748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321808"/>
            <a:ext cx="10771632" cy="86868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TOP10 のうち 8商品が JILL STUART。1位 グローリア 折り財布 ¥288,900（22件）、2位 グローリア 口金折り財布 ¥270,200（19件）。</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注目は購買率の差。7位 グローリア 名刺入れ 4.46% / 8位 PINKY&amp;DIANNE パドロック L字 4.07% / 6位 インプルーブ ラウンド長財布 3.70% と、</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上位商品（1位 1.78% / 3位 1.65%）の2倍以上。集客量は少ないが転換効率が突出しており、露出を増やす余地が最も大きい。</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特に 6位 インプルーブ ラウンドファスナー長財布 は訪問者189人・購買率3.70%・客単価 ¥18,657 と、少ない流入で高単価を取れている。</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前年比では 3位 エターナル L字ファスナー +220.2% が突出。一方 2位 グローリア 口金折り財布 は -13.6% で、留め具タイプによる明暗は楽天店と同傾向。</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6・9・10位の3商品が新規（インプルーブ2型・BEAMS DESIGN 1型）。新シリーズ投入が上位を押し上げている。</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035040" cy="914400"/>
        </p:xfrm>
        <a:graphic>
          <a:graphicData uri="http://schemas.openxmlformats.org/drawingml/2006/table">
            <a:tbl>
              <a:tblPr/>
              <a:tblGrid>
                <a:gridCol w="2011680"/>
                <a:gridCol w="1234440"/>
                <a:gridCol w="777240"/>
                <a:gridCol w="868680"/>
                <a:gridCol w="1143000"/>
              </a:tblGrid>
              <a:tr h="33832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平均単価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JILL STUART</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¥2,691,876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222件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¥12,126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Pinky&amp;Dianne</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¥986,951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76件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¥12,986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MARGARET HOWELL</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¥944,700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¥17,176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PATRICK COX</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¥690,320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¥10,620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BEAMS</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¥590,696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¥8,438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LANVIN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¥471,862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¥10,040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UNGARO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¥321,265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27件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¥11,899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MANIUNO</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¥286,250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14件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¥20,446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Mila schon</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¥134,600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¥8,973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38328">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その他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¥48,785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30件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0.7%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¥1,626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38328">
                <a:tc>
                  <a:txBody>
                    <a:bodyPr/>
                    <a:lstStyle/>
                    <a:p>
                      <a:pPr algn="l" indent="0" marL="0">
                        <a:buNone/>
                      </a:pPr>
                      <a:r>
                        <a:rPr lang="en-US" sz="1000" b="1" dirty="0">
                          <a:solidFill>
                            <a:srgbClr val="0E2038"/>
                          </a:solidFill>
                          <a:latin typeface="Meiryo" pitchFamily="34" charset="0"/>
                          <a:ea typeface="Meiryo" pitchFamily="34" charset="-122"/>
                          <a:cs typeface="Meiryo" pitchFamily="34" charset="-120"/>
                        </a:rPr>
                        <a:t>合計</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¥7,167,305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621件</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100.0%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0E2038"/>
                          </a:solidFill>
                          <a:latin typeface="Meiryo" pitchFamily="34" charset="0"/>
                          <a:ea typeface="Meiryo" pitchFamily="34" charset="-122"/>
                          <a:cs typeface="Meiryo" pitchFamily="34" charset="-120"/>
                        </a:rPr>
                        <a:t>¥11,541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675120" y="1280160"/>
            <a:ext cx="5010912" cy="4480560"/>
          </a:xfrm>
          <a:prstGeom prst="roundRect">
            <a:avLst>
              <a:gd name="adj" fmla="val 1020"/>
            </a:avLst>
          </a:prstGeom>
          <a:solidFill>
            <a:srgbClr val="FAFBFD"/>
          </a:solidFill>
          <a:ln w="12700">
            <a:solidFill>
              <a:srgbClr val="DCE1E8"/>
            </a:solidFill>
            <a:prstDash val="solid"/>
          </a:ln>
        </p:spPr>
      </p:sp>
      <p:sp>
        <p:nvSpPr>
          <p:cNvPr id="8" name="Text 4"/>
          <p:cNvSpPr txBox="1"/>
          <p:nvPr/>
        </p:nvSpPr>
        <p:spPr>
          <a:xfrm>
            <a:off x="6876288" y="1371600"/>
            <a:ext cx="460857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6876288" y="1645920"/>
            <a:ext cx="46085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上位3ブランドで構成比 64.6%。楽天 BAG MANIA</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（上位3で 68.7%、JILL STUART 単独 42.7%）より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分散しており、Yahoo のほうがブランドバランスが良い。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37.6%（222件・平均単価 ¥12,126）で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首位だが、楽天店ほどの一極集中ではない。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は構成比 4.0% ながら平均単価 ¥20,446 で</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全ブランド中最高。MARGARET HOWELL ¥17,176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合わせて高単価帯の受け皿として機能している。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逆に BEAMS は平均単価 ¥8,438 と最も低いが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注文70件で5位。低単価・高回転で件数を稼ぐ役割。</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チャネルごとにブランドの効き方が違う点も重要。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LANVIN は楽天店 3.8% に対し Yahoo では 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MANIUNO も 1.7% → 4.0% と Yahoo で構成比が高い。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チャネル別の品揃え・露出配分を検討する余地がある。</a:t>
            </a:r>
            <a:endParaRPr lang="en-US" sz="950" dirty="0"/>
          </a:p>
        </p:txBody>
      </p:sp>
      <p:sp>
        <p:nvSpPr>
          <p:cNvPr id="10" name="Text 6"/>
          <p:cNvSpPr txBox="1"/>
          <p:nvPr/>
        </p:nvSpPr>
        <p:spPr>
          <a:xfrm>
            <a:off x="502920" y="5486400"/>
            <a:ext cx="6035040" cy="566928"/>
          </a:xfrm>
          <a:prstGeom prst="rect">
            <a:avLst/>
          </a:prstGeom>
          <a:noFill/>
          <a:ln/>
        </p:spPr>
        <p:txBody>
          <a:bodyPr wrap="square" lIns="0" tIns="0" rIns="0" bIns="0" rtlCol="0" anchor="t"/>
          <a:lstStyle/>
          <a:p>
            <a:pPr indent="0" marL="0">
              <a:buNone/>
            </a:pPr>
            <a:r>
              <a:rPr lang="en-US" sz="800" dirty="0">
                <a:solidFill>
                  <a:srgbClr val="6B7280"/>
                </a:solidFill>
                <a:latin typeface="Meiryo" pitchFamily="34" charset="0"/>
                <a:ea typeface="Meiryo" pitchFamily="34" charset="-122"/>
                <a:cs typeface="Meiryo" pitchFamily="34" charset="-120"/>
              </a:rPr>
              <a:t>※ Yahooストア管理ツールの商品レポート（親商品行）を集計。合計は店舗売上 ¥7,167,305 と完全一致（捕捉率 100%）。2025年8月も同じ方法で集計し ¥5,129,320 と一致。</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73968" cy="914400"/>
        </p:xfrm>
        <a:graphic>
          <a:graphicData uri="http://schemas.openxmlformats.org/drawingml/2006/table">
            <a:tbl>
              <a:tblPr/>
              <a:tblGrid>
                <a:gridCol w="2743200"/>
                <a:gridCol w="1572768"/>
                <a:gridCol w="822960"/>
                <a:gridCol w="1572768"/>
                <a:gridCol w="822960"/>
                <a:gridCol w="1261872"/>
                <a:gridCol w="2377440"/>
              </a:tblGrid>
              <a:tr h="26060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注文数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JILL STUART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¥2,691,876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¥1,810,353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+¥882K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Pinky&amp;Dianne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¥986,951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¥928,064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堅調</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MARGARET HOWELL</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¥944,700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¥796,957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伸長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PATRICK COX</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¥690,320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¥427,455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BEAMS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¥590,696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¥292,320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LANVIN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¥471,862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¥224,740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UNGARO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¥321,265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¥270,635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伸長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MANIUNO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¥286,250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¥114,900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Mila schon</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¥134,600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大幅成長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その他</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¥48,785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30件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¥136,046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24件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大幅減少 ▼</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060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NOMADOI</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¥47,850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取扱終了</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0604">
                <a:tc>
                  <a:txBody>
                    <a:bodyPr/>
                    <a:lstStyle/>
                    <a:p>
                      <a:pPr algn="l" indent="0" marL="0">
                        <a:buNone/>
                      </a:pPr>
                      <a:r>
                        <a:rPr lang="en-US" sz="950" b="1" dirty="0">
                          <a:solidFill>
                            <a:srgbClr val="0E2038"/>
                          </a:solidFill>
                          <a:latin typeface="Meiryo" pitchFamily="34" charset="0"/>
                          <a:ea typeface="Meiryo" pitchFamily="34" charset="-122"/>
                          <a:cs typeface="Meiryo" pitchFamily="34" charset="-120"/>
                        </a:rPr>
                        <a:t>合計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¥7,167,305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621件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¥5,129,320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427件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0E2038"/>
                          </a:solidFill>
                          <a:latin typeface="Meiryo" pitchFamily="34" charset="0"/>
                          <a:ea typeface="Meiryo" pitchFamily="34" charset="-122"/>
                          <a:cs typeface="Meiryo" pitchFamily="34" charset="-120"/>
                        </a:rPr>
                        <a:t>140%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5230368"/>
            <a:ext cx="11173968" cy="1078992"/>
          </a:xfrm>
          <a:prstGeom prst="roundRect">
            <a:avLst>
              <a:gd name="adj" fmla="val 4237"/>
            </a:avLst>
          </a:prstGeom>
          <a:solidFill>
            <a:srgbClr val="FAFBFD"/>
          </a:solidFill>
          <a:ln w="12700">
            <a:solidFill>
              <a:srgbClr val="DCE1E8"/>
            </a:solidFill>
            <a:prstDash val="solid"/>
          </a:ln>
        </p:spPr>
      </p:sp>
      <p:sp>
        <p:nvSpPr>
          <p:cNvPr id="9" name="Text 5"/>
          <p:cNvSpPr txBox="1"/>
          <p:nvPr/>
        </p:nvSpPr>
        <p:spPr>
          <a:xfrm>
            <a:off x="704088" y="5321808"/>
            <a:ext cx="10771632"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総括</a:t>
            </a:r>
            <a:endParaRPr lang="en-US" sz="1100" dirty="0"/>
          </a:p>
        </p:txBody>
      </p:sp>
      <p:sp>
        <p:nvSpPr>
          <p:cNvPr id="10" name="Text 6"/>
          <p:cNvSpPr txBox="1"/>
          <p:nvPr/>
        </p:nvSpPr>
        <p:spPr>
          <a:xfrm>
            <a:off x="704088" y="5596128"/>
            <a:ext cx="10771632" cy="62179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合計 ¥5,129,320 → ¥7,167,305（前年比 140%）。取扱終了の NOMADOI と その他 を除く全ブランドが前年を上回った、きわめて素直な成長。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増加額では JILL STUART +¥882K が最大（構成比 35.3% → 37.6%）。次いで BEAMS +¥298K / PATRICK COX +¥263K / LANVIN +¥247K。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伸び率では MANIUNO +149% / LANVIN +110% / BEAMS +102% / PATRICK COX +61% と、中堅ブランドが軒並み2桁〜3桁成長。</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同じブランドが楽天店では MARGARET HOWELL -29% / UNGARO -30% / MANIUNO -42% と後退しており、チャネルによって明暗が完全に分かれている。</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JSLW0DS4</a:t>
            </a:r>
            <a:endParaRPr lang="en-US" sz="950" dirty="0"/>
          </a:p>
        </p:txBody>
      </p:sp>
      <p:sp>
        <p:nvSpPr>
          <p:cNvPr id="9" name="Text 6"/>
          <p:cNvSpPr txBox="1"/>
          <p:nvPr/>
        </p:nvSpPr>
        <p:spPr>
          <a:xfrm>
            <a:off x="66751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エターナル L字ファスナー折り財布</a:t>
            </a:r>
            <a:endParaRPr lang="en-US" sz="850" dirty="0"/>
          </a:p>
        </p:txBody>
      </p:sp>
      <p:sp>
        <p:nvSpPr>
          <p:cNvPr id="10" name="Text 7"/>
          <p:cNvSpPr txBox="1"/>
          <p:nvPr/>
        </p:nvSpPr>
        <p:spPr>
          <a:xfrm>
            <a:off x="340156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¥65,400 → ¥209,400（+220%）</a:t>
            </a:r>
            <a:endParaRPr lang="en-US" sz="9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JSLW5AT1</a:t>
            </a:r>
            <a:endParaRPr lang="en-US" sz="950" dirty="0"/>
          </a:p>
        </p:txBody>
      </p:sp>
      <p:sp>
        <p:nvSpPr>
          <p:cNvPr id="13" name="Text 10"/>
          <p:cNvSpPr txBox="1"/>
          <p:nvPr/>
        </p:nvSpPr>
        <p:spPr>
          <a:xfrm>
            <a:off x="66751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ラウンドファスナー長財布</a:t>
            </a:r>
            <a:endParaRPr lang="en-US" sz="850" dirty="0"/>
          </a:p>
        </p:txBody>
      </p:sp>
      <p:sp>
        <p:nvSpPr>
          <p:cNvPr id="14" name="Text 11"/>
          <p:cNvSpPr txBox="1"/>
          <p:nvPr/>
        </p:nvSpPr>
        <p:spPr>
          <a:xfrm>
            <a:off x="340156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¥130,600</a:t>
            </a:r>
            <a:endParaRPr lang="en-US" sz="9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BMMW6JS2</a:t>
            </a:r>
            <a:endParaRPr lang="en-US" sz="950" dirty="0"/>
          </a:p>
        </p:txBody>
      </p:sp>
      <p:sp>
        <p:nvSpPr>
          <p:cNvPr id="17" name="Text 14"/>
          <p:cNvSpPr txBox="1"/>
          <p:nvPr/>
        </p:nvSpPr>
        <p:spPr>
          <a:xfrm>
            <a:off x="66751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Aggressive 二つ折り財布</a:t>
            </a:r>
            <a:endParaRPr lang="en-US" sz="850" dirty="0"/>
          </a:p>
        </p:txBody>
      </p:sp>
      <p:sp>
        <p:nvSpPr>
          <p:cNvPr id="18" name="Text 15"/>
          <p:cNvSpPr txBox="1"/>
          <p:nvPr/>
        </p:nvSpPr>
        <p:spPr>
          <a:xfrm>
            <a:off x="340156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¥114,300</a:t>
            </a:r>
            <a:endParaRPr lang="en-US" sz="9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JSLW5AS1</a:t>
            </a:r>
            <a:endParaRPr lang="en-US" sz="950" dirty="0"/>
          </a:p>
        </p:txBody>
      </p:sp>
      <p:sp>
        <p:nvSpPr>
          <p:cNvPr id="21" name="Text 18"/>
          <p:cNvSpPr txBox="1"/>
          <p:nvPr/>
        </p:nvSpPr>
        <p:spPr>
          <a:xfrm>
            <a:off x="66751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口金折り財布</a:t>
            </a:r>
            <a:endParaRPr lang="en-US" sz="850" dirty="0"/>
          </a:p>
        </p:txBody>
      </p:sp>
      <p:sp>
        <p:nvSpPr>
          <p:cNvPr id="22" name="Text 19"/>
          <p:cNvSpPr txBox="1"/>
          <p:nvPr/>
        </p:nvSpPr>
        <p:spPr>
          <a:xfrm>
            <a:off x="340156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¥98,700</a:t>
            </a:r>
            <a:endParaRPr lang="en-US" sz="9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JSLW3DT2</a:t>
            </a:r>
            <a:endParaRPr lang="en-US" sz="950" dirty="0"/>
          </a:p>
        </p:txBody>
      </p:sp>
      <p:sp>
        <p:nvSpPr>
          <p:cNvPr id="25" name="Text 22"/>
          <p:cNvSpPr txBox="1"/>
          <p:nvPr/>
        </p:nvSpPr>
        <p:spPr>
          <a:xfrm>
            <a:off x="66751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ラウンドファスナー長財布</a:t>
            </a:r>
            <a:endParaRPr lang="en-US" sz="850" dirty="0"/>
          </a:p>
        </p:txBody>
      </p:sp>
      <p:sp>
        <p:nvSpPr>
          <p:cNvPr id="26" name="Text 23"/>
          <p:cNvSpPr txBox="1"/>
          <p:nvPr/>
        </p:nvSpPr>
        <p:spPr>
          <a:xfrm>
            <a:off x="340156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¥93,200</a:t>
            </a:r>
            <a:endParaRPr lang="en-US" sz="9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JSLW5AS2</a:t>
            </a:r>
            <a:endParaRPr lang="en-US" sz="950" dirty="0"/>
          </a:p>
        </p:txBody>
      </p:sp>
      <p:sp>
        <p:nvSpPr>
          <p:cNvPr id="29" name="Text 26"/>
          <p:cNvSpPr txBox="1"/>
          <p:nvPr/>
        </p:nvSpPr>
        <p:spPr>
          <a:xfrm>
            <a:off x="66751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インプルーブ L字ファスナー折り財布</a:t>
            </a:r>
            <a:endParaRPr lang="en-US" sz="850" dirty="0"/>
          </a:p>
        </p:txBody>
      </p:sp>
      <p:sp>
        <p:nvSpPr>
          <p:cNvPr id="30" name="Text 27"/>
          <p:cNvSpPr txBox="1"/>
          <p:nvPr/>
        </p:nvSpPr>
        <p:spPr>
          <a:xfrm>
            <a:off x="340156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新規 → ¥92,100</a:t>
            </a:r>
            <a:endParaRPr lang="en-US" sz="9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JSLW3DS2</a:t>
            </a:r>
            <a:endParaRPr lang="en-US" sz="950" dirty="0"/>
          </a:p>
        </p:txBody>
      </p:sp>
      <p:sp>
        <p:nvSpPr>
          <p:cNvPr id="34" name="Text 31"/>
          <p:cNvSpPr txBox="1"/>
          <p:nvPr/>
        </p:nvSpPr>
        <p:spPr>
          <a:xfrm>
            <a:off x="6336792" y="179222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JILL STUART ルナティ 口金折り財布</a:t>
            </a:r>
            <a:endParaRPr lang="en-US" sz="850" dirty="0"/>
          </a:p>
        </p:txBody>
      </p:sp>
      <p:sp>
        <p:nvSpPr>
          <p:cNvPr id="35" name="Text 32"/>
          <p:cNvSpPr txBox="1"/>
          <p:nvPr/>
        </p:nvSpPr>
        <p:spPr>
          <a:xfrm>
            <a:off x="9070848" y="168249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¥180,300 → ¥0（消滅）</a:t>
            </a:r>
            <a:endParaRPr lang="en-US" sz="90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PDLWFBT4</a:t>
            </a:r>
            <a:endParaRPr lang="en-US" sz="950" dirty="0"/>
          </a:p>
        </p:txBody>
      </p:sp>
      <p:sp>
        <p:nvSpPr>
          <p:cNvPr id="38" name="Text 35"/>
          <p:cNvSpPr txBox="1"/>
          <p:nvPr/>
        </p:nvSpPr>
        <p:spPr>
          <a:xfrm>
            <a:off x="6336792" y="2414016"/>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PINKY&amp;DIANNE インターセクト ラウンド長財布</a:t>
            </a:r>
            <a:endParaRPr lang="en-US" sz="850" dirty="0"/>
          </a:p>
        </p:txBody>
      </p:sp>
      <p:sp>
        <p:nvSpPr>
          <p:cNvPr id="39" name="Text 36"/>
          <p:cNvSpPr txBox="1"/>
          <p:nvPr/>
        </p:nvSpPr>
        <p:spPr>
          <a:xfrm>
            <a:off x="9070848" y="2304288"/>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¥130,800 → ¥0（消滅）</a:t>
            </a:r>
            <a:endParaRPr lang="en-US" sz="90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PDLWBET4</a:t>
            </a:r>
            <a:endParaRPr lang="en-US" sz="950" dirty="0"/>
          </a:p>
        </p:txBody>
      </p:sp>
      <p:sp>
        <p:nvSpPr>
          <p:cNvPr id="42" name="Text 39"/>
          <p:cNvSpPr txBox="1"/>
          <p:nvPr/>
        </p:nvSpPr>
        <p:spPr>
          <a:xfrm>
            <a:off x="6336792" y="3035808"/>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PINKY&amp;DIANNE パドロック ラウンド長財布</a:t>
            </a:r>
            <a:endParaRPr lang="en-US" sz="850" dirty="0"/>
          </a:p>
        </p:txBody>
      </p:sp>
      <p:sp>
        <p:nvSpPr>
          <p:cNvPr id="43" name="Text 40"/>
          <p:cNvSpPr txBox="1"/>
          <p:nvPr/>
        </p:nvSpPr>
        <p:spPr>
          <a:xfrm>
            <a:off x="9070848" y="2926080"/>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¥71,200 → ¥0（消滅）</a:t>
            </a:r>
            <a:endParaRPr lang="en-US" sz="90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MHLH4EH1</a:t>
            </a:r>
            <a:endParaRPr lang="en-US" sz="950" dirty="0"/>
          </a:p>
        </p:txBody>
      </p:sp>
      <p:sp>
        <p:nvSpPr>
          <p:cNvPr id="46" name="Text 43"/>
          <p:cNvSpPr txBox="1"/>
          <p:nvPr/>
        </p:nvSpPr>
        <p:spPr>
          <a:xfrm>
            <a:off x="6336792" y="3657600"/>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MARGARET HOWELL idea クレマティス 2WAYトート</a:t>
            </a:r>
            <a:endParaRPr lang="en-US" sz="850" dirty="0"/>
          </a:p>
        </p:txBody>
      </p:sp>
      <p:sp>
        <p:nvSpPr>
          <p:cNvPr id="47" name="Text 44"/>
          <p:cNvSpPr txBox="1"/>
          <p:nvPr/>
        </p:nvSpPr>
        <p:spPr>
          <a:xfrm>
            <a:off x="9070848" y="3547872"/>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¥69,000 → ¥0（消滅）</a:t>
            </a:r>
            <a:endParaRPr lang="en-US" sz="90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MHLW8JS1</a:t>
            </a:r>
            <a:endParaRPr lang="en-US" sz="950" dirty="0"/>
          </a:p>
        </p:txBody>
      </p:sp>
      <p:sp>
        <p:nvSpPr>
          <p:cNvPr id="50" name="Text 47"/>
          <p:cNvSpPr txBox="1"/>
          <p:nvPr/>
        </p:nvSpPr>
        <p:spPr>
          <a:xfrm>
            <a:off x="6336792" y="4279392"/>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MARGARET HOWELL idea ベンジャミン ラウンド長財布</a:t>
            </a:r>
            <a:endParaRPr lang="en-US" sz="850" dirty="0"/>
          </a:p>
        </p:txBody>
      </p:sp>
      <p:sp>
        <p:nvSpPr>
          <p:cNvPr id="51" name="Text 48"/>
          <p:cNvSpPr txBox="1"/>
          <p:nvPr/>
        </p:nvSpPr>
        <p:spPr>
          <a:xfrm>
            <a:off x="9070848" y="4169664"/>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¥59,400 → ¥0（消滅）</a:t>
            </a:r>
            <a:endParaRPr lang="en-US" sz="90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BMMH2MR2</a:t>
            </a:r>
            <a:endParaRPr lang="en-US" sz="950" dirty="0"/>
          </a:p>
        </p:txBody>
      </p:sp>
      <p:sp>
        <p:nvSpPr>
          <p:cNvPr id="54" name="Text 51"/>
          <p:cNvSpPr txBox="1"/>
          <p:nvPr/>
        </p:nvSpPr>
        <p:spPr>
          <a:xfrm>
            <a:off x="6336792" y="4901184"/>
            <a:ext cx="2971800" cy="219456"/>
          </a:xfrm>
          <a:prstGeom prst="rect">
            <a:avLst/>
          </a:prstGeom>
          <a:noFill/>
          <a:ln/>
        </p:spPr>
        <p:txBody>
          <a:bodyPr wrap="square" lIns="0" tIns="0" rIns="0" bIns="0" rtlCol="0" anchor="ctr"/>
          <a:lstStyle/>
          <a:p>
            <a:pPr indent="0" marL="0">
              <a:buNone/>
            </a:pPr>
            <a:r>
              <a:rPr lang="en-US" sz="850" dirty="0">
                <a:solidFill>
                  <a:srgbClr val="1F2733"/>
                </a:solidFill>
                <a:latin typeface="Meiryo" pitchFamily="34" charset="0"/>
                <a:ea typeface="Meiryo" pitchFamily="34" charset="-122"/>
                <a:cs typeface="Meiryo" pitchFamily="34" charset="-120"/>
              </a:rPr>
              <a:t>BEAMS DESIGN ROUTINE バックパック(L)</a:t>
            </a:r>
            <a:endParaRPr lang="en-US" sz="850" dirty="0"/>
          </a:p>
        </p:txBody>
      </p:sp>
      <p:sp>
        <p:nvSpPr>
          <p:cNvPr id="55" name="Text 52"/>
          <p:cNvSpPr txBox="1"/>
          <p:nvPr/>
        </p:nvSpPr>
        <p:spPr>
          <a:xfrm>
            <a:off x="9070848" y="4791456"/>
            <a:ext cx="2450592" cy="256032"/>
          </a:xfrm>
          <a:prstGeom prst="rect">
            <a:avLst/>
          </a:prstGeom>
          <a:noFill/>
          <a:ln/>
        </p:spPr>
        <p:txBody>
          <a:bodyPr wrap="square" lIns="0" tIns="0" rIns="0" bIns="0" rtlCol="0" anchor="ctr"/>
          <a:lstStyle/>
          <a:p>
            <a:pPr algn="r" indent="0" marL="0">
              <a:buNone/>
            </a:pPr>
            <a:r>
              <a:rPr lang="en-US" sz="900" b="1" dirty="0">
                <a:solidFill>
                  <a:srgbClr val="0E2038"/>
                </a:solidFill>
                <a:latin typeface="Meiryo" pitchFamily="34" charset="0"/>
                <a:ea typeface="Meiryo" pitchFamily="34" charset="-122"/>
                <a:cs typeface="Meiryo" pitchFamily="34" charset="-120"/>
              </a:rPr>
              <a:t>¥56,600 → ¥0（消滅）</a:t>
            </a:r>
            <a:endParaRPr lang="en-US" sz="900" dirty="0"/>
          </a:p>
        </p:txBody>
      </p:sp>
      <p:sp>
        <p:nvSpPr>
          <p:cNvPr id="56" name="Shape 53"/>
          <p:cNvSpPr/>
          <p:nvPr/>
        </p:nvSpPr>
        <p:spPr>
          <a:xfrm>
            <a:off x="502920" y="5376672"/>
            <a:ext cx="11183112" cy="1444752"/>
          </a:xfrm>
          <a:prstGeom prst="roundRect">
            <a:avLst>
              <a:gd name="adj" fmla="val 3165"/>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 — 商品入替が売上を作った月</a:t>
            </a:r>
            <a:endParaRPr lang="en-US" sz="1100" dirty="0"/>
          </a:p>
        </p:txBody>
      </p:sp>
      <p:sp>
        <p:nvSpPr>
          <p:cNvPr id="58" name="Text 55"/>
          <p:cNvSpPr txBox="1"/>
          <p:nvPr/>
        </p:nvSpPr>
        <p:spPr>
          <a:xfrm>
            <a:off x="704088" y="5742432"/>
            <a:ext cx="10780776" cy="98755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落ち商品は6型すべてが「消滅」（計 -¥567,300）。前年の主力だった JILL STUART ルナティ 口金折り財布、PINKY&amp;DIANNE のラウンド長財布2型、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MARGARET HOWELL idea の2型、BEAMS DESIGN ROUTINE バックパックが揃って取扱終了となっている。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対して伸び商品は新規5型で計 +¥528,900。特に JILL STUART「インプルーブ」シリーズ3型（ラウンド長財布・口金折り財布・L字折り財布）で ¥321,400 を占める。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ほぼ1対1の商品入替に加えて既存商品が伸びた結果、店舗全体で +¥2,038K（+39.7%）。入替は成功と評価できる。</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デバイス別売上・優良配送分析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Text 3"/>
          <p:cNvSpPr txBox="1"/>
          <p:nvPr/>
        </p:nvSpPr>
        <p:spPr>
          <a:xfrm>
            <a:off x="502920" y="1115568"/>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デバイス別売上（2026年8月 vs 2025年8月）</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766560" cy="914400"/>
        </p:xfrm>
        <a:graphic>
          <a:graphicData uri="http://schemas.openxmlformats.org/drawingml/2006/table">
            <a:tbl>
              <a:tblPr/>
              <a:tblGrid>
                <a:gridCol w="1371600"/>
                <a:gridCol w="1325880"/>
                <a:gridCol w="822960"/>
                <a:gridCol w="1325880"/>
                <a:gridCol w="822960"/>
                <a:gridCol w="109728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アプリ</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¥5,697,870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79.5%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¥3,560,790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69.4%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+60.0%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スマホWeb</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¥1,071,675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15.0%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¥1,144,315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22.3%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PC</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¥397,760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¥424,215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8.3%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306324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デバイス別 PV と PVあたり売上</a:t>
            </a:r>
            <a:endParaRPr lang="en-US" sz="110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502920" y="3383280"/>
          <a:ext cx="6766560" cy="914400"/>
        </p:xfrm>
        <a:graphic>
          <a:graphicData uri="http://schemas.openxmlformats.org/drawingml/2006/table">
            <a:tbl>
              <a:tblPr/>
              <a:tblGrid>
                <a:gridCol w="1188720"/>
                <a:gridCol w="914400"/>
                <a:gridCol w="914400"/>
                <a:gridCol w="960120"/>
                <a:gridCol w="960120"/>
                <a:gridCol w="914400"/>
                <a:gridCol w="91440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デバイス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PV単価 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アプリ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90,497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66,698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¥53.4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スマホWeb</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21,849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¥49.0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PC</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8,171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10" name="Text 5"/>
          <p:cNvSpPr txBox="1"/>
          <p:nvPr/>
        </p:nvSpPr>
        <p:spPr>
          <a:xfrm>
            <a:off x="502920" y="4983480"/>
            <a:ext cx="6400800"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優良配送（2026年8月 vs 2025年8月）</a:t>
            </a:r>
            <a:endParaRPr lang="en-US" sz="1100" dirty="0"/>
          </a:p>
        </p:txBody>
      </p:sp>
      <p:graphicFrame>
        <p:nvGraphicFramePr>
          <p:cNvPr id="130" name="Table 2"/>
          <p:cNvGraphicFramePr>
            <a:graphicFrameLocks noGrp="1"/>
          </p:cNvGraphicFramePr>
          <p:nvPr>
            <p:extLst>
              <p:ext uri="{D42A27DB-BD31-4B8C-83A1-F6EECF244321}">
                <p14:modId xmlns:p14="http://schemas.microsoft.com/office/powerpoint/2010/main" val="1579011935"/>
              </p:ext>
            </p:extLst>
          </p:nvPr>
        </p:nvGraphicFramePr>
        <p:xfrm>
          <a:off x="502920" y="5303520"/>
          <a:ext cx="6766560" cy="914400"/>
        </p:xfrm>
        <a:graphic>
          <a:graphicData uri="http://schemas.openxmlformats.org/drawingml/2006/table">
            <a:tbl>
              <a:tblPr/>
              <a:tblGrid>
                <a:gridCol w="2103120"/>
                <a:gridCol w="1600200"/>
                <a:gridCol w="1600200"/>
                <a:gridCol w="146304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¥1,615,565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¥1,032,620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売上シェア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+2.41pt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143件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優良配送 注文シェア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24.44%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+2.96pt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12" name="Shape 6"/>
          <p:cNvSpPr/>
          <p:nvPr/>
        </p:nvSpPr>
        <p:spPr>
          <a:xfrm>
            <a:off x="7498080" y="1444752"/>
            <a:ext cx="4187952" cy="4846320"/>
          </a:xfrm>
          <a:prstGeom prst="roundRect">
            <a:avLst>
              <a:gd name="adj" fmla="val 1092"/>
            </a:avLst>
          </a:prstGeom>
          <a:solidFill>
            <a:srgbClr val="FAFBFD"/>
          </a:solidFill>
          <a:ln w="12700">
            <a:solidFill>
              <a:srgbClr val="DCE1E8"/>
            </a:solidFill>
            <a:prstDash val="solid"/>
          </a:ln>
        </p:spPr>
      </p:sp>
      <p:sp>
        <p:nvSpPr>
          <p:cNvPr id="13" name="Text 7"/>
          <p:cNvSpPr txBox="1"/>
          <p:nvPr/>
        </p:nvSpPr>
        <p:spPr>
          <a:xfrm>
            <a:off x="7699248" y="1536192"/>
            <a:ext cx="3785616" cy="256032"/>
          </a:xfrm>
          <a:prstGeom prst="rect">
            <a:avLst/>
          </a:prstGeom>
          <a:noFill/>
          <a:ln/>
        </p:spPr>
        <p:txBody>
          <a:bodyPr wrap="square" lIns="0" tIns="0" rIns="0" bIns="0" rtlCol="0" anchor="ctr"/>
          <a:lstStyle/>
          <a:p>
            <a:pPr indent="0" marL="0">
              <a:buNone/>
            </a:pPr>
            <a:r>
              <a:rPr lang="en-US" sz="1100" b="1" dirty="0">
                <a:solidFill>
                  <a:srgbClr val="0E7C7B"/>
                </a:solidFill>
                <a:latin typeface="Meiryo" pitchFamily="34" charset="0"/>
                <a:ea typeface="Meiryo" pitchFamily="34" charset="-122"/>
                <a:cs typeface="Meiryo" pitchFamily="34" charset="-120"/>
              </a:rPr>
              <a:t>■  分析・考察</a:t>
            </a:r>
            <a:endParaRPr lang="en-US" sz="1100" dirty="0"/>
          </a:p>
        </p:txBody>
      </p:sp>
      <p:sp>
        <p:nvSpPr>
          <p:cNvPr id="14" name="Text 8"/>
          <p:cNvSpPr txBox="1"/>
          <p:nvPr/>
        </p:nvSpPr>
        <p:spPr>
          <a:xfrm>
            <a:off x="7699248" y="1810512"/>
            <a:ext cx="3785616" cy="438912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Yahoo の成長はアプリ単独で説明できる。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アプリ経由売上 ¥3,560,790 → ¥5,697,870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（+60.0% / +¥2,137K）。売上構成比は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69.4% → 79.5% へ +10.1pt 上昇した。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対してスマホWeb -6.4% / PC -6.2% 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非アプリは縮小。売上増 +¥2,038K 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アプリの +¥2,137K から非アプリの -¥99K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引いた値で、増加分はすべてアプリ由来。</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質も上がっている。アプリの PVあたり売上は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¥53.4 → ¥63.0（+18.0%）。PV +35.7% を</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上回る売上 +60.0% で、露出が増えただけ</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でなく転換も改善した。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優良配送は売上 +56.5% / 注文 +64.4%、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シェア 22.54%（+2.41pt）。アプリ内の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検索順位・訴求に効く施策として、</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対象商品の拡大は引き続き有効。</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推奨：アプリ向けの露出施策（優良配送対象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拡大・アプリ限定クーポン）に集中投下。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PC/スマホWeb は維持に留めてよい。</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Yahoo!ショッピング店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Yahoo!ショッピング店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売上 ¥7,167,305、前年比 +39.7% で3店舗中最大の伸び</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注文件数 585件（+44.4%）/ 注文者数 578人（+45.2%）</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訪問者 35,012人（+25.8%）/ セッション +27.1% / PV +25.0%</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購買率 1.65%（+0.22pt）、楽天 BAG MANIA の約1.85倍</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アプリ経由売上 +60.0%、構成比 79.5%（+10.1pt）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アプリ PVあたり売上 ¥53.4 → ¥63.0（+18.0%）と質も改善</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優良配送 売上 +56.5% / 注文 +64.4% / シェア +2.41pt</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ROAS 397% は3店舗中で最高水準（楽天BM 270.5%）</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ブランド構成が楽天店より分散（上位3で 64.6%）</a:t>
            </a:r>
            <a:endParaRPr lang="en-US" sz="950" dirty="0"/>
          </a:p>
          <a:p>
            <a:pPr indent="0" marL="0">
              <a:lnSpc>
                <a:spcPct val="140000"/>
              </a:lnSpc>
              <a:buNone/>
            </a:pPr>
            <a:r>
              <a:rPr lang="en-US" sz="950" dirty="0">
                <a:solidFill>
                  <a:srgbClr val="1F2733"/>
                </a:solidFill>
                <a:latin typeface="Meiryo" pitchFamily="34" charset="0"/>
                <a:ea typeface="Meiryo" pitchFamily="34" charset="-122"/>
                <a:cs typeface="Meiryo" pitchFamily="34" charset="-120"/>
              </a:rPr>
              <a:t>●  MANIUNO ¥20,446 / MARGARET HOWELL ¥17,176 の高単価帯が機能</a:t>
            </a:r>
            <a:endParaRPr lang="en-US" sz="950" dirty="0"/>
          </a:p>
        </p:txBody>
      </p:sp>
      <p:sp>
        <p:nvSpPr>
          <p:cNvPr id="9" name="Shape 6"/>
          <p:cNvSpPr/>
          <p:nvPr/>
        </p:nvSpPr>
        <p:spPr>
          <a:xfrm>
            <a:off x="6172200" y="1207008"/>
            <a:ext cx="5513832" cy="4572000"/>
          </a:xfrm>
          <a:prstGeom prst="roundRect">
            <a:avLst>
              <a:gd name="adj" fmla="val 1200"/>
            </a:avLst>
          </a:prstGeom>
          <a:solidFill>
            <a:srgbClr val="EAF4F4"/>
          </a:solidFill>
          <a:ln w="12700">
            <a:solidFill>
              <a:srgbClr val="C3DCDC"/>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0E7C7B"/>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購買率 2.06% → 1.65%（前月比 -0.41pt）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注文件数も 659件 → 585件（-11.2%）。要因の特定が必要</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Yahoo広告 ROAS 463.9% → 397%（-66.9pt）</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CPC ¥35 は改善済み。悪化はクリック後（CVR 1.44%→1.15%）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商品ページ・在庫・価格の見直しを優先</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CPA ¥2,575 → ¥3,052（+18.5%）</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広告費は +5.9% 増だが経由売上 -9.3%。投下量の再検討を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広告依存度 59.8% と高止まり</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オーガニック（アプリ内検索）の強化で依存度を下げる</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スマホWeb -6.4% / PC -6.2% と非アプリ経路が縮小</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アプリに集中投下し、PC/スマホWeb は維持に留める判断を</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客単価 ¥12,400（-3.8%）→ 小物比率上昇</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高単価ブランド（MANIUNO・MARGARET HOWELL）の露出拡大</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高購買率商品（名刺入れ 4.46% 等）が低露出のまま</a:t>
            </a:r>
            <a:endParaRPr lang="en-US" sz="950" dirty="0"/>
          </a:p>
          <a:p>
            <a:pPr indent="0" marL="0">
              <a:lnSpc>
                <a:spcPct val="130000"/>
              </a:lnSpc>
              <a:buNone/>
            </a:pPr>
            <a:r>
              <a:rPr lang="en-US" sz="950" dirty="0">
                <a:solidFill>
                  <a:srgbClr val="1F2733"/>
                </a:solidFill>
                <a:latin typeface="Meiryo" pitchFamily="34" charset="0"/>
                <a:ea typeface="Meiryo" pitchFamily="34" charset="-122"/>
                <a:cs typeface="Meiryo" pitchFamily="34" charset="-120"/>
              </a:rPr>
              <a:t>   → 訪問者数の少ない高効率商品への集客を強化</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400" b="1" spc="400" kern="0" dirty="0">
                <a:solidFill>
                  <a:srgbClr val="146EB4"/>
                </a:solidFill>
                <a:latin typeface="Calibri" pitchFamily="34" charset="0"/>
                <a:ea typeface="Calibri" pitchFamily="34" charset="-122"/>
                <a:cs typeface="Calibri" pitchFamily="34" charset="-120"/>
              </a:rPr>
              <a:t>SECTION 04</a:t>
            </a:r>
            <a:endParaRPr lang="en-US" sz="1400" dirty="0"/>
          </a:p>
        </p:txBody>
      </p:sp>
      <p:sp>
        <p:nvSpPr>
          <p:cNvPr id="3" name="Text 1"/>
          <p:cNvSpPr txBox="1"/>
          <p:nvPr/>
        </p:nvSpPr>
        <p:spPr>
          <a:xfrm>
            <a:off x="822960" y="19659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BAG MANIA</a:t>
            </a:r>
            <a:endParaRPr lang="en-US" sz="4800" dirty="0"/>
          </a:p>
        </p:txBody>
      </p:sp>
      <p:sp>
        <p:nvSpPr>
          <p:cNvPr id="4" name="Text 2"/>
          <p:cNvSpPr txBox="1"/>
          <p:nvPr/>
        </p:nvSpPr>
        <p:spPr>
          <a:xfrm>
            <a:off x="841248" y="2834640"/>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Amazon ベンダー ／ 2026年8月度</a:t>
            </a:r>
            <a:endParaRPr lang="en-US" sz="2000" dirty="0"/>
          </a:p>
        </p:txBody>
      </p:sp>
      <p:sp>
        <p:nvSpPr>
          <p:cNvPr id="5" name="Text 3"/>
          <p:cNvSpPr txBox="1"/>
          <p:nvPr/>
        </p:nvSpPr>
        <p:spPr>
          <a:xfrm>
            <a:off x="841248" y="3749040"/>
            <a:ext cx="10515600" cy="82296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週次推移と広告投下バランス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Amazon広告パフォーマンス  /  JILL STUART 実績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BAGMANIA Amazon (ベンダー)  |  Source: 【ヤマニ様】amazonベンダー_運用レポート</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店舗KPIサマリー（Amazon）</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売上（上代）</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¥23,619,924</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¥20,535,221  /  +15.0%</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売上件数</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2,214件</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1,940  /  +14.1%</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¥10,668</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¥10,585  /  +0.8%</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¥860,421</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¥602,659  /  +42.8%</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上代売上 ¥23,619,924（前年比 +15.0%）。楽天BM ¥14.9M / YAMANIGOLF ¥9.7M / Yahoo ¥7.2M を大きく上回り、4チャネル中最大規模。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ただし増収の中身に注意が必要。広告経由売上 ¥4,373,712 → ¥8,597,023（+96.6%）と倍増した一方、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自然検索売上は ¥16,161,509 → ¥15,022,901（-7.0%）と減少。売上増 +¥3,085K は広告経由の +¥4,223K を、自然検索の -¥1,139K が相殺した形。</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結果、広告経由売上の構成比は 21.3% → 36.4%（+15.1pt）へ急上昇。広告依存度が1年で大きく高まった。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広告運用自体は改善。ROAS 726% → 999% / CPC ¥25 → ¥18 / ACOS 13.78% → 10.01%。インプ +104% / クリック +100% と露出を倍にしつつ単価を下げられている。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一方で全体ROAS（上代÷広告費）は 3,407% → 2,745%、TACOS は 2.93% → 3.64% に上昇。店舗全体としての広告コスト率は悪化している。</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売上（上代）</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¥26.81M   →   ¥23.62M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売上件数</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-11.9%</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2,512   →   2,214</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広告費</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-13.2%</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¥991,673   →   ¥860,421</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ROAS（広告）</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+36pt</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963%   →   999%</a:t>
            </a:r>
            <a:endParaRPr lang="en-US" sz="1350" dirty="0"/>
          </a:p>
        </p:txBody>
      </p:sp>
      <p:sp>
        <p:nvSpPr>
          <p:cNvPr id="42" name="Text 39"/>
          <p:cNvSpPr txBox="1"/>
          <p:nvPr/>
        </p:nvSpPr>
        <p:spPr>
          <a:xfrm>
            <a:off x="502920" y="6144768"/>
            <a:ext cx="11173968"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売上は日別実績の合計値。運用レポートのサマリ欄（¥22,828,454）は集計式が8月31日を含んでおらず ¥791,470 少ない。詳細は最終ページ注記。</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売上（上代）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¥23,619,924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¥20,535,221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売上（下代）</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¥14,970,830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¥13,317,056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+12.4%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売上件数</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2,214件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1,940件</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+14.1%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客単価</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¥10,668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¥10,585</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+0.8%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自然検索売上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¥15,022,901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¥16,161,509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B3261E"/>
                          </a:solidFill>
                          <a:latin typeface="Meiryo" pitchFamily="34" charset="0"/>
                          <a:ea typeface="Meiryo" pitchFamily="34" charset="-122"/>
                          <a:cs typeface="Meiryo" pitchFamily="34" charset="-120"/>
                        </a:rPr>
                        <a:t>-7.0%</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広告経由売上</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¥8,597,023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¥4,373,712</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+96.6%</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広告経由 構成比</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36.4%</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21.3%</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+15.1pt</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1050" dirty="0">
                          <a:solidFill>
                            <a:srgbClr val="1F2733"/>
                          </a:solidFill>
                          <a:latin typeface="Meiryo" pitchFamily="34" charset="0"/>
                          <a:ea typeface="Meiryo" pitchFamily="34" charset="-122"/>
                          <a:cs typeface="Meiryo" pitchFamily="34" charset="-120"/>
                        </a:rPr>
                        <a:t>広告費</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¥860,421</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F2733"/>
                          </a:solidFill>
                          <a:latin typeface="Meiryo" pitchFamily="34" charset="0"/>
                          <a:ea typeface="Meiryo" pitchFamily="34" charset="-122"/>
                          <a:cs typeface="Meiryo" pitchFamily="34" charset="-120"/>
                        </a:rPr>
                        <a:t>¥602,659</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1F7A4D"/>
                          </a:solidFill>
                          <a:latin typeface="Meiryo" pitchFamily="34" charset="0"/>
                          <a:ea typeface="Meiryo" pitchFamily="34" charset="-122"/>
                          <a:cs typeface="Meiryo" pitchFamily="34" charset="-120"/>
                        </a:rPr>
                        <a:t>+42.8%</a:t>
                      </a:r>
                      <a:endParaRPr lang="en-US" sz="10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上代 +15.0% は4チャネル中で最大の規模。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+14.1% が伴っており、実需の拡大。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ただし成長の質には課題がある。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売上増  +¥3,085K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広告経由  +¥4,223K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 自然検索  -¥1,139K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広告を倍増させて増収を作り、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オーガニックは目減りしている。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広告経由の構成比は 21.3% → 36.4%。</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売上の3分の1以上が広告依存となった。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¥10,668（+0.8%）はほぼ横ばい。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単価ではなく件数で伸ばした月。</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広告効率そのものは大きく改善しているため、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短期の判断としては正しい投下。ただし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自然検索の低下が続くと広告費なしでは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売上が維持できない構造になる。</a:t>
            </a:r>
            <a:endParaRPr lang="en-US" sz="950" dirty="0"/>
          </a:p>
        </p:txBody>
      </p:sp>
      <p:sp>
        <p:nvSpPr>
          <p:cNvPr id="10" name="Shape 6"/>
          <p:cNvSpPr/>
          <p:nvPr/>
        </p:nvSpPr>
        <p:spPr>
          <a:xfrm>
            <a:off x="502920" y="3977640"/>
            <a:ext cx="6766560" cy="1554480"/>
          </a:xfrm>
          <a:prstGeom prst="roundRect">
            <a:avLst>
              <a:gd name="adj" fmla="val 2941"/>
            </a:avLst>
          </a:prstGeom>
          <a:solidFill>
            <a:srgbClr val="FAFBFD"/>
          </a:solidFill>
          <a:ln w="12700">
            <a:solidFill>
              <a:srgbClr val="DCE1E8"/>
            </a:solidFill>
            <a:prstDash val="solid"/>
          </a:ln>
        </p:spPr>
      </p:sp>
      <p:sp>
        <p:nvSpPr>
          <p:cNvPr id="11" name="Text 7"/>
          <p:cNvSpPr txBox="1"/>
          <p:nvPr/>
        </p:nvSpPr>
        <p:spPr>
          <a:xfrm>
            <a:off x="704088" y="406908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売上構成の変化（上代ベース）</a:t>
            </a:r>
            <a:endParaRPr lang="en-US" sz="1100" dirty="0"/>
          </a:p>
        </p:txBody>
      </p:sp>
      <p:sp>
        <p:nvSpPr>
          <p:cNvPr id="12" name="Text 8"/>
          <p:cNvSpPr txBox="1"/>
          <p:nvPr/>
        </p:nvSpPr>
        <p:spPr>
          <a:xfrm>
            <a:off x="704088" y="4343400"/>
            <a:ext cx="6364224" cy="10972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2025年8月：  自然検索 ¥16,161,509（78.7%） ＋ 広告経由 ¥4,373,712（21.3%）</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2026年8月：  自然検索 ¥15,022,901（63.6%） ＋ 広告経由 ¥8,597,023（36.4%）</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自然検索は金額でも構成比でも低下。Amazonの検索順位・レビュー・在庫など、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広告に頼らない土台の見直しが中期の最優先テーマ。</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週次推移と広告投下バランス（2026年8月）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6" name="Chart 0" descr=""/>
          <p:cNvGraphicFramePr/>
          <p:nvPr/>
        </p:nvGraphicFramePr>
        <p:xfrm>
          <a:off x="502920" y="1234440"/>
          <a:ext cx="594360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629400" y="1234440"/>
          <a:ext cx="5285232" cy="914400"/>
        </p:xfrm>
        <a:graphic>
          <a:graphicData uri="http://schemas.openxmlformats.org/drawingml/2006/table">
            <a:tbl>
              <a:tblPr/>
              <a:tblGrid>
                <a:gridCol w="914400"/>
                <a:gridCol w="822960"/>
                <a:gridCol w="822960"/>
                <a:gridCol w="822960"/>
                <a:gridCol w="731520"/>
                <a:gridCol w="603504"/>
                <a:gridCol w="566928"/>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期間</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自然検索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広告経由</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ROAS</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 – 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¥5,220,585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¥3,415,635</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¥1,804,950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¥150,248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500件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8/8 – 8/14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¥5,815,329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¥3,612,191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¥2,203,138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¥169,727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1,298%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516件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8/15 – 8/21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¥5,024,224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¥3,234,157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¥1,790,067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¥163,799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1F7A4D"/>
                          </a:solidFill>
                          <a:latin typeface="Meiryo" pitchFamily="34" charset="0"/>
                          <a:ea typeface="Meiryo" pitchFamily="34" charset="-122"/>
                          <a:cs typeface="Meiryo" pitchFamily="34" charset="-120"/>
                        </a:rPr>
                        <a:t>1,093%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476件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8/22 – 8/28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¥5,094,338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¥3,268,370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¥1,825,968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¥202,187</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903%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488件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750" dirty="0">
                          <a:solidFill>
                            <a:srgbClr val="1F2733"/>
                          </a:solidFill>
                          <a:latin typeface="Meiryo" pitchFamily="34" charset="0"/>
                          <a:ea typeface="Meiryo" pitchFamily="34" charset="-122"/>
                          <a:cs typeface="Meiryo" pitchFamily="34" charset="-120"/>
                        </a:rPr>
                        <a:t>8/29 – 8/31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¥2,465,448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¥1,492,548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¥972,900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¥174,460</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b="1" dirty="0">
                          <a:solidFill>
                            <a:srgbClr val="B3261E"/>
                          </a:solidFill>
                          <a:latin typeface="Meiryo" pitchFamily="34" charset="0"/>
                          <a:ea typeface="Meiryo" pitchFamily="34" charset="-122"/>
                          <a:cs typeface="Meiryo" pitchFamily="34" charset="-120"/>
                        </a:rPr>
                        <a:t>558%</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750" dirty="0">
                          <a:solidFill>
                            <a:srgbClr val="1F2733"/>
                          </a:solidFill>
                          <a:latin typeface="Meiryo" pitchFamily="34" charset="0"/>
                          <a:ea typeface="Meiryo" pitchFamily="34" charset="-122"/>
                          <a:cs typeface="Meiryo" pitchFamily="34" charset="-120"/>
                        </a:rPr>
                        <a:t>234件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750" b="1" dirty="0">
                          <a:solidFill>
                            <a:srgbClr val="0E2038"/>
                          </a:solidFill>
                          <a:latin typeface="Meiryo" pitchFamily="34" charset="0"/>
                          <a:ea typeface="Meiryo" pitchFamily="34" charset="-122"/>
                          <a:cs typeface="Meiryo" pitchFamily="34" charset="-120"/>
                        </a:rPr>
                        <a:t>合計</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¥23,619,924</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¥15,022,901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¥8,597,023</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¥860,421</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999%</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750" b="1" dirty="0">
                          <a:solidFill>
                            <a:srgbClr val="0E2038"/>
                          </a:solidFill>
                          <a:latin typeface="Meiryo" pitchFamily="34" charset="0"/>
                          <a:ea typeface="Meiryo" pitchFamily="34" charset="-122"/>
                          <a:cs typeface="Meiryo" pitchFamily="34" charset="-120"/>
                        </a:rPr>
                        <a:t>2,214件</a:t>
                      </a:r>
                      <a:endParaRPr lang="en-US" sz="7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3"/>
          <p:cNvSpPr/>
          <p:nvPr/>
        </p:nvSpPr>
        <p:spPr>
          <a:xfrm>
            <a:off x="6629400" y="3310128"/>
            <a:ext cx="5212080" cy="2633472"/>
          </a:xfrm>
          <a:prstGeom prst="roundRect">
            <a:avLst>
              <a:gd name="adj" fmla="val 1736"/>
            </a:avLst>
          </a:prstGeom>
          <a:solidFill>
            <a:srgbClr val="FAFBFD"/>
          </a:solidFill>
          <a:ln w="12700">
            <a:solidFill>
              <a:srgbClr val="DCE1E8"/>
            </a:solidFill>
            <a:prstDash val="solid"/>
          </a:ln>
        </p:spPr>
      </p:sp>
      <p:sp>
        <p:nvSpPr>
          <p:cNvPr id="9" name="Text 4"/>
          <p:cNvSpPr txBox="1"/>
          <p:nvPr/>
        </p:nvSpPr>
        <p:spPr>
          <a:xfrm>
            <a:off x="6830568" y="3401568"/>
            <a:ext cx="480974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注目ポイント</a:t>
            </a:r>
            <a:endParaRPr lang="en-US" sz="1100" dirty="0"/>
          </a:p>
        </p:txBody>
      </p:sp>
      <p:sp>
        <p:nvSpPr>
          <p:cNvPr id="10" name="Text 5"/>
          <p:cNvSpPr txBox="1"/>
          <p:nvPr/>
        </p:nvSpPr>
        <p:spPr>
          <a:xfrm>
            <a:off x="6830568" y="3675888"/>
            <a:ext cx="4809744" cy="2176272"/>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広告費の日平均が月内で急変している。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8/1–8/7   ¥21,464/日</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8/29–8/31 ¥58,153/日（2.7倍）</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それに伴い ROAS は 1,201% → 1,298% →</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1,093% → 903% → 558% と一貫して低下。</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月末3日間の ROAS 558% は月平均 999% 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約半分で、投下量の増加が効率を大きく</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押し下げている。</a:t>
            </a:r>
            <a:endParaRPr lang="en-US" sz="850" dirty="0"/>
          </a:p>
          <a:p>
            <a:pPr indent="0" marL="0">
              <a:lnSpc>
                <a:spcPct val="122000"/>
              </a:lnSpc>
              <a:buNone/>
            </a:pP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売上のピークは第2週（8/8–8/14）¥5.82M。</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最終3日間を除けば週あたり ¥5.0〜5.8M で</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安定しており、需要側の変動は小さい。</a:t>
            </a:r>
            <a:endParaRPr lang="en-US" sz="850" dirty="0"/>
          </a:p>
        </p:txBody>
      </p:sp>
      <p:sp>
        <p:nvSpPr>
          <p:cNvPr id="11" name="Shape 6"/>
          <p:cNvSpPr/>
          <p:nvPr/>
        </p:nvSpPr>
        <p:spPr>
          <a:xfrm>
            <a:off x="502920" y="4526280"/>
            <a:ext cx="5943600" cy="1417320"/>
          </a:xfrm>
          <a:prstGeom prst="roundRect">
            <a:avLst>
              <a:gd name="adj" fmla="val 3226"/>
            </a:avLst>
          </a:prstGeom>
          <a:solidFill>
            <a:srgbClr val="FAFBFD"/>
          </a:solidFill>
          <a:ln w="12700">
            <a:solidFill>
              <a:srgbClr val="DCE1E8"/>
            </a:solidFill>
            <a:prstDash val="solid"/>
          </a:ln>
        </p:spPr>
      </p:sp>
      <p:sp>
        <p:nvSpPr>
          <p:cNvPr id="12" name="Text 7"/>
          <p:cNvSpPr txBox="1"/>
          <p:nvPr/>
        </p:nvSpPr>
        <p:spPr>
          <a:xfrm>
            <a:off x="704088" y="4617720"/>
            <a:ext cx="554126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13" name="Text 8"/>
          <p:cNvSpPr txBox="1"/>
          <p:nvPr/>
        </p:nvSpPr>
        <p:spPr>
          <a:xfrm>
            <a:off x="704088" y="4892040"/>
            <a:ext cx="5541264" cy="96012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週次で見ると自然検索売上は ¥3.2〜3.6M/週 でほぼ一定。</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売上の振れ幅は広告経由（¥1.79M〜2.20M）で生まれている。</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月末の追加投下は効率が悪い。予算を月内で均すか、</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ROAS 下限を決めて自動的に絞る運用へ切り替えたい。</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Amazon広告パフォーマンス（2026年8月）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インプレッション</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9,074,580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+104.0%</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48,040</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CTR 0.53% / 前年比 +100.4%</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CPC</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¥18</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¥25 / -28.0%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ROAS（広告）</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999%</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726% / +273pt</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¥8,597,023</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上代の 36.4%（前年 21.3%）</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ACOS（広告）</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10.01%</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13.78% / -3.77pt</a:t>
            </a:r>
            <a:endParaRPr lang="en-US" sz="9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02920" y="3913632"/>
          <a:ext cx="5760720" cy="914400"/>
        </p:xfrm>
        <a:graphic>
          <a:graphicData uri="http://schemas.openxmlformats.org/drawingml/2006/table">
            <a:tbl>
              <a:tblPr/>
              <a:tblGrid>
                <a:gridCol w="1920240"/>
                <a:gridCol w="1371600"/>
                <a:gridCol w="1371600"/>
                <a:gridCol w="1097280"/>
              </a:tblGrid>
              <a:tr h="24688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CTR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0.54%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-0.01pt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広告費</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¥860,421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¥602,659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広告経由売上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¥8,597,023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¥4,373,712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+96.6%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ROAS（全体・上代）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3,407%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-662pt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6888">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TACOS（上代）</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3.64%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+0.71pt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31" name="Text 27"/>
          <p:cNvSpPr txBox="1"/>
          <p:nvPr/>
        </p:nvSpPr>
        <p:spPr>
          <a:xfrm>
            <a:off x="502920" y="5596128"/>
            <a:ext cx="5760720" cy="237744"/>
          </a:xfrm>
          <a:prstGeom prst="rect">
            <a:avLst/>
          </a:prstGeom>
          <a:noFill/>
          <a:ln/>
        </p:spPr>
        <p:txBody>
          <a:bodyPr wrap="square" lIns="0" tIns="0" rIns="0" bIns="0" rtlCol="0" anchor="ctr"/>
          <a:lstStyle/>
          <a:p>
            <a:pPr indent="0" marL="0">
              <a:buNone/>
            </a:pPr>
            <a:r>
              <a:rPr lang="en-US" sz="800" dirty="0">
                <a:solidFill>
                  <a:srgbClr val="6B7280"/>
                </a:solidFill>
                <a:latin typeface="Meiryo" pitchFamily="34" charset="0"/>
                <a:ea typeface="Meiryo" pitchFamily="34" charset="-122"/>
                <a:cs typeface="Meiryo" pitchFamily="34" charset="-120"/>
              </a:rPr>
              <a:t>※ インプレッション・クリック数・CPC・ROAS（広告）・ACOS（広告）は上部カードに記載。</a:t>
            </a:r>
            <a:endParaRPr lang="en-US" sz="800" dirty="0"/>
          </a:p>
        </p:txBody>
      </p:sp>
      <p:sp>
        <p:nvSpPr>
          <p:cNvPr id="32" name="Shape 28"/>
          <p:cNvSpPr/>
          <p:nvPr/>
        </p:nvSpPr>
        <p:spPr>
          <a:xfrm>
            <a:off x="6492240" y="3913632"/>
            <a:ext cx="5193792" cy="2377440"/>
          </a:xfrm>
          <a:prstGeom prst="roundRect">
            <a:avLst>
              <a:gd name="adj" fmla="val 1923"/>
            </a:avLst>
          </a:prstGeom>
          <a:solidFill>
            <a:srgbClr val="FAFBFD"/>
          </a:solidFill>
          <a:ln w="12700">
            <a:solidFill>
              <a:srgbClr val="DCE1E8"/>
            </a:solidFill>
            <a:prstDash val="solid"/>
          </a:ln>
        </p:spPr>
      </p:sp>
      <p:sp>
        <p:nvSpPr>
          <p:cNvPr id="33" name="Text 29"/>
          <p:cNvSpPr txBox="1"/>
          <p:nvPr/>
        </p:nvSpPr>
        <p:spPr>
          <a:xfrm>
            <a:off x="6693408" y="4005072"/>
            <a:ext cx="479145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考察</a:t>
            </a:r>
            <a:endParaRPr lang="en-US" sz="1100" dirty="0"/>
          </a:p>
        </p:txBody>
      </p:sp>
      <p:sp>
        <p:nvSpPr>
          <p:cNvPr id="34" name="Text 30"/>
          <p:cNvSpPr txBox="1"/>
          <p:nvPr/>
        </p:nvSpPr>
        <p:spPr>
          <a:xfrm>
            <a:off x="6693408" y="4279392"/>
            <a:ext cx="4791456" cy="1920240"/>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広告単体の効率は全指標で改善。インプ +104% /</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クリック +100% と露出を倍にしながら CPC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¥25 → ¥18（-28.0%）へ低下。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ROAS 999%（+273pt）/ ACOS 10.01%（-3.77pt）で、</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4チャネル中で圧倒的に高い広告効率。</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（楽天BM 270.5% / YAMANIGOLF 372.3% / Yahoo 397%）</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一方 全体ROAS は 3,407% → 2,745%、TACOS は</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2.93% → 3.64%。広告を増やした分だけ店舗全体の</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コスト率は上がっている。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広告の伸びしろはまだあるが、自然検索が減っている</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  状態での増額は TACOS 悪化に直結する。</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JILL STUART 実績（2026年8月）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766560" cy="914400"/>
        </p:xfrm>
        <a:graphic>
          <a:graphicData uri="http://schemas.openxmlformats.org/drawingml/2006/table">
            <a:tbl>
              <a:tblPr/>
              <a:tblGrid>
                <a:gridCol w="2103120"/>
                <a:gridCol w="1600200"/>
                <a:gridCol w="1600200"/>
                <a:gridCol w="1463040"/>
              </a:tblGrid>
              <a:tr h="3840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¥10,341,803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¥9,667,685</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+7.0%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売上（下代）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¥6,554,409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¥6,304,896</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939件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910件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客単価（上代）</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¥11,013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¥10,624</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店舗内 構成比</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43.8%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47.1%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-3.3pt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325880"/>
            <a:ext cx="4187952" cy="443484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417320"/>
            <a:ext cx="378561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分析・考察</a:t>
            </a:r>
            <a:endParaRPr lang="en-US" sz="1100" dirty="0"/>
          </a:p>
        </p:txBody>
      </p:sp>
      <p:sp>
        <p:nvSpPr>
          <p:cNvPr id="9" name="Text 5"/>
          <p:cNvSpPr txBox="1"/>
          <p:nvPr/>
        </p:nvSpPr>
        <p:spPr>
          <a:xfrm>
            <a:off x="7699248" y="1691640"/>
            <a:ext cx="3785616" cy="397764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JILL STUART 上代 ¥10,341,803（+7.0%）。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 全体 ¥23,619,924 の 43.8% を占める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最大ブランドで、この1ブランドの動きが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Amazon全体を左右する構造。</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ただし伸び率は店舗全体（+15.0%）を下回り、</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構成比は 47.1% → 43.8%（-3.3pt）へ低下。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他ブランドが相対的に伸びたことを示す。</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 +3.2% に対し上代 +7.0%。客単価は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¥10,624 → ¥11,013（+3.7%）で、単価の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高い商品が売れるようになっている。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前月 2026年7月 ¥12,550,949 からは -17.6%。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Amazon全体の前月比 -11.9% より落ち込みが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大きく、8月は JILL STUART が全体の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足を引っ張った形。</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楽天（構成比 42.7%）/ Yahoo（37.6%）でも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首位であり、3チャネル共通の主力。</a:t>
            </a:r>
            <a:endParaRPr lang="en-US" sz="950" dirty="0"/>
          </a:p>
        </p:txBody>
      </p:sp>
      <p:sp>
        <p:nvSpPr>
          <p:cNvPr id="10" name="Shape 6"/>
          <p:cNvSpPr/>
          <p:nvPr/>
        </p:nvSpPr>
        <p:spPr>
          <a:xfrm>
            <a:off x="502920" y="3566160"/>
            <a:ext cx="6766560" cy="2148840"/>
          </a:xfrm>
          <a:prstGeom prst="roundRect">
            <a:avLst>
              <a:gd name="adj" fmla="val 2128"/>
            </a:avLst>
          </a:prstGeom>
          <a:solidFill>
            <a:srgbClr val="FAFBFD"/>
          </a:solidFill>
          <a:ln w="12700">
            <a:solidFill>
              <a:srgbClr val="DCE1E8"/>
            </a:solidFill>
            <a:prstDash val="solid"/>
          </a:ln>
        </p:spPr>
      </p:sp>
      <p:sp>
        <p:nvSpPr>
          <p:cNvPr id="11" name="Text 7"/>
          <p:cNvSpPr txBox="1"/>
          <p:nvPr/>
        </p:nvSpPr>
        <p:spPr>
          <a:xfrm>
            <a:off x="704088" y="3657600"/>
            <a:ext cx="6364224"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本版で作成できていないスライド</a:t>
            </a:r>
            <a:endParaRPr lang="en-US" sz="1100" dirty="0"/>
          </a:p>
        </p:txBody>
      </p:sp>
      <p:sp>
        <p:nvSpPr>
          <p:cNvPr id="12" name="Text 8"/>
          <p:cNvSpPr txBox="1"/>
          <p:nvPr/>
        </p:nvSpPr>
        <p:spPr>
          <a:xfrm>
            <a:off x="704088" y="3931920"/>
            <a:ext cx="6364224" cy="1691640"/>
          </a:xfrm>
          <a:prstGeom prst="rect">
            <a:avLst/>
          </a:prstGeom>
          <a:noFill/>
          <a:ln/>
        </p:spPr>
        <p:txBody>
          <a:bodyPr wrap="square" lIns="0" tIns="0" rIns="0" bIns="0" rtlCol="0" anchor="t"/>
          <a:lstStyle/>
          <a:p>
            <a:pPr indent="0" marL="0">
              <a:lnSpc>
                <a:spcPct val="122000"/>
              </a:lnSpc>
              <a:buNone/>
            </a:pPr>
            <a:r>
              <a:rPr lang="en-US" sz="900" dirty="0">
                <a:solidFill>
                  <a:srgbClr val="1F2733"/>
                </a:solidFill>
                <a:latin typeface="Meiryo" pitchFamily="34" charset="0"/>
                <a:ea typeface="Meiryo" pitchFamily="34" charset="-122"/>
                <a:cs typeface="Meiryo" pitchFamily="34" charset="-120"/>
              </a:rPr>
              <a:t>運用レポートの「商品別_全体実績（ブランド別）」は、2026年8月・7月とも</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JILL STUART の1行のみ入力済みで、他ブランドが未入力のため作成を見送っています。</a:t>
            </a:r>
            <a:endParaRPr lang="en-US" sz="900" dirty="0"/>
          </a:p>
          <a:p>
            <a:pPr indent="0" marL="0">
              <a:lnSpc>
                <a:spcPct val="122000"/>
              </a:lnSpc>
              <a:buNone/>
            </a:pP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・ブランド別売上 単月前年比（7月度版 3枚目相当）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・ブランド別 Amazon広告実績（同 4枚目相当）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・BEAMS DESIGN 運用方針 / 競合ASIN・指名KW TOP15（同 5・6枚目相当）</a:t>
            </a:r>
            <a:endParaRPr lang="en-US" sz="900" dirty="0"/>
          </a:p>
          <a:p>
            <a:pPr indent="0" marL="0">
              <a:lnSpc>
                <a:spcPct val="122000"/>
              </a:lnSpc>
              <a:buNone/>
            </a:pPr>
            <a:r>
              <a:rPr lang="en-US" sz="900" dirty="0">
                <a:solidFill>
                  <a:srgbClr val="1F2733"/>
                </a:solidFill>
                <a:latin typeface="Meiryo" pitchFamily="34" charset="0"/>
                <a:ea typeface="Meiryo" pitchFamily="34" charset="-122"/>
                <a:cs typeface="Meiryo" pitchFamily="34" charset="-120"/>
              </a:rPr>
              <a:t>　※「ビームスデザイン広告実績」シートは7月時点のデータのままです。</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BAGMANIA Amazon ベンダー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BAGMANIA Amazon (ベンダー)  /  2026年8月度 分析レポート</a:t>
            </a:r>
            <a:endParaRPr lang="en-US" sz="800" dirty="0"/>
          </a:p>
        </p:txBody>
      </p:sp>
      <p:sp>
        <p:nvSpPr>
          <p:cNvPr id="6" name="Shape 3"/>
          <p:cNvSpPr/>
          <p:nvPr/>
        </p:nvSpPr>
        <p:spPr>
          <a:xfrm>
            <a:off x="502920" y="1207008"/>
            <a:ext cx="5513832" cy="3931920"/>
          </a:xfrm>
          <a:prstGeom prst="roundRect">
            <a:avLst>
              <a:gd name="adj" fmla="val 1395"/>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291840"/>
          </a:xfrm>
          <a:prstGeom prst="rect">
            <a:avLst/>
          </a:prstGeom>
          <a:noFill/>
          <a:ln/>
        </p:spPr>
        <p:txBody>
          <a:bodyPr wrap="square" lIns="0" tIns="0" rIns="0" bIns="0" rtlCol="0" anchor="t"/>
          <a:lstStyle/>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上代売上 ¥23,619,924（+15.0%）で4チャネル中最大規模</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売上件数 2,214件（+14.1%）と実数で拡大</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 ROAS 999%（+273pt）/ ACOS 10.01%（-3.77pt）</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CPC ¥25 → ¥18（-28.0%）。露出を倍にしつつ単価を低減</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インプレッション +104.0% / クリック +100.4%</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広告経由売上 ¥8,597,023（+96.6%）でほぼ倍増</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広告効率は4チャネル中で圧倒的に高い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（楽天BM 270.5% / YAMANIGOLF 372.3% / Yahoo 397%）</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JILL STUART 上代 +7.0%、客単価 +3.7% で単価改善</a:t>
            </a:r>
            <a:endParaRPr lang="en-US" sz="900" dirty="0"/>
          </a:p>
          <a:p>
            <a:pPr indent="0" marL="0">
              <a:lnSpc>
                <a:spcPct val="130000"/>
              </a:lnSpc>
              <a:buNone/>
            </a:pPr>
            <a:r>
              <a:rPr lang="en-US" sz="900" dirty="0">
                <a:solidFill>
                  <a:srgbClr val="1F2733"/>
                </a:solidFill>
                <a:latin typeface="Meiryo" pitchFamily="34" charset="0"/>
                <a:ea typeface="Meiryo" pitchFamily="34" charset="-122"/>
                <a:cs typeface="Meiryo" pitchFamily="34" charset="-120"/>
              </a:rPr>
              <a:t>●  客単価 ¥10,668（+0.8%）で水準を維持</a:t>
            </a:r>
            <a:endParaRPr lang="en-US" sz="900" dirty="0"/>
          </a:p>
        </p:txBody>
      </p:sp>
      <p:sp>
        <p:nvSpPr>
          <p:cNvPr id="9" name="Shape 6"/>
          <p:cNvSpPr/>
          <p:nvPr/>
        </p:nvSpPr>
        <p:spPr>
          <a:xfrm>
            <a:off x="6172200" y="1207008"/>
            <a:ext cx="5513832" cy="3931920"/>
          </a:xfrm>
          <a:prstGeom prst="roundRect">
            <a:avLst>
              <a:gd name="adj" fmla="val 1395"/>
            </a:avLst>
          </a:prstGeom>
          <a:solidFill>
            <a:srgbClr val="EAF1F8"/>
          </a:solidFill>
          <a:ln w="12700">
            <a:solidFill>
              <a:srgbClr val="C6D8E9"/>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146EB4"/>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291840"/>
          </a:xfrm>
          <a:prstGeom prst="rect">
            <a:avLst/>
          </a:prstGeom>
          <a:noFill/>
          <a:ln/>
        </p:spPr>
        <p:txBody>
          <a:bodyPr wrap="square" lIns="0" tIns="0" rIns="0" bIns="0" rtlCol="0" anchor="t"/>
          <a:lstStyle/>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自然検索売上 -7.0%（¥16,162K → ¥15,023K）</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増収は全額が広告由来。土台が細っている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検索順位・レビュー・在庫・A+ の見直しを最優先</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広告経由 構成比 21.3% → 36.4%（+15.1pt）</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広告を止めた時の売上耐性が1年で大きく低下</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全体ROAS 3,407% → 2,745% / TACOS 2.93% → 3.64%</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店舗全体の広告コスト率は悪化。増額は慎重に</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月末3日に広告費を集中投下（日平均2.7倍）</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ROAS 558% と月平均999%の半分。予算を月内で均す</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もしくは ROAS 下限を設定して自動で絞る運用へ</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JILL STUART 構成比 -3.3pt / 前月比 -17.6%</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全体の前月比 -11.9% より落ち込みが大きい</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運用レポートのブランド別実績が未入力</a:t>
            </a:r>
            <a:endParaRPr lang="en-US" sz="900" dirty="0"/>
          </a:p>
          <a:p>
            <a:pPr indent="0" marL="0">
              <a:lnSpc>
                <a:spcPct val="124000"/>
              </a:lnSpc>
              <a:buNone/>
            </a:pPr>
            <a:r>
              <a:rPr lang="en-US" sz="900" dirty="0">
                <a:solidFill>
                  <a:srgbClr val="1F2733"/>
                </a:solidFill>
                <a:latin typeface="Meiryo" pitchFamily="34" charset="0"/>
                <a:ea typeface="Meiryo" pitchFamily="34" charset="-122"/>
                <a:cs typeface="Meiryo" pitchFamily="34" charset="-120"/>
              </a:rPr>
              <a:t>   → ブランド別の打ち手が立てられない。入力の運用化を</a:t>
            </a:r>
            <a:endParaRPr lang="en-US" sz="900" dirty="0"/>
          </a:p>
        </p:txBody>
      </p:sp>
      <p:sp>
        <p:nvSpPr>
          <p:cNvPr id="12" name="Shape 9"/>
          <p:cNvSpPr/>
          <p:nvPr/>
        </p:nvSpPr>
        <p:spPr>
          <a:xfrm>
            <a:off x="502920" y="5257800"/>
            <a:ext cx="11183112" cy="1078992"/>
          </a:xfrm>
          <a:prstGeom prst="roundRect">
            <a:avLst>
              <a:gd name="adj" fmla="val 4237"/>
            </a:avLst>
          </a:prstGeom>
          <a:solidFill>
            <a:srgbClr val="FAFBFD"/>
          </a:solidFill>
          <a:ln w="12700">
            <a:solidFill>
              <a:srgbClr val="DCE1E8"/>
            </a:solidFill>
            <a:prstDash val="solid"/>
          </a:ln>
        </p:spPr>
      </p:sp>
      <p:sp>
        <p:nvSpPr>
          <p:cNvPr id="13" name="Text 10"/>
          <p:cNvSpPr txBox="1"/>
          <p:nvPr/>
        </p:nvSpPr>
        <p:spPr>
          <a:xfrm>
            <a:off x="704088" y="5349240"/>
            <a:ext cx="10780776" cy="256032"/>
          </a:xfrm>
          <a:prstGeom prst="rect">
            <a:avLst/>
          </a:prstGeom>
          <a:noFill/>
          <a:ln/>
        </p:spPr>
        <p:txBody>
          <a:bodyPr wrap="square" lIns="0" tIns="0" rIns="0" bIns="0" rtlCol="0" anchor="ctr"/>
          <a:lstStyle/>
          <a:p>
            <a:pPr indent="0" marL="0">
              <a:buNone/>
            </a:pPr>
            <a:r>
              <a:rPr lang="en-US" sz="1100" b="1" dirty="0">
                <a:solidFill>
                  <a:srgbClr val="146EB4"/>
                </a:solidFill>
                <a:latin typeface="Meiryo" pitchFamily="34" charset="0"/>
                <a:ea typeface="Meiryo" pitchFamily="34" charset="-122"/>
                <a:cs typeface="Meiryo" pitchFamily="34" charset="-120"/>
              </a:rPr>
              <a:t>■  数値の取り扱いについて（重要）</a:t>
            </a:r>
            <a:endParaRPr lang="en-US" sz="1100" dirty="0"/>
          </a:p>
        </p:txBody>
      </p:sp>
      <p:sp>
        <p:nvSpPr>
          <p:cNvPr id="14" name="Text 11"/>
          <p:cNvSpPr txBox="1"/>
          <p:nvPr/>
        </p:nvSpPr>
        <p:spPr>
          <a:xfrm>
            <a:off x="704088" y="5623560"/>
            <a:ext cx="10780776" cy="621792"/>
          </a:xfrm>
          <a:prstGeom prst="rect">
            <a:avLst/>
          </a:prstGeom>
          <a:noFill/>
          <a:ln/>
        </p:spPr>
        <p:txBody>
          <a:bodyPr wrap="square" lIns="0" tIns="0" rIns="0" bIns="0" rtlCol="0" anchor="t"/>
          <a:lstStyle/>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本資料の2026年8月売上は日別実績の合計値 ¥23,619,924 を採用しています。運用レポートのサマリ欄は ¥22,828,454 ですが、合計式の範囲が8月31日（¥791,470）を含んでいません。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同じ事象は2026年7月にも発生しており（サマリ ¥26,145,820 / 日別合計 ¥26,805,720・差 ¥659,900）、7月度版の資料もこの影響を受けています。2026年6月・2025年8月は一致しており問題ありません。</a:t>
            </a:r>
            <a:endParaRPr lang="en-US" sz="800" dirty="0"/>
          </a:p>
          <a:p>
            <a:pPr indent="0" marL="0">
              <a:lnSpc>
                <a:spcPct val="122000"/>
              </a:lnSpc>
              <a:buNone/>
            </a:pPr>
            <a:r>
              <a:rPr lang="en-US" sz="800" dirty="0">
                <a:solidFill>
                  <a:srgbClr val="1F2733"/>
                </a:solidFill>
                <a:latin typeface="Meiryo" pitchFamily="34" charset="0"/>
                <a:ea typeface="Meiryo" pitchFamily="34" charset="-122"/>
                <a:cs typeface="Meiryo" pitchFamily="34" charset="-120"/>
              </a:rPr>
              <a:t>根拠：全月で「自然検索売上＋広告経由売上＝上代」が成立するのは日別合計側のみです（2026年8月：¥15,022,901＋¥8,597,023＝¥23,619,924）。運用レポート側の修正をご検討ください。</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2026-09-13T13:02:42Z</dcterms:created>
  <dcterms:modified xsi:type="dcterms:W3CDTF">2026-09-13T13:02:42Z</dcterms:modified>
</cp:coreProperties>
</file>