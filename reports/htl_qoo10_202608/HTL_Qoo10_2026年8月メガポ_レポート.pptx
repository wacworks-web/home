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HTL様（ヘアセオリーラボ）Qoo10 2026年8月メガポ（8/1〜8/9）の振り返り。比較対象は7月メガポ（7/1〜7/9）。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売上減の主因は新規集客の縮小。CVR・客単価・リピート基盤は良好で、回復の起点は新規流入の再獲得。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広告費7,100に対し広告売上38,366、ROAS540%。メニュー間で効率差が大きい点が論点。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①は商品企画（HTL メガ割向けセット商品）ご提案①②より。希望順は②セット＞①2個セット。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91F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title_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F4D">
              <a:alpha val="95000"/>
            </a:srgbClr>
          </a:solidFill>
          <a:ln w="12700">
            <a:solidFill>
              <a:srgbClr val="191F4D"/>
            </a:solidFill>
            <a:prstDash val="solid"/>
          </a:ln>
        </p:spPr>
      </p:sp>
      <p:pic>
        <p:nvPicPr>
          <p:cNvPr id="4" name="Image 1" descr="assets/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4752" y="2167128"/>
            <a:ext cx="3785616" cy="2615184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099048" y="2167128"/>
            <a:ext cx="0" cy="2697480"/>
          </a:xfrm>
          <a:prstGeom prst="line">
            <a:avLst/>
          </a:prstGeom>
          <a:noFill/>
          <a:ln w="9525">
            <a:solidFill>
              <a:srgbClr val="9AA0B4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6748272" y="2395728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HTL様  Qoo10 メガポ 振り返りレポート</a:t>
            </a:r>
            <a:endParaRPr lang="en-US" sz="1950" dirty="0"/>
          </a:p>
        </p:txBody>
      </p:sp>
      <p:sp>
        <p:nvSpPr>
          <p:cNvPr id="7" name="Text 3"/>
          <p:cNvSpPr txBox="1"/>
          <p:nvPr/>
        </p:nvSpPr>
        <p:spPr>
          <a:xfrm>
            <a:off x="6748272" y="3017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E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2026年8月メガポ 運用振り返り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6748272" y="3566160"/>
            <a:ext cx="4846320" cy="18288"/>
          </a:xfrm>
          <a:prstGeom prst="rect">
            <a:avLst/>
          </a:prstGeom>
          <a:solidFill>
            <a:srgbClr val="5B6182"/>
          </a:solidFill>
          <a:ln w="12700">
            <a:solidFill>
              <a:srgbClr val="5B618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748272" y="367588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CE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対象期間: 2026年8月1日〜9日（メガポ期間 9日間）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6748272" y="39319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CE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比較: 2026年7月1日〜9日（メガポ期間）</a:t>
            </a:r>
            <a:endParaRPr lang="en-US" sz="1050" dirty="0"/>
          </a:p>
        </p:txBody>
      </p:sp>
      <p:sp>
        <p:nvSpPr>
          <p:cNvPr id="11" name="Text 7"/>
          <p:cNvSpPr txBox="1"/>
          <p:nvPr/>
        </p:nvSpPr>
        <p:spPr>
          <a:xfrm>
            <a:off x="6748272" y="437083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作成：株式会社Wacworks   |   2026年8月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301752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Copyright © Wacworks Inc. All Rights Reserved.</a:t>
            </a:r>
            <a:endParaRPr lang="en-US" sz="800" dirty="0"/>
          </a:p>
        </p:txBody>
      </p:sp>
      <p:sp>
        <p:nvSpPr>
          <p:cNvPr id="13" name="Text 9"/>
          <p:cNvSpPr txBox="1"/>
          <p:nvPr/>
        </p:nvSpPr>
        <p:spPr>
          <a:xfrm>
            <a:off x="10426903" y="6492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2A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 / 13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1752" y="228600"/>
            <a:ext cx="137160" cy="493776"/>
          </a:xfrm>
          <a:prstGeom prst="rect">
            <a:avLst/>
          </a:prstGeom>
          <a:solidFill>
            <a:srgbClr val="191F4D"/>
          </a:solidFill>
          <a:ln w="12700">
            <a:solidFill>
              <a:srgbClr val="191F4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01168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エグゼクティブサマリー ─ 2026年8月メガポ（8/1〜9）</a:t>
            </a:r>
            <a:endParaRPr lang="en-US" sz="2400" dirty="0"/>
          </a:p>
        </p:txBody>
      </p:sp>
      <p:pic>
        <p:nvPicPr>
          <p:cNvPr id="4" name="Image 0" descr="assets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9935" y="219456"/>
            <a:ext cx="2331720" cy="43342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01752" y="786384"/>
            <a:ext cx="11588191" cy="0"/>
          </a:xfrm>
          <a:prstGeom prst="line">
            <a:avLst/>
          </a:prstGeom>
          <a:noFill/>
          <a:ln w="9525">
            <a:solidFill>
              <a:srgbClr val="8C929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88175" y="795528"/>
            <a:ext cx="4754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比較：2026年7月メガポ（7/1〜9）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48640" y="1051560"/>
            <a:ext cx="2101840" cy="1234440"/>
          </a:xfrm>
          <a:prstGeom prst="roundRect">
            <a:avLst>
              <a:gd name="adj" fmla="val 5185"/>
            </a:avLst>
          </a:prstGeom>
          <a:solidFill>
            <a:srgbClr val="F4F5F8"/>
          </a:solidFill>
          <a:ln w="9525">
            <a:solidFill>
              <a:srgbClr val="D4D6DE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1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13232" y="1161288"/>
            <a:ext cx="177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売上金額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713232" y="1417320"/>
            <a:ext cx="1772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¥604,819</a:t>
            </a:r>
            <a:endParaRPr lang="en-US" sz="2100" dirty="0"/>
          </a:p>
        </p:txBody>
      </p:sp>
      <p:sp>
        <p:nvSpPr>
          <p:cNvPr id="10" name="Text 7"/>
          <p:cNvSpPr txBox="1"/>
          <p:nvPr/>
        </p:nvSpPr>
        <p:spPr>
          <a:xfrm>
            <a:off x="713232" y="1901952"/>
            <a:ext cx="1772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9日間合計（7月比 -20.4%）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796784" y="1051560"/>
            <a:ext cx="2101840" cy="1234440"/>
          </a:xfrm>
          <a:prstGeom prst="roundRect">
            <a:avLst>
              <a:gd name="adj" fmla="val 5185"/>
            </a:avLst>
          </a:prstGeom>
          <a:solidFill>
            <a:srgbClr val="F4F5F8"/>
          </a:solidFill>
          <a:ln w="9525">
            <a:solidFill>
              <a:srgbClr val="D4D6DE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18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2961376" y="1161288"/>
            <a:ext cx="177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売上件数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2961376" y="1417320"/>
            <a:ext cx="1772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121件</a:t>
            </a:r>
            <a:endParaRPr lang="en-US" sz="2100" dirty="0"/>
          </a:p>
        </p:txBody>
      </p:sp>
      <p:sp>
        <p:nvSpPr>
          <p:cNvPr id="14" name="Text 11"/>
          <p:cNvSpPr txBox="1"/>
          <p:nvPr/>
        </p:nvSpPr>
        <p:spPr>
          <a:xfrm>
            <a:off x="2961376" y="1901952"/>
            <a:ext cx="1772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平均13.4件/日（-21.4%）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044928" y="1051560"/>
            <a:ext cx="2101840" cy="1234440"/>
          </a:xfrm>
          <a:prstGeom prst="roundRect">
            <a:avLst>
              <a:gd name="adj" fmla="val 5185"/>
            </a:avLst>
          </a:prstGeom>
          <a:solidFill>
            <a:srgbClr val="F4F5F8"/>
          </a:solidFill>
          <a:ln w="9525">
            <a:solidFill>
              <a:srgbClr val="D4D6DE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18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5209520" y="1161288"/>
            <a:ext cx="177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訪問者数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5209520" y="1417320"/>
            <a:ext cx="1772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1,099</a:t>
            </a:r>
            <a:endParaRPr lang="en-US" sz="2100" dirty="0"/>
          </a:p>
        </p:txBody>
      </p:sp>
      <p:sp>
        <p:nvSpPr>
          <p:cNvPr id="18" name="Text 15"/>
          <p:cNvSpPr txBox="1"/>
          <p:nvPr/>
        </p:nvSpPr>
        <p:spPr>
          <a:xfrm>
            <a:off x="5209520" y="1901952"/>
            <a:ext cx="1772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平均122人/日（-19.8%）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7293072" y="1051560"/>
            <a:ext cx="2101840" cy="1234440"/>
          </a:xfrm>
          <a:prstGeom prst="roundRect">
            <a:avLst>
              <a:gd name="adj" fmla="val 5185"/>
            </a:avLst>
          </a:prstGeom>
          <a:solidFill>
            <a:srgbClr val="F4F5F8"/>
          </a:solidFill>
          <a:ln w="9525">
            <a:solidFill>
              <a:srgbClr val="D4D6DE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18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7457664" y="1161288"/>
            <a:ext cx="177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平均客単価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7457664" y="1417320"/>
            <a:ext cx="1772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E75B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¥4,999</a:t>
            </a:r>
            <a:endParaRPr lang="en-US" sz="2100" dirty="0"/>
          </a:p>
        </p:txBody>
      </p:sp>
      <p:sp>
        <p:nvSpPr>
          <p:cNvPr id="22" name="Text 19"/>
          <p:cNvSpPr txBox="1"/>
          <p:nvPr/>
        </p:nvSpPr>
        <p:spPr>
          <a:xfrm>
            <a:off x="7457664" y="1901952"/>
            <a:ext cx="1772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7月比 +1.4%（+¥68）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9541215" y="1051560"/>
            <a:ext cx="2101840" cy="1234440"/>
          </a:xfrm>
          <a:prstGeom prst="roundRect">
            <a:avLst>
              <a:gd name="adj" fmla="val 5185"/>
            </a:avLst>
          </a:prstGeom>
          <a:solidFill>
            <a:srgbClr val="F4F5F8"/>
          </a:solidFill>
          <a:ln w="9525">
            <a:solidFill>
              <a:srgbClr val="D4D6DE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18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9705807" y="1161288"/>
            <a:ext cx="177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購入顧客数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9705807" y="1417320"/>
            <a:ext cx="1772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E75B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113名</a:t>
            </a:r>
            <a:endParaRPr lang="en-US" sz="2100" dirty="0"/>
          </a:p>
        </p:txBody>
      </p:sp>
      <p:sp>
        <p:nvSpPr>
          <p:cNvPr id="26" name="Text 23"/>
          <p:cNvSpPr txBox="1"/>
          <p:nvPr/>
        </p:nvSpPr>
        <p:spPr>
          <a:xfrm>
            <a:off x="9705807" y="1901952"/>
            <a:ext cx="1772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リピート61.9%（+22.3pt）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548640" y="2487168"/>
            <a:ext cx="11094415" cy="3200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4D6DE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18000"/>
              </a:srgbClr>
            </a:outerShdw>
          </a:effectLst>
        </p:spPr>
      </p:sp>
      <p:sp>
        <p:nvSpPr>
          <p:cNvPr id="28" name="Text 25"/>
          <p:cNvSpPr txBox="1"/>
          <p:nvPr/>
        </p:nvSpPr>
        <p:spPr>
          <a:xfrm>
            <a:off x="804672" y="26060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91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総評</a:t>
            </a:r>
            <a:endParaRPr lang="en-US" sz="1250" dirty="0"/>
          </a:p>
        </p:txBody>
      </p:sp>
      <p:sp>
        <p:nvSpPr>
          <p:cNvPr id="29" name="Text 26"/>
          <p:cNvSpPr txBox="1"/>
          <p:nvPr/>
        </p:nvSpPr>
        <p:spPr>
          <a:xfrm>
            <a:off x="804672" y="2971800"/>
            <a:ext cx="10582351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2000"/>
              </a:lnSpc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4449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8月メガポ期間（8/1〜9）売上¥604,819。7月同期間（¥759,378）比で -20.4%、-¥154,559の減少となった。</a:t>
            </a:r>
            <a:endParaRPr lang="en-US" sz="1100" dirty="0"/>
          </a:p>
          <a:p>
            <a:pPr marL="342900" indent="-342900">
              <a:lnSpc>
                <a:spcPct val="122000"/>
              </a:lnSpc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4449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▼ 減少の主因は集客。訪問者-19.8%・PV-22.6%と流入が縮小し、売上減とほぼ同率で推移している。</a:t>
            </a:r>
            <a:endParaRPr lang="en-US" sz="1100" dirty="0"/>
          </a:p>
          <a:p>
            <a:pPr marL="342900" indent="-342900">
              <a:lnSpc>
                <a:spcPct val="122000"/>
              </a:lnSpc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4449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 一方でCVR 11.01%（-0.22pt）と客単価¥4,999（+1.4%）は維持。「入ってきた顧客の買う力」は落ちていない。</a:t>
            </a:r>
            <a:endParaRPr lang="en-US" sz="1100" dirty="0"/>
          </a:p>
          <a:p>
            <a:pPr marL="342900" indent="-342900">
              <a:lnSpc>
                <a:spcPct val="122000"/>
              </a:lnSpc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4449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 最大の構造変化は顧客層。新規は90→43名（-52.2%）と半減した反面、リピーターは59→70名（+18.6%）に増加し、リピート比率が39.6%→61.9%へ逆転した。</a:t>
            </a:r>
            <a:endParaRPr lang="en-US" sz="1100" dirty="0"/>
          </a:p>
          <a:p>
            <a:pPr marL="342900" indent="-342900">
              <a:lnSpc>
                <a:spcPct val="122000"/>
              </a:lnSpc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4449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▼ サイト内回遊の急減が顕著。カート流入-58.7%、商品詳細ページ-52.7%、カテゴリページ-42.4%と、回遊系チャネルが軒並み半減。</a:t>
            </a:r>
            <a:endParaRPr lang="en-US" sz="1100" dirty="0"/>
          </a:p>
          <a:p>
            <a:pPr marL="342900" indent="-342900">
              <a:lnSpc>
                <a:spcPct val="122000"/>
              </a:lnSpc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4449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▼ ブランド指名KW「ヘアセオリーラボ」57→35件（-38.6%）。認知系の流入縮小が新規減に直結している。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301752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0A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Copyright © Wacworks Inc. All Rights Reserved.</a:t>
            </a:r>
            <a:endParaRPr lang="en-US" sz="800" dirty="0"/>
          </a:p>
        </p:txBody>
      </p:sp>
      <p:sp>
        <p:nvSpPr>
          <p:cNvPr id="31" name="Text 28"/>
          <p:cNvSpPr txBox="1"/>
          <p:nvPr/>
        </p:nvSpPr>
        <p:spPr>
          <a:xfrm>
            <a:off x="10426903" y="6492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0A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 / 13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1752" y="228600"/>
            <a:ext cx="137160" cy="493776"/>
          </a:xfrm>
          <a:prstGeom prst="rect">
            <a:avLst/>
          </a:prstGeom>
          <a:solidFill>
            <a:srgbClr val="191F4D"/>
          </a:solidFill>
          <a:ln w="12700">
            <a:solidFill>
              <a:srgbClr val="191F4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01168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 7月vs8月 KPI比較サマリー（メガポ同日比較）</a:t>
            </a:r>
            <a:endParaRPr lang="en-US" sz="2400" dirty="0"/>
          </a:p>
        </p:txBody>
      </p:sp>
      <p:pic>
        <p:nvPicPr>
          <p:cNvPr id="4" name="Image 0" descr="assets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9935" y="219456"/>
            <a:ext cx="2331720" cy="43342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01752" y="786384"/>
            <a:ext cx="11588191" cy="0"/>
          </a:xfrm>
          <a:prstGeom prst="line">
            <a:avLst/>
          </a:prstGeom>
          <a:noFill/>
          <a:ln w="9525">
            <a:solidFill>
              <a:srgbClr val="8C929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88175" y="795528"/>
            <a:ext cx="4754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8/1〜8/9  vs  7/1〜7/9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48640" y="1051560"/>
            <a:ext cx="2101840" cy="1097280"/>
          </a:xfrm>
          <a:prstGeom prst="roundRect">
            <a:avLst>
              <a:gd name="adj" fmla="val 5833"/>
            </a:avLst>
          </a:prstGeom>
          <a:solidFill>
            <a:srgbClr val="F4F5F8"/>
          </a:solidFill>
          <a:ln w="9525">
            <a:solidFill>
              <a:srgbClr val="D4D6DE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1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85800" y="1124712"/>
            <a:ext cx="182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売上金額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1325880"/>
            <a:ext cx="182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7月  ¥759,378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1554480"/>
            <a:ext cx="182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91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8月  ¥604,819</a:t>
            </a:r>
            <a:endParaRPr lang="en-US" sz="145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1856232"/>
            <a:ext cx="182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▼ -20.4%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796784" y="1051560"/>
            <a:ext cx="2101840" cy="1097280"/>
          </a:xfrm>
          <a:prstGeom prst="roundRect">
            <a:avLst>
              <a:gd name="adj" fmla="val 5833"/>
            </a:avLst>
          </a:prstGeom>
          <a:solidFill>
            <a:srgbClr val="F4F5F8"/>
          </a:solidFill>
          <a:ln w="9525">
            <a:solidFill>
              <a:srgbClr val="D4D6DE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1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2933944" y="1124712"/>
            <a:ext cx="182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売上件数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2933944" y="1325880"/>
            <a:ext cx="182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7月  154件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2933944" y="1554480"/>
            <a:ext cx="182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91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8月  121件</a:t>
            </a:r>
            <a:endParaRPr lang="en-US" sz="1450" dirty="0"/>
          </a:p>
        </p:txBody>
      </p:sp>
      <p:sp>
        <p:nvSpPr>
          <p:cNvPr id="16" name="Text 13"/>
          <p:cNvSpPr txBox="1"/>
          <p:nvPr/>
        </p:nvSpPr>
        <p:spPr>
          <a:xfrm>
            <a:off x="2933944" y="1856232"/>
            <a:ext cx="182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▼ -21.4%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044928" y="1051560"/>
            <a:ext cx="2101840" cy="1097280"/>
          </a:xfrm>
          <a:prstGeom prst="roundRect">
            <a:avLst>
              <a:gd name="adj" fmla="val 5833"/>
            </a:avLst>
          </a:prstGeom>
          <a:solidFill>
            <a:srgbClr val="F4F5F8"/>
          </a:solidFill>
          <a:ln w="9525">
            <a:solidFill>
              <a:srgbClr val="D4D6DE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18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5182088" y="1124712"/>
            <a:ext cx="182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訪問者数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5182088" y="1325880"/>
            <a:ext cx="182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7月  1,371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5182088" y="1554480"/>
            <a:ext cx="182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91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8月  1,099</a:t>
            </a:r>
            <a:endParaRPr lang="en-US" sz="1450" dirty="0"/>
          </a:p>
        </p:txBody>
      </p:sp>
      <p:sp>
        <p:nvSpPr>
          <p:cNvPr id="21" name="Text 18"/>
          <p:cNvSpPr txBox="1"/>
          <p:nvPr/>
        </p:nvSpPr>
        <p:spPr>
          <a:xfrm>
            <a:off x="5182088" y="1856232"/>
            <a:ext cx="182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▼ -19.8%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293072" y="1051560"/>
            <a:ext cx="2101840" cy="1097280"/>
          </a:xfrm>
          <a:prstGeom prst="roundRect">
            <a:avLst>
              <a:gd name="adj" fmla="val 5833"/>
            </a:avLst>
          </a:prstGeom>
          <a:solidFill>
            <a:srgbClr val="F4F5F8"/>
          </a:solidFill>
          <a:ln w="9525">
            <a:solidFill>
              <a:srgbClr val="D4D6DE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18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7430232" y="1124712"/>
            <a:ext cx="182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CVR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7430232" y="1325880"/>
            <a:ext cx="182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7月  11.23%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7430232" y="1554480"/>
            <a:ext cx="182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91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8月  11.01%</a:t>
            </a:r>
            <a:endParaRPr lang="en-US" sz="1450" dirty="0"/>
          </a:p>
        </p:txBody>
      </p:sp>
      <p:sp>
        <p:nvSpPr>
          <p:cNvPr id="26" name="Text 23"/>
          <p:cNvSpPr txBox="1"/>
          <p:nvPr/>
        </p:nvSpPr>
        <p:spPr>
          <a:xfrm>
            <a:off x="7430232" y="1856232"/>
            <a:ext cx="182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-0.22pt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9541215" y="1051560"/>
            <a:ext cx="2101840" cy="1097280"/>
          </a:xfrm>
          <a:prstGeom prst="roundRect">
            <a:avLst>
              <a:gd name="adj" fmla="val 5833"/>
            </a:avLst>
          </a:prstGeom>
          <a:solidFill>
            <a:srgbClr val="F4F5F8"/>
          </a:solidFill>
          <a:ln w="9525">
            <a:solidFill>
              <a:srgbClr val="D4D6DE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18000"/>
              </a:srgbClr>
            </a:outerShdw>
          </a:effectLst>
        </p:spPr>
      </p:sp>
      <p:sp>
        <p:nvSpPr>
          <p:cNvPr id="28" name="Text 25"/>
          <p:cNvSpPr txBox="1"/>
          <p:nvPr/>
        </p:nvSpPr>
        <p:spPr>
          <a:xfrm>
            <a:off x="9678375" y="1124712"/>
            <a:ext cx="182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客単価</a:t>
            </a:r>
            <a:endParaRPr lang="en-US" sz="950" dirty="0"/>
          </a:p>
        </p:txBody>
      </p:sp>
      <p:sp>
        <p:nvSpPr>
          <p:cNvPr id="29" name="Text 26"/>
          <p:cNvSpPr txBox="1"/>
          <p:nvPr/>
        </p:nvSpPr>
        <p:spPr>
          <a:xfrm>
            <a:off x="9678375" y="1325880"/>
            <a:ext cx="182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7月  ¥4,931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9678375" y="1554480"/>
            <a:ext cx="182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91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8月  ¥4,999</a:t>
            </a:r>
            <a:endParaRPr lang="en-US" sz="1450" dirty="0"/>
          </a:p>
        </p:txBody>
      </p:sp>
      <p:sp>
        <p:nvSpPr>
          <p:cNvPr id="31" name="Text 28"/>
          <p:cNvSpPr txBox="1"/>
          <p:nvPr/>
        </p:nvSpPr>
        <p:spPr>
          <a:xfrm>
            <a:off x="9678375" y="1856232"/>
            <a:ext cx="182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5B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▲ +1.4%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95728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331720"/>
                <a:gridCol w="2331720"/>
                <a:gridCol w="1828800"/>
                <a:gridCol w="1856232"/>
              </a:tblGrid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指標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7月メガポ（7/1-9）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8月メガポ（8/1-9）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差分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評価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売上金額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¥759,378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¥604,819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-¥154,559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▼ -20.4%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売上件数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154件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121件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-33件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▼ -21.4%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訪問者数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1,371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1,099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-272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▼ -19.8%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合計PV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1,815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1,404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-411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▼ -22.6%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平均客単価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¥4,931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¥4,999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+¥68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5B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 +1.4%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CVR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11.23%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11.01%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-0.22pt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767C8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→ ほぼ維持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新規比率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60.4%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38.1%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-22.3pt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▼ 新規減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フォロワー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2,049名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2,070名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+21名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5B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 過去最高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3" name="Text 29"/>
          <p:cNvSpPr txBox="1"/>
          <p:nvPr/>
        </p:nvSpPr>
        <p:spPr>
          <a:xfrm>
            <a:off x="548640" y="55961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449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 売上-20.4%に対し訪問者-19.8%・PV-22.6%とほぼ同率で減少。CVR（-0.22pt）と客単価（+1.4%）は維持されており、「転換力」ではなく「流入量」が課題であることが明確。</a:t>
            </a:r>
            <a:endParaRPr lang="en-US" sz="1050" dirty="0"/>
          </a:p>
        </p:txBody>
      </p:sp>
      <p:sp>
        <p:nvSpPr>
          <p:cNvPr id="34" name="Text 30"/>
          <p:cNvSpPr txBox="1"/>
          <p:nvPr/>
        </p:nvSpPr>
        <p:spPr>
          <a:xfrm>
            <a:off x="301752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0A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Copyright © Wacworks Inc. All Rights Reserved.</a:t>
            </a:r>
            <a:endParaRPr lang="en-US" sz="800" dirty="0"/>
          </a:p>
        </p:txBody>
      </p:sp>
      <p:sp>
        <p:nvSpPr>
          <p:cNvPr id="35" name="Text 31"/>
          <p:cNvSpPr txBox="1"/>
          <p:nvPr/>
        </p:nvSpPr>
        <p:spPr>
          <a:xfrm>
            <a:off x="10426903" y="6492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0A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 / 13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1752" y="228600"/>
            <a:ext cx="137160" cy="493776"/>
          </a:xfrm>
          <a:prstGeom prst="rect">
            <a:avLst/>
          </a:prstGeom>
          <a:solidFill>
            <a:srgbClr val="191F4D"/>
          </a:solidFill>
          <a:ln w="12700">
            <a:solidFill>
              <a:srgbClr val="191F4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01168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売上推移 ─ 2026年8月メガポ 日別（表）</a:t>
            </a:r>
            <a:endParaRPr lang="en-US" sz="2400" dirty="0"/>
          </a:p>
        </p:txBody>
      </p:sp>
      <p:pic>
        <p:nvPicPr>
          <p:cNvPr id="4" name="Image 0" descr="assets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9935" y="219456"/>
            <a:ext cx="2331720" cy="43342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01752" y="786384"/>
            <a:ext cx="11588191" cy="0"/>
          </a:xfrm>
          <a:prstGeom prst="line">
            <a:avLst/>
          </a:prstGeom>
          <a:noFill/>
          <a:ln w="9525">
            <a:solidFill>
              <a:srgbClr val="8C929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88175" y="795528"/>
            <a:ext cx="4754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8/1〜8/9（9日間）</a:t>
            </a:r>
            <a:endParaRPr lang="en-US" sz="9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1109441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417320"/>
                <a:gridCol w="868680"/>
                <a:gridCol w="960120"/>
                <a:gridCol w="960120"/>
                <a:gridCol w="1097280"/>
                <a:gridCol w="960120"/>
                <a:gridCol w="1097280"/>
                <a:gridCol w="2542032"/>
              </a:tblGrid>
              <a:tr h="297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日付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売上金額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件数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訪問者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CVR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客単価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顧客数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新規/リピ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備考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8/1 土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¥162,835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32件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207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15.46%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¥5,089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30名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10/20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5B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初日ピーク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8/2 日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¥102,621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21件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162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12.96%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¥4,887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18名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7/11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5B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週末好調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8/3 月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¥35,093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109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6.42%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¥5,013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7名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2/5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5B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急減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8/4 火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¥39,245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120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5.83%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¥5,606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7名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6/1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8/5 水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¥47,181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132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7.58%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¥4,718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9名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3/6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8/6 木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¥104,052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21件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98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21.43%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¥4,955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20名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7/13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5B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CVR最高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8/7 金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¥16,266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66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4.55%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¥5,422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3名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1/2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5B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期間最低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8/8 土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¥51,956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94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10.64%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¥5,196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10名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4/6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8/9 日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¥45,570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111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9.01%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¥4,557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9名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3/6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91F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合計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91F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¥604,819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91F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121件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91F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1,099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91F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11.01%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91F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¥4,999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91F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113名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91F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43/70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91F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—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2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4553712"/>
            <a:ext cx="11094415" cy="1719072"/>
          </a:xfrm>
          <a:prstGeom prst="roundRect">
            <a:avLst>
              <a:gd name="adj" fmla="val 3723"/>
            </a:avLst>
          </a:prstGeom>
          <a:solidFill>
            <a:srgbClr val="FFFFFF"/>
          </a:solidFill>
          <a:ln w="9525">
            <a:solidFill>
              <a:srgbClr val="D4D6DE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18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804672" y="4663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▲ ハイライト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804672" y="4992624"/>
            <a:ext cx="10582351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2000"/>
              </a:lnSpc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4449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初日8/1（土）¥162,835・32件が期間最高で、単日で期間売上の26.9%。8/6（木）はCVR21.43%と期間最高効率（訪問98人で21件）。</a:t>
            </a:r>
            <a:endParaRPr lang="en-US" sz="1050" dirty="0"/>
          </a:p>
          <a:p>
            <a:pPr marL="342900" indent="-342900">
              <a:lnSpc>
                <a:spcPct val="122000"/>
              </a:lnSpc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4449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▼ 前半3日（¥300,549）に対し中盤8/3〜5は¥121,519、8/7（金）は¥16,266・3件と急落。初日集中型で、2日目以降の失速が売上減の直接要因。</a:t>
            </a:r>
            <a:endParaRPr lang="en-US" sz="1050" dirty="0"/>
          </a:p>
        </p:txBody>
      </p:sp>
      <p:sp>
        <p:nvSpPr>
          <p:cNvPr id="11" name="Text 7"/>
          <p:cNvSpPr txBox="1"/>
          <p:nvPr/>
        </p:nvSpPr>
        <p:spPr>
          <a:xfrm>
            <a:off x="301752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0A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Copyright © Wacworks Inc. All Rights Reserved.</a:t>
            </a:r>
            <a:endParaRPr lang="en-US" sz="800" dirty="0"/>
          </a:p>
        </p:txBody>
      </p:sp>
      <p:sp>
        <p:nvSpPr>
          <p:cNvPr id="12" name="Text 8"/>
          <p:cNvSpPr txBox="1"/>
          <p:nvPr/>
        </p:nvSpPr>
        <p:spPr>
          <a:xfrm>
            <a:off x="10426903" y="6492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0A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 / 13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1752" y="228600"/>
            <a:ext cx="137160" cy="493776"/>
          </a:xfrm>
          <a:prstGeom prst="rect">
            <a:avLst/>
          </a:prstGeom>
          <a:solidFill>
            <a:srgbClr val="191F4D"/>
          </a:solidFill>
          <a:ln w="12700">
            <a:solidFill>
              <a:srgbClr val="191F4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01168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 7月vs8月 顧客・新規/リピート比較</a:t>
            </a:r>
            <a:endParaRPr lang="en-US" sz="2400" dirty="0"/>
          </a:p>
        </p:txBody>
      </p:sp>
      <p:pic>
        <p:nvPicPr>
          <p:cNvPr id="4" name="Image 0" descr="assets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9935" y="219456"/>
            <a:ext cx="2331720" cy="43342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01752" y="786384"/>
            <a:ext cx="11588191" cy="0"/>
          </a:xfrm>
          <a:prstGeom prst="line">
            <a:avLst/>
          </a:prstGeom>
          <a:noFill/>
          <a:ln w="9525">
            <a:solidFill>
              <a:srgbClr val="8C929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88175" y="795528"/>
            <a:ext cx="4754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メガポ同日比較</a:t>
            </a:r>
            <a:endParaRPr lang="en-US" sz="9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11094415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286000"/>
                <a:gridCol w="2286000"/>
                <a:gridCol w="1828800"/>
                <a:gridCol w="176479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指標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7月（7/1-9）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8月（8/1-9）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差分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前期比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購入顧客（合計）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149名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113名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-36名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▼ -24.2%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新規顧客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90名(60.4%)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43名(38.1%)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-47名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▼ -52.2%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リピーター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59名(39.6%)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70名(61.9%)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+11名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5B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 +18.6%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フォロワー（期末）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2,049名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2,070名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+21名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5B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 +1.0%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フォロワー増（期中）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+8名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+12名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+4名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5B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 +50.0%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1人あたり売上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¥5,097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¥5,352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+¥255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5B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 +5.0%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ショップPV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193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164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-29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▼ -15.0%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3776472"/>
            <a:ext cx="11094415" cy="2487168"/>
          </a:xfrm>
          <a:prstGeom prst="roundRect">
            <a:avLst>
              <a:gd name="adj" fmla="val 2574"/>
            </a:avLst>
          </a:prstGeom>
          <a:solidFill>
            <a:srgbClr val="FFFFFF"/>
          </a:solidFill>
          <a:ln w="9525">
            <a:solidFill>
              <a:srgbClr val="D4D6DE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18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804672" y="38770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91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考察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804672" y="4206240"/>
            <a:ext cx="10582351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2000"/>
              </a:lnSpc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4449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顧客数-24.2%の内訳は、新規-47名・リピーター+11名。減少はすべて新規側で起きており、既存顧客はむしろ増えている。</a:t>
            </a:r>
            <a:endParaRPr lang="en-US" sz="1100" dirty="0"/>
          </a:p>
          <a:p>
            <a:pPr marL="342900" indent="-342900">
              <a:lnSpc>
                <a:spcPct val="122000"/>
              </a:lnSpc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4449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リピート比率39.6%→61.9%（+22.3pt）と主従が逆転。フォロワー2,070名・お気に入り流入446PVという資産が実際の購買に結びついている証左。</a:t>
            </a:r>
            <a:endParaRPr lang="en-US" sz="1100" dirty="0"/>
          </a:p>
          <a:p>
            <a:pPr marL="342900" indent="-342900">
              <a:lnSpc>
                <a:spcPct val="122000"/>
              </a:lnSpc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4449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1人あたり売上は¥5,097→¥5,352（+5.0%）。単価の高いリピーター比率が上がったことで、顧客単価は改善した。</a:t>
            </a:r>
            <a:endParaRPr lang="en-US" sz="1100" dirty="0"/>
          </a:p>
          <a:p>
            <a:pPr marL="342900" indent="-342900">
              <a:lnSpc>
                <a:spcPct val="122000"/>
              </a:lnSpc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4449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▼ ただしリピート依存は中長期のリスク。新規流入が細ったままではリピート母数自体が先細りするため、新規獲得の回復が最優先課題。</a:t>
            </a:r>
            <a:endParaRPr lang="en-US" sz="1100" dirty="0"/>
          </a:p>
          <a:p>
            <a:pPr marL="342900" indent="-342900">
              <a:lnSpc>
                <a:spcPct val="122000"/>
              </a:lnSpc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4449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 次回メガ割は「リピート基盤（2,070名）を維持しながら、新規を7月水準の90名へ戻す」ことが目標。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301752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0A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Copyright © Wacworks Inc. All Rights Reserved.</a:t>
            </a:r>
            <a:endParaRPr lang="en-US" sz="800" dirty="0"/>
          </a:p>
        </p:txBody>
      </p:sp>
      <p:sp>
        <p:nvSpPr>
          <p:cNvPr id="12" name="Text 8"/>
          <p:cNvSpPr txBox="1"/>
          <p:nvPr/>
        </p:nvSpPr>
        <p:spPr>
          <a:xfrm>
            <a:off x="10426903" y="6492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0A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 / 13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1752" y="228600"/>
            <a:ext cx="137160" cy="493776"/>
          </a:xfrm>
          <a:prstGeom prst="rect">
            <a:avLst/>
          </a:prstGeom>
          <a:solidFill>
            <a:srgbClr val="191F4D"/>
          </a:solidFill>
          <a:ln w="12700">
            <a:solidFill>
              <a:srgbClr val="191F4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01168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チャネル別流入分析（PV）─ 7月vs8月 TOP10比較</a:t>
            </a:r>
            <a:endParaRPr lang="en-US" sz="2400" dirty="0"/>
          </a:p>
        </p:txBody>
      </p:sp>
      <p:pic>
        <p:nvPicPr>
          <p:cNvPr id="4" name="Image 0" descr="assets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9935" y="219456"/>
            <a:ext cx="2331720" cy="43342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01752" y="786384"/>
            <a:ext cx="11588191" cy="0"/>
          </a:xfrm>
          <a:prstGeom prst="line">
            <a:avLst/>
          </a:prstGeom>
          <a:noFill/>
          <a:ln w="9525">
            <a:solidFill>
              <a:srgbClr val="8C929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88175" y="795528"/>
            <a:ext cx="4754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合計PV 1,815 → 1,404（-22.6%）</a:t>
            </a:r>
            <a:endParaRPr lang="en-US" sz="9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708660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868680"/>
                <a:gridCol w="868680"/>
                <a:gridCol w="777240"/>
                <a:gridCol w="1097280"/>
                <a:gridCol w="1143000"/>
              </a:tblGrid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チャネル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7月 PV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8月 PV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増減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8月構成比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評価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お気に入り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512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446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-66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31.8%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▼ -12.9%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ダイレクト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221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204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-17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14.5%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▼ -7.7%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ショップ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136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135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-1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9.6%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67C8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→ 横ばい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検索結果_全体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154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115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-39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8.2%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▼ -25.3%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└ パワーランクアップ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66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47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-19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3.3%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▼ -28.8%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└ 検索結果_一般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45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35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-10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2.5%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▼ -22.2%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└ Keyword Plus（広告）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43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33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-10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2.4%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▼ -23.3%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外部サイト_全体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97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95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-2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6.8%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67C8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→ 横ばい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└ 外部_Google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75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81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+6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5.8%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E75B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 +8.0%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その他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167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87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-80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6.2%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▼ -47.9%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カート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189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78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-111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5.6%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▼ -58.7%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Myページ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78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73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-5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5.2%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▼ -6.4%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商品詳細ページ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91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43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-48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3.1%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▼ -52.7%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ホーム_全体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49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39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-10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2.8%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▼ -20.4%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商品カタログ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37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-13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2.6%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▼ -26.0%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最近見た商品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24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27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+3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1.9%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E75B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 +12.5%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カテゴリページ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33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19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-14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1.4%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▼ -42.4%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91F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合計（ページビュー合計）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91F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1,815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91F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1,404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91F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-411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91F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100%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91F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-22.6%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2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7909560" y="1051560"/>
            <a:ext cx="3733495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9525">
            <a:solidFill>
              <a:srgbClr val="D4D6DE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18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8092440" y="1161288"/>
            <a:ext cx="3367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5B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 お気に入りが最大流入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8092440" y="1453896"/>
            <a:ext cx="3367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446PV・構成比31.8%。-12.9%と全体（-22.6%）より減少幅が小さく、ファン基盤の底堅さを示す。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7909560" y="2093976"/>
            <a:ext cx="3733495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9525">
            <a:solidFill>
              <a:srgbClr val="D4D6DE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18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8092440" y="2203704"/>
            <a:ext cx="3367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▼ カート流入 -58.7%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8092440" y="2496312"/>
            <a:ext cx="3367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189→78PV。カゴ落ち復帰の動線が大きく縮小し、回遊系の落ち込みで最大。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7909560" y="3136392"/>
            <a:ext cx="3733495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9525">
            <a:solidFill>
              <a:srgbClr val="D4D6DE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18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8092440" y="3246120"/>
            <a:ext cx="3367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▼ 商品詳細ページ -52.7%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8092440" y="3538728"/>
            <a:ext cx="3367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91→43PV。商品間の相互回遊が半減。レコメンド・関連商品導線の再設計が必要。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7909560" y="4178808"/>
            <a:ext cx="3733495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9525">
            <a:solidFill>
              <a:srgbClr val="D4D6DE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18000"/>
              </a:srgbClr>
            </a:outerShdw>
          </a:effectLst>
        </p:spPr>
      </p:sp>
      <p:sp>
        <p:nvSpPr>
          <p:cNvPr id="18" name="Text 14"/>
          <p:cNvSpPr txBox="1"/>
          <p:nvPr/>
        </p:nvSpPr>
        <p:spPr>
          <a:xfrm>
            <a:off x="8092440" y="4288536"/>
            <a:ext cx="3367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5B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 外部Google +8.0%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8092440" y="4581144"/>
            <a:ext cx="3367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75→81PV。全体が減るなかで唯一伸びたチャネル。外部SEOは新規回復の足がかり。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548640" y="5504688"/>
            <a:ext cx="11094415" cy="76809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4D6DE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18000"/>
              </a:srgbClr>
            </a:outerShdw>
          </a:effectLst>
        </p:spPr>
      </p:sp>
      <p:sp>
        <p:nvSpPr>
          <p:cNvPr id="21" name="Text 17"/>
          <p:cNvSpPr txBox="1"/>
          <p:nvPr/>
        </p:nvSpPr>
        <p:spPr>
          <a:xfrm>
            <a:off x="804672" y="5596128"/>
            <a:ext cx="1058235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2000"/>
              </a:lnSpc>
              <a:spcAft>
                <a:spcPts val="600"/>
              </a:spcAft>
              <a:buSzPct val="100000"/>
              <a:buChar char="●"/>
            </a:pPr>
            <a:r>
              <a:rPr lang="en-US" sz="900" dirty="0">
                <a:solidFill>
                  <a:srgbClr val="4449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お気に入り（31.8%）＋ダイレクト（14.5%）＋ショップ（9.6%）で全体の56%。指名・再訪型に大きく偏っており、リピート構造とチャネル構造が一致している。</a:t>
            </a:r>
            <a:endParaRPr lang="en-US" sz="900" dirty="0"/>
          </a:p>
          <a:p>
            <a:pPr marL="342900" indent="-342900">
              <a:lnSpc>
                <a:spcPct val="122000"/>
              </a:lnSpc>
              <a:spcAft>
                <a:spcPts val="600"/>
              </a:spcAft>
              <a:buSzPct val="100000"/>
              <a:buChar char="●"/>
            </a:pPr>
            <a:r>
              <a:rPr lang="en-US" sz="900" dirty="0">
                <a:solidFill>
                  <a:srgbClr val="4449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▼ 検索は115PV・構成比8.2%まで縮小。広告（Keyword Plus -23.3%／パワーランクアップ -28.8%）と自然検索が揃って減っており、次回は検索面の回復が最優先。</a:t>
            </a:r>
            <a:endParaRPr lang="en-US" sz="900" dirty="0"/>
          </a:p>
        </p:txBody>
      </p:sp>
      <p:sp>
        <p:nvSpPr>
          <p:cNvPr id="22" name="Text 18"/>
          <p:cNvSpPr txBox="1"/>
          <p:nvPr/>
        </p:nvSpPr>
        <p:spPr>
          <a:xfrm>
            <a:off x="301752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0A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Copyright © Wacworks Inc. All Rights Reserved.</a:t>
            </a:r>
            <a:endParaRPr lang="en-US" sz="800" dirty="0"/>
          </a:p>
        </p:txBody>
      </p:sp>
      <p:sp>
        <p:nvSpPr>
          <p:cNvPr id="23" name="Text 19"/>
          <p:cNvSpPr txBox="1"/>
          <p:nvPr/>
        </p:nvSpPr>
        <p:spPr>
          <a:xfrm>
            <a:off x="10426903" y="6492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0A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 / 13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1752" y="228600"/>
            <a:ext cx="137160" cy="493776"/>
          </a:xfrm>
          <a:prstGeom prst="rect">
            <a:avLst/>
          </a:prstGeom>
          <a:solidFill>
            <a:srgbClr val="191F4D"/>
          </a:solidFill>
          <a:ln w="12700">
            <a:solidFill>
              <a:srgbClr val="191F4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01168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商品別売上ランキング ─ 2026年8月メガポ</a:t>
            </a:r>
            <a:endParaRPr lang="en-US" sz="2400" dirty="0"/>
          </a:p>
        </p:txBody>
      </p:sp>
      <p:pic>
        <p:nvPicPr>
          <p:cNvPr id="4" name="Image 0" descr="assets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9935" y="219456"/>
            <a:ext cx="2331720" cy="43342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01752" y="786384"/>
            <a:ext cx="11588191" cy="0"/>
          </a:xfrm>
          <a:prstGeom prst="line">
            <a:avLst/>
          </a:prstGeom>
          <a:noFill/>
          <a:ln w="9525">
            <a:solidFill>
              <a:srgbClr val="8C929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88175" y="795528"/>
            <a:ext cx="4754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全7SKU / 売上¥604,819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48640" y="1051560"/>
            <a:ext cx="2663876" cy="1143000"/>
          </a:xfrm>
          <a:prstGeom prst="roundRect">
            <a:avLst>
              <a:gd name="adj" fmla="val 5600"/>
            </a:avLst>
          </a:prstGeom>
          <a:solidFill>
            <a:srgbClr val="F4F5F8"/>
          </a:solidFill>
          <a:ln w="9525">
            <a:solidFill>
              <a:srgbClr val="D4D6DE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1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13232" y="1161288"/>
            <a:ext cx="23346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1位 売上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713232" y="1417320"/>
            <a:ext cx="23346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E75B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¥278,124</a:t>
            </a:r>
            <a:endParaRPr lang="en-US" sz="2100" dirty="0"/>
          </a:p>
        </p:txBody>
      </p:sp>
      <p:sp>
        <p:nvSpPr>
          <p:cNvPr id="10" name="Text 7"/>
          <p:cNvSpPr txBox="1"/>
          <p:nvPr/>
        </p:nvSpPr>
        <p:spPr>
          <a:xfrm>
            <a:off x="713232" y="1901952"/>
            <a:ext cx="23346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セラムイン ウォータートリートメント（46.0%）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358820" y="1051560"/>
            <a:ext cx="2663876" cy="1143000"/>
          </a:xfrm>
          <a:prstGeom prst="roundRect">
            <a:avLst>
              <a:gd name="adj" fmla="val 5600"/>
            </a:avLst>
          </a:prstGeom>
          <a:solidFill>
            <a:srgbClr val="F4F5F8"/>
          </a:solidFill>
          <a:ln w="9525">
            <a:solidFill>
              <a:srgbClr val="D4D6DE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18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3523412" y="1161288"/>
            <a:ext cx="23346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2位 売上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3523412" y="1417320"/>
            <a:ext cx="23346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91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¥181,776</a:t>
            </a:r>
            <a:endParaRPr lang="en-US" sz="2100" dirty="0"/>
          </a:p>
        </p:txBody>
      </p:sp>
      <p:sp>
        <p:nvSpPr>
          <p:cNvPr id="14" name="Text 11"/>
          <p:cNvSpPr txBox="1"/>
          <p:nvPr/>
        </p:nvSpPr>
        <p:spPr>
          <a:xfrm>
            <a:off x="3523412" y="1901952"/>
            <a:ext cx="23346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シャンプー＆トリートメント セット（30.1%）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169000" y="1051560"/>
            <a:ext cx="2663876" cy="1143000"/>
          </a:xfrm>
          <a:prstGeom prst="roundRect">
            <a:avLst>
              <a:gd name="adj" fmla="val 5600"/>
            </a:avLst>
          </a:prstGeom>
          <a:solidFill>
            <a:srgbClr val="F4F5F8"/>
          </a:solidFill>
          <a:ln w="9525">
            <a:solidFill>
              <a:srgbClr val="D4D6DE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18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333592" y="1161288"/>
            <a:ext cx="23346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TOP2合計シェア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6333592" y="1417320"/>
            <a:ext cx="23346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91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76.0%</a:t>
            </a:r>
            <a:endParaRPr lang="en-US" sz="2100" dirty="0"/>
          </a:p>
        </p:txBody>
      </p:sp>
      <p:sp>
        <p:nvSpPr>
          <p:cNvPr id="18" name="Text 15"/>
          <p:cNvSpPr txBox="1"/>
          <p:nvPr/>
        </p:nvSpPr>
        <p:spPr>
          <a:xfrm>
            <a:off x="6333592" y="1901952"/>
            <a:ext cx="23346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2商品への依存度が高い構造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8979179" y="1051560"/>
            <a:ext cx="2663876" cy="1143000"/>
          </a:xfrm>
          <a:prstGeom prst="roundRect">
            <a:avLst>
              <a:gd name="adj" fmla="val 5600"/>
            </a:avLst>
          </a:prstGeom>
          <a:solidFill>
            <a:srgbClr val="F4F5F8"/>
          </a:solidFill>
          <a:ln w="9525">
            <a:solidFill>
              <a:srgbClr val="D4D6DE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18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9143771" y="1161288"/>
            <a:ext cx="23346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販売商品数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9143771" y="1417320"/>
            <a:ext cx="23346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91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7SKU</a:t>
            </a:r>
            <a:endParaRPr lang="en-US" sz="2100" dirty="0"/>
          </a:p>
        </p:txBody>
      </p:sp>
      <p:sp>
        <p:nvSpPr>
          <p:cNvPr id="22" name="Text 19"/>
          <p:cNvSpPr txBox="1"/>
          <p:nvPr/>
        </p:nvSpPr>
        <p:spPr>
          <a:xfrm>
            <a:off x="9143771" y="1901952"/>
            <a:ext cx="23346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TOP3で売上の85.7%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59152"/>
          <a:ext cx="11094415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4828032"/>
                <a:gridCol w="1600200"/>
                <a:gridCol w="1051560"/>
                <a:gridCol w="1325880"/>
                <a:gridCol w="15087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順位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商品名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売上金額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件数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客単価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構成比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セラムイン ウォータートリートメント 200ml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¥278,124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69件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¥4,031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46.0%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セラムイン シャンプー＆トリートメント セット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¥181,776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24件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¥7,574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30.1%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ヘアミルクセラム アウトバストリートメント 95ml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¥58,668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12件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¥4,889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9.7%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フューチャー バイタル エッセンス 50ml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¥35,200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¥7,040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5.8%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セラムイン シャンプー 300ml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¥21,505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¥4,301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3.6%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セラムイン オイル アウトバストリートメント 95ml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¥20,196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¥5,049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3.3%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セラムイン トリートメント 300ml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¥9,350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¥4,675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1.5%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91F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合計 全7商品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91F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¥604,819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91F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121件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91F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¥4,999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91F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100%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2"/>
                    </a:solidFill>
                  </a:tcPr>
                </a:tc>
              </a:tr>
            </a:tbl>
          </a:graphicData>
        </a:graphic>
      </p:graphicFrame>
      <p:sp>
        <p:nvSpPr>
          <p:cNvPr id="24" name="Text 20"/>
          <p:cNvSpPr txBox="1"/>
          <p:nvPr/>
        </p:nvSpPr>
        <p:spPr>
          <a:xfrm>
            <a:off x="548640" y="566928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449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 TOP2で売上の76.0%を占める集中構造。主力のウォータートリートメント（-25.1%）とセット品（-14.3%）が揃って落ちたことが、全体-20.4%の大半を説明する。一方でシャンプー単品は+400%と伸長。</a:t>
            </a:r>
            <a:endParaRPr lang="en-US" sz="1050" dirty="0"/>
          </a:p>
        </p:txBody>
      </p:sp>
      <p:sp>
        <p:nvSpPr>
          <p:cNvPr id="25" name="Text 21"/>
          <p:cNvSpPr txBox="1"/>
          <p:nvPr/>
        </p:nvSpPr>
        <p:spPr>
          <a:xfrm>
            <a:off x="301752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0A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Copyright © Wacworks Inc. All Rights Reserved.</a:t>
            </a:r>
            <a:endParaRPr lang="en-US" sz="800" dirty="0"/>
          </a:p>
        </p:txBody>
      </p:sp>
      <p:sp>
        <p:nvSpPr>
          <p:cNvPr id="26" name="Text 22"/>
          <p:cNvSpPr txBox="1"/>
          <p:nvPr/>
        </p:nvSpPr>
        <p:spPr>
          <a:xfrm>
            <a:off x="10426903" y="6492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0A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 / 13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1752" y="228600"/>
            <a:ext cx="137160" cy="493776"/>
          </a:xfrm>
          <a:prstGeom prst="rect">
            <a:avLst/>
          </a:prstGeom>
          <a:solidFill>
            <a:srgbClr val="191F4D"/>
          </a:solidFill>
          <a:ln w="12700">
            <a:solidFill>
              <a:srgbClr val="191F4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01168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 7月vs8月 商品別売上比較</a:t>
            </a:r>
            <a:endParaRPr lang="en-US" sz="2400" dirty="0"/>
          </a:p>
        </p:txBody>
      </p:sp>
      <p:pic>
        <p:nvPicPr>
          <p:cNvPr id="4" name="Image 0" descr="assets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9935" y="219456"/>
            <a:ext cx="2331720" cy="43342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01752" y="786384"/>
            <a:ext cx="11588191" cy="0"/>
          </a:xfrm>
          <a:prstGeom prst="line">
            <a:avLst/>
          </a:prstGeom>
          <a:noFill/>
          <a:ln w="9525">
            <a:solidFill>
              <a:srgbClr val="8C929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88175" y="795528"/>
            <a:ext cx="4754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メガポ同日比較</a:t>
            </a:r>
            <a:endParaRPr lang="en-US" sz="9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11094415" cy="914400"/>
        </p:xfrm>
        <a:graphic>
          <a:graphicData uri="http://schemas.openxmlformats.org/drawingml/2006/table">
            <a:tbl>
              <a:tblPr/>
              <a:tblGrid>
                <a:gridCol w="3913632"/>
                <a:gridCol w="1325880"/>
                <a:gridCol w="960120"/>
                <a:gridCol w="1325880"/>
                <a:gridCol w="960120"/>
                <a:gridCol w="1371600"/>
                <a:gridCol w="123444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商品名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7月 売上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7月 件数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8月 売上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8月 件数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売上増減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評価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セラムイン ウォータートリートメント 200ml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¥371,118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93件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¥278,124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69件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-¥92,994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▼ -25.1%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セラムイン シャンプー＆トリートメント セット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¥212,072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28件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¥181,776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24件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-¥30,296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▼ -14.3%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ヘアミルクセラム アウトバストリートメント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¥55,408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11件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¥58,668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12件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+¥3,260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5B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 +5.9%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フューチャー バイタル エッセンス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¥42,240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¥35,200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-¥7,040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▼ -16.7%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セラムイン シャンプー 300ml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¥4,301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¥21,505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+¥17,204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5B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★ +400%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セラムイン オイル アウトバストリートメント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¥55,539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11件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¥20,196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-¥35,343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▼ -63.6%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セラムイン トリートメント 300ml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¥18,700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¥9,350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2件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-¥9,350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▼ -50.0%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3977640"/>
            <a:ext cx="5410048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D4D6DE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18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68096" y="4078224"/>
            <a:ext cx="497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75B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 伸長した商品</a:t>
            </a:r>
            <a:endParaRPr lang="en-US" sz="1150" dirty="0"/>
          </a:p>
        </p:txBody>
      </p:sp>
      <p:sp>
        <p:nvSpPr>
          <p:cNvPr id="10" name="Text 6"/>
          <p:cNvSpPr txBox="1"/>
          <p:nvPr/>
        </p:nvSpPr>
        <p:spPr>
          <a:xfrm>
            <a:off x="768096" y="4407408"/>
            <a:ext cx="497113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2000"/>
              </a:lnSpc>
              <a:spcAft>
                <a:spcPts val="600"/>
              </a:spcAft>
              <a:buSzPct val="100000"/>
              <a:buChar char="●"/>
            </a:pPr>
            <a:r>
              <a:rPr lang="en-US" sz="950" dirty="0">
                <a:solidFill>
                  <a:srgbClr val="4449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セラムイン シャンプー 300ml：¥4.3k→¥21.5k（+400%）。PV34でCVR14.71%と全SKU中最高。単品需要の掘り起こしに成功。</a:t>
            </a:r>
            <a:endParaRPr lang="en-US" sz="950" dirty="0"/>
          </a:p>
          <a:p>
            <a:pPr marL="342900" indent="-342900">
              <a:lnSpc>
                <a:spcPct val="122000"/>
              </a:lnSpc>
              <a:spcAft>
                <a:spcPts val="600"/>
              </a:spcAft>
              <a:buSzPct val="100000"/>
              <a:buChar char="●"/>
            </a:pPr>
            <a:r>
              <a:rPr lang="en-US" sz="950" dirty="0">
                <a:solidFill>
                  <a:srgbClr val="4449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ヘアミルクセラム：¥55.4k→¥58.7k（+5.9%）。全体が2割減のなかで唯一の増収を確保し、アウトバス需要の受け皿に。</a:t>
            </a:r>
            <a:endParaRPr lang="en-US" sz="950" dirty="0"/>
          </a:p>
          <a:p>
            <a:pPr marL="342900" indent="-342900">
              <a:lnSpc>
                <a:spcPct val="122000"/>
              </a:lnSpc>
              <a:spcAft>
                <a:spcPts val="600"/>
              </a:spcAft>
              <a:buSzPct val="100000"/>
              <a:buChar char="●"/>
            </a:pPr>
            <a:r>
              <a:rPr lang="en-US" sz="950" dirty="0">
                <a:solidFill>
                  <a:srgbClr val="4449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いずれも低PV・高CVR。露出を増やせば伸びしろが大きい2商品。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6233008" y="3977640"/>
            <a:ext cx="5410048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D4D6DE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18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6452464" y="4078224"/>
            <a:ext cx="497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▼ 減少した商品</a:t>
            </a:r>
            <a:endParaRPr lang="en-US" sz="1150" dirty="0"/>
          </a:p>
        </p:txBody>
      </p:sp>
      <p:sp>
        <p:nvSpPr>
          <p:cNvPr id="13" name="Text 9"/>
          <p:cNvSpPr txBox="1"/>
          <p:nvPr/>
        </p:nvSpPr>
        <p:spPr>
          <a:xfrm>
            <a:off x="6452464" y="4407408"/>
            <a:ext cx="497113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2000"/>
              </a:lnSpc>
              <a:spcAft>
                <a:spcPts val="600"/>
              </a:spcAft>
              <a:buSzPct val="100000"/>
              <a:buChar char="●"/>
            </a:pPr>
            <a:r>
              <a:rPr lang="en-US" sz="950" dirty="0">
                <a:solidFill>
                  <a:srgbClr val="4449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ウォータートリートメント：-25.1%（-¥93k）。PVが1,038→733（-29.4%）と流入減が直撃。CVRは8.96%→9.41%と改善。</a:t>
            </a:r>
            <a:endParaRPr lang="en-US" sz="950" dirty="0"/>
          </a:p>
          <a:p>
            <a:pPr marL="342900" indent="-342900">
              <a:lnSpc>
                <a:spcPct val="122000"/>
              </a:lnSpc>
              <a:spcAft>
                <a:spcPts val="600"/>
              </a:spcAft>
              <a:buSzPct val="100000"/>
              <a:buChar char="●"/>
            </a:pPr>
            <a:r>
              <a:rPr lang="en-US" sz="950" dirty="0">
                <a:solidFill>
                  <a:srgbClr val="4449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セラムイン オイル：-63.6%が最大の下落率。PV135→67と半減し、アウトバス需要がヘアミルクへ移動した可能性。</a:t>
            </a:r>
            <a:endParaRPr lang="en-US" sz="950" dirty="0"/>
          </a:p>
          <a:p>
            <a:pPr marL="342900" indent="-342900">
              <a:lnSpc>
                <a:spcPct val="122000"/>
              </a:lnSpc>
              <a:spcAft>
                <a:spcPts val="600"/>
              </a:spcAft>
              <a:buSzPct val="100000"/>
              <a:buChar char="●"/>
            </a:pPr>
            <a:r>
              <a:rPr lang="en-US" sz="950" dirty="0">
                <a:solidFill>
                  <a:srgbClr val="4449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対策：主力2品は流入回復が最優先。オイルはヘアミルクとの使い分け（質感・仕上がり別）訴求で再定義する。</a:t>
            </a:r>
            <a:endParaRPr lang="en-US" sz="950" dirty="0"/>
          </a:p>
        </p:txBody>
      </p:sp>
      <p:sp>
        <p:nvSpPr>
          <p:cNvPr id="14" name="Text 10"/>
          <p:cNvSpPr txBox="1"/>
          <p:nvPr/>
        </p:nvSpPr>
        <p:spPr>
          <a:xfrm>
            <a:off x="301752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0A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Copyright © Wacworks Inc. All Rights Reserved.</a:t>
            </a:r>
            <a:endParaRPr lang="en-US" sz="800" dirty="0"/>
          </a:p>
        </p:txBody>
      </p:sp>
      <p:sp>
        <p:nvSpPr>
          <p:cNvPr id="15" name="Text 11"/>
          <p:cNvSpPr txBox="1"/>
          <p:nvPr/>
        </p:nvSpPr>
        <p:spPr>
          <a:xfrm>
            <a:off x="10426903" y="6492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0A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 / 13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1752" y="228600"/>
            <a:ext cx="137160" cy="493776"/>
          </a:xfrm>
          <a:prstGeom prst="rect">
            <a:avLst/>
          </a:prstGeom>
          <a:solidFill>
            <a:srgbClr val="191F4D"/>
          </a:solidFill>
          <a:ln w="12700">
            <a:solidFill>
              <a:srgbClr val="191F4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01168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 セラムイン ウォータートリートメント ─ 詳細分析</a:t>
            </a:r>
            <a:endParaRPr lang="en-US" sz="2400" dirty="0"/>
          </a:p>
        </p:txBody>
      </p:sp>
      <p:pic>
        <p:nvPicPr>
          <p:cNvPr id="4" name="Image 0" descr="assets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9935" y="219456"/>
            <a:ext cx="2331720" cy="43342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01752" y="786384"/>
            <a:ext cx="11588191" cy="0"/>
          </a:xfrm>
          <a:prstGeom prst="line">
            <a:avLst/>
          </a:prstGeom>
          <a:noFill/>
          <a:ln w="9525">
            <a:solidFill>
              <a:srgbClr val="8C929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88175" y="795528"/>
            <a:ext cx="4754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商品番号 1175373902 / 200ml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48640" y="1051560"/>
            <a:ext cx="2663876" cy="1143000"/>
          </a:xfrm>
          <a:prstGeom prst="roundRect">
            <a:avLst>
              <a:gd name="adj" fmla="val 5600"/>
            </a:avLst>
          </a:prstGeom>
          <a:solidFill>
            <a:srgbClr val="F4F5F8"/>
          </a:solidFill>
          <a:ln w="9525">
            <a:solidFill>
              <a:srgbClr val="D4D6DE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1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13232" y="1161288"/>
            <a:ext cx="23346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8月売上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713232" y="1417320"/>
            <a:ext cx="23346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E75B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¥278,124</a:t>
            </a:r>
            <a:endParaRPr lang="en-US" sz="2100" dirty="0"/>
          </a:p>
        </p:txBody>
      </p:sp>
      <p:sp>
        <p:nvSpPr>
          <p:cNvPr id="10" name="Text 7"/>
          <p:cNvSpPr txBox="1"/>
          <p:nvPr/>
        </p:nvSpPr>
        <p:spPr>
          <a:xfrm>
            <a:off x="713232" y="1901952"/>
            <a:ext cx="23346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全体の46.0% / No.1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358820" y="1051560"/>
            <a:ext cx="2663876" cy="1143000"/>
          </a:xfrm>
          <a:prstGeom prst="roundRect">
            <a:avLst>
              <a:gd name="adj" fmla="val 5600"/>
            </a:avLst>
          </a:prstGeom>
          <a:solidFill>
            <a:srgbClr val="F4F5F8"/>
          </a:solidFill>
          <a:ln w="9525">
            <a:solidFill>
              <a:srgbClr val="D4D6DE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18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3523412" y="1161288"/>
            <a:ext cx="23346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販売件数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3523412" y="1417320"/>
            <a:ext cx="23346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69件</a:t>
            </a:r>
            <a:endParaRPr lang="en-US" sz="2100" dirty="0"/>
          </a:p>
        </p:txBody>
      </p:sp>
      <p:sp>
        <p:nvSpPr>
          <p:cNvPr id="14" name="Text 11"/>
          <p:cNvSpPr txBox="1"/>
          <p:nvPr/>
        </p:nvSpPr>
        <p:spPr>
          <a:xfrm>
            <a:off x="3523412" y="1901952"/>
            <a:ext cx="23346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7月93件比 -25.8%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169000" y="1051560"/>
            <a:ext cx="2663876" cy="1143000"/>
          </a:xfrm>
          <a:prstGeom prst="roundRect">
            <a:avLst>
              <a:gd name="adj" fmla="val 5600"/>
            </a:avLst>
          </a:prstGeom>
          <a:solidFill>
            <a:srgbClr val="F4F5F8"/>
          </a:solidFill>
          <a:ln w="9525">
            <a:solidFill>
              <a:srgbClr val="D4D6DE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18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333592" y="1161288"/>
            <a:ext cx="23346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1個単価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6333592" y="1417320"/>
            <a:ext cx="23346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91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¥4,031</a:t>
            </a:r>
            <a:endParaRPr lang="en-US" sz="2100" dirty="0"/>
          </a:p>
        </p:txBody>
      </p:sp>
      <p:sp>
        <p:nvSpPr>
          <p:cNvPr id="18" name="Text 15"/>
          <p:cNvSpPr txBox="1"/>
          <p:nvPr/>
        </p:nvSpPr>
        <p:spPr>
          <a:xfrm>
            <a:off x="6333592" y="1901952"/>
            <a:ext cx="23346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主力ボリューム価格帯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8979179" y="1051560"/>
            <a:ext cx="2663876" cy="1143000"/>
          </a:xfrm>
          <a:prstGeom prst="roundRect">
            <a:avLst>
              <a:gd name="adj" fmla="val 5600"/>
            </a:avLst>
          </a:prstGeom>
          <a:solidFill>
            <a:srgbClr val="F4F5F8"/>
          </a:solidFill>
          <a:ln w="9525">
            <a:solidFill>
              <a:srgbClr val="D4D6DE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18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9143771" y="1161288"/>
            <a:ext cx="23346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PV / CVR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9143771" y="1417320"/>
            <a:ext cx="23346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91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733 / 9.41%</a:t>
            </a:r>
            <a:endParaRPr lang="en-US" sz="2100" dirty="0"/>
          </a:p>
        </p:txBody>
      </p:sp>
      <p:sp>
        <p:nvSpPr>
          <p:cNvPr id="22" name="Text 19"/>
          <p:cNvSpPr txBox="1"/>
          <p:nvPr/>
        </p:nvSpPr>
        <p:spPr>
          <a:xfrm>
            <a:off x="9143771" y="1901952"/>
            <a:ext cx="23346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7月 8.96% から改善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2331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チャネル別PV（8月）</a:t>
            </a:r>
            <a:endParaRPr lang="en-US" sz="11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51760"/>
          <a:ext cx="11094415" cy="914400"/>
        </p:xfrm>
        <a:graphic>
          <a:graphicData uri="http://schemas.openxmlformats.org/drawingml/2006/table">
            <a:tbl>
              <a:tblPr/>
              <a:tblGrid>
                <a:gridCol w="1008583"/>
                <a:gridCol w="1008583"/>
                <a:gridCol w="1008583"/>
                <a:gridCol w="1008583"/>
                <a:gridCol w="1008583"/>
                <a:gridCol w="1008583"/>
                <a:gridCol w="1008583"/>
                <a:gridCol w="1008583"/>
                <a:gridCol w="1008583"/>
                <a:gridCol w="1008583"/>
                <a:gridCol w="1008583"/>
              </a:tblGrid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お気に入り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ダイレクト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検索結果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└ ランクUP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└ KW Plus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Myページ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カート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ショップ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ホーム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外部サイト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合計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286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71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64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34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21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59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36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28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733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hape 21"/>
          <p:cNvSpPr/>
          <p:nvPr/>
        </p:nvSpPr>
        <p:spPr>
          <a:xfrm>
            <a:off x="548640" y="3429000"/>
            <a:ext cx="5410048" cy="28346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 w="9525">
            <a:solidFill>
              <a:srgbClr val="D4D6DE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18000"/>
              </a:srgbClr>
            </a:outerShdw>
          </a:effectLst>
        </p:spPr>
      </p:sp>
      <p:sp>
        <p:nvSpPr>
          <p:cNvPr id="26" name="Text 22"/>
          <p:cNvSpPr txBox="1"/>
          <p:nvPr/>
        </p:nvSpPr>
        <p:spPr>
          <a:xfrm>
            <a:off x="768096" y="3529584"/>
            <a:ext cx="497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商品特性・分析</a:t>
            </a:r>
            <a:endParaRPr lang="en-US" sz="1150" dirty="0"/>
          </a:p>
        </p:txBody>
      </p:sp>
      <p:sp>
        <p:nvSpPr>
          <p:cNvPr id="27" name="Text 23"/>
          <p:cNvSpPr txBox="1"/>
          <p:nvPr/>
        </p:nvSpPr>
        <p:spPr>
          <a:xfrm>
            <a:off x="768096" y="3840480"/>
            <a:ext cx="49711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【商品概要】洗い流さないウォータータイプのトリートメント。うねり・くせ・広がりのケアを訴求する、売上構成比46%の最主力商品。</a:t>
            </a:r>
            <a:endParaRPr lang="en-US" sz="950" dirty="0"/>
          </a:p>
        </p:txBody>
      </p:sp>
      <p:sp>
        <p:nvSpPr>
          <p:cNvPr id="28" name="Text 24"/>
          <p:cNvSpPr txBox="1"/>
          <p:nvPr/>
        </p:nvSpPr>
        <p:spPr>
          <a:xfrm>
            <a:off x="768096" y="4498848"/>
            <a:ext cx="497113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2000"/>
              </a:lnSpc>
              <a:spcAft>
                <a:spcPts val="600"/>
              </a:spcAft>
              <a:buSzPct val="100000"/>
              <a:buChar char="●"/>
            </a:pPr>
            <a:r>
              <a:rPr lang="en-US" sz="950" dirty="0">
                <a:solidFill>
                  <a:srgbClr val="4449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PVが1,038→733（-29.4%）と大きく減少し、売上-25.1%の直接要因に。件数も93→69件へ。</a:t>
            </a:r>
            <a:endParaRPr lang="en-US" sz="950" dirty="0"/>
          </a:p>
          <a:p>
            <a:pPr marL="342900" indent="-342900">
              <a:lnSpc>
                <a:spcPct val="122000"/>
              </a:lnSpc>
              <a:spcAft>
                <a:spcPts val="600"/>
              </a:spcAft>
              <a:buSzPct val="100000"/>
              <a:buChar char="●"/>
            </a:pPr>
            <a:r>
              <a:rPr lang="en-US" sz="950" dirty="0">
                <a:solidFill>
                  <a:srgbClr val="4449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 一方でCVRは8.96%→9.41%へ改善。流入は減ったが、来訪者あたりの購買力はむしろ上がっている。</a:t>
            </a:r>
            <a:endParaRPr lang="en-US" sz="950" dirty="0"/>
          </a:p>
          <a:p>
            <a:pPr marL="342900" indent="-342900">
              <a:lnSpc>
                <a:spcPct val="122000"/>
              </a:lnSpc>
              <a:spcAft>
                <a:spcPts val="600"/>
              </a:spcAft>
              <a:buSzPct val="100000"/>
              <a:buChar char="●"/>
            </a:pPr>
            <a:r>
              <a:rPr lang="en-US" sz="950" dirty="0">
                <a:solidFill>
                  <a:srgbClr val="4449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 お気に入り286PV（全PVの39.0%）が最大流入。リピーター増加と整合し、ファン層に支えられた商品。</a:t>
            </a:r>
            <a:endParaRPr lang="en-US" sz="950" dirty="0"/>
          </a:p>
          <a:p>
            <a:pPr marL="342900" indent="-342900">
              <a:lnSpc>
                <a:spcPct val="122000"/>
              </a:lnSpc>
              <a:spcAft>
                <a:spcPts val="600"/>
              </a:spcAft>
              <a:buSzPct val="100000"/>
              <a:buChar char="●"/>
            </a:pPr>
            <a:r>
              <a:rPr lang="en-US" sz="950" dirty="0">
                <a:solidFill>
                  <a:srgbClr val="4449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▼ 検索は64PVのみ（全体の8.7%）。うち広告55PV・自然検索9PVで、新規流入の入口として機能していない。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6233008" y="3429000"/>
            <a:ext cx="5410048" cy="28346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 w="9525">
            <a:solidFill>
              <a:srgbClr val="D4D6DE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18000"/>
              </a:srgbClr>
            </a:outerShdw>
          </a:effectLst>
        </p:spPr>
      </p:sp>
      <p:sp>
        <p:nvSpPr>
          <p:cNvPr id="30" name="Text 26"/>
          <p:cNvSpPr txBox="1"/>
          <p:nvPr/>
        </p:nvSpPr>
        <p:spPr>
          <a:xfrm>
            <a:off x="6452464" y="3529584"/>
            <a:ext cx="497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次回メガ割に向けた打ち手</a:t>
            </a:r>
            <a:endParaRPr lang="en-US" sz="1150" dirty="0"/>
          </a:p>
        </p:txBody>
      </p:sp>
      <p:sp>
        <p:nvSpPr>
          <p:cNvPr id="31" name="Shape 27"/>
          <p:cNvSpPr/>
          <p:nvPr/>
        </p:nvSpPr>
        <p:spPr>
          <a:xfrm>
            <a:off x="6452464" y="3904488"/>
            <a:ext cx="237744" cy="237744"/>
          </a:xfrm>
          <a:prstGeom prst="ellipse">
            <a:avLst/>
          </a:prstGeom>
          <a:solidFill>
            <a:srgbClr val="191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6452464" y="39044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850" dirty="0"/>
          </a:p>
        </p:txBody>
      </p:sp>
      <p:sp>
        <p:nvSpPr>
          <p:cNvPr id="33" name="Text 29"/>
          <p:cNvSpPr txBox="1"/>
          <p:nvPr/>
        </p:nvSpPr>
        <p:spPr>
          <a:xfrm>
            <a:off x="6781648" y="3858768"/>
            <a:ext cx="464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b="1" dirty="0">
                <a:solidFill>
                  <a:srgbClr val="191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検索面の回復（最優先）
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「ウォータートリートメント」KWが6→14件と伸長中。商品タイトル先頭に配置し、Keyword Plusの入札も同KWへ集中。</a:t>
            </a:r>
            <a:endParaRPr lang="en-US" sz="980" dirty="0"/>
          </a:p>
        </p:txBody>
      </p:sp>
      <p:sp>
        <p:nvSpPr>
          <p:cNvPr id="34" name="Shape 30"/>
          <p:cNvSpPr/>
          <p:nvPr/>
        </p:nvSpPr>
        <p:spPr>
          <a:xfrm>
            <a:off x="6452464" y="4489704"/>
            <a:ext cx="237744" cy="237744"/>
          </a:xfrm>
          <a:prstGeom prst="ellipse">
            <a:avLst/>
          </a:prstGeom>
          <a:solidFill>
            <a:srgbClr val="191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6452464" y="448970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850" dirty="0"/>
          </a:p>
        </p:txBody>
      </p:sp>
      <p:sp>
        <p:nvSpPr>
          <p:cNvPr id="36" name="Text 32"/>
          <p:cNvSpPr txBox="1"/>
          <p:nvPr/>
        </p:nvSpPr>
        <p:spPr>
          <a:xfrm>
            <a:off x="6781648" y="4443984"/>
            <a:ext cx="464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b="1" dirty="0">
                <a:solidFill>
                  <a:srgbClr val="191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悩み系KWの獲得
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「くせ毛 シャンプー」が新規発生。「うねり」「広がり」「梅雨 髪」など悩みKWを属性タグ・タイトルへ追加。</a:t>
            </a:r>
            <a:endParaRPr lang="en-US" sz="980" dirty="0"/>
          </a:p>
        </p:txBody>
      </p:sp>
      <p:sp>
        <p:nvSpPr>
          <p:cNvPr id="37" name="Shape 33"/>
          <p:cNvSpPr/>
          <p:nvPr/>
        </p:nvSpPr>
        <p:spPr>
          <a:xfrm>
            <a:off x="6452464" y="5074920"/>
            <a:ext cx="237744" cy="237744"/>
          </a:xfrm>
          <a:prstGeom prst="ellipse">
            <a:avLst/>
          </a:prstGeom>
          <a:solidFill>
            <a:srgbClr val="191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6452464" y="50749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850" dirty="0"/>
          </a:p>
        </p:txBody>
      </p:sp>
      <p:sp>
        <p:nvSpPr>
          <p:cNvPr id="39" name="Text 35"/>
          <p:cNvSpPr txBox="1"/>
          <p:nvPr/>
        </p:nvSpPr>
        <p:spPr>
          <a:xfrm>
            <a:off x="6781648" y="5029200"/>
            <a:ext cx="464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b="1" dirty="0">
                <a:solidFill>
                  <a:srgbClr val="191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お気に入り層への先出し告知
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286PVの基盤へメガ割開始前にクーポンを配布し、初日集中をさらに強化。</a:t>
            </a:r>
            <a:endParaRPr lang="en-US" sz="980" dirty="0"/>
          </a:p>
        </p:txBody>
      </p:sp>
      <p:sp>
        <p:nvSpPr>
          <p:cNvPr id="40" name="Shape 36"/>
          <p:cNvSpPr/>
          <p:nvPr/>
        </p:nvSpPr>
        <p:spPr>
          <a:xfrm>
            <a:off x="6452464" y="5660136"/>
            <a:ext cx="237744" cy="237744"/>
          </a:xfrm>
          <a:prstGeom prst="ellipse">
            <a:avLst/>
          </a:prstGeom>
          <a:solidFill>
            <a:srgbClr val="191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6452464" y="56601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850" dirty="0"/>
          </a:p>
        </p:txBody>
      </p:sp>
      <p:sp>
        <p:nvSpPr>
          <p:cNvPr id="42" name="Text 38"/>
          <p:cNvSpPr txBox="1"/>
          <p:nvPr/>
        </p:nvSpPr>
        <p:spPr>
          <a:xfrm>
            <a:off x="6781648" y="5614416"/>
            <a:ext cx="464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b="1" dirty="0">
                <a:solidFill>
                  <a:srgbClr val="191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まとめ買い導線の設置
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¥4,031の消耗品でリピート率が高い。2本・3本セットを新設し、客単価と再購入間隔を同時に改善。</a:t>
            </a:r>
            <a:endParaRPr lang="en-US" sz="980" dirty="0"/>
          </a:p>
        </p:txBody>
      </p:sp>
      <p:sp>
        <p:nvSpPr>
          <p:cNvPr id="43" name="Text 39"/>
          <p:cNvSpPr txBox="1"/>
          <p:nvPr/>
        </p:nvSpPr>
        <p:spPr>
          <a:xfrm>
            <a:off x="301752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0A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Copyright © Wacworks Inc. All Rights Reserved.</a:t>
            </a:r>
            <a:endParaRPr lang="en-US" sz="800" dirty="0"/>
          </a:p>
        </p:txBody>
      </p:sp>
      <p:sp>
        <p:nvSpPr>
          <p:cNvPr id="44" name="Text 40"/>
          <p:cNvSpPr txBox="1"/>
          <p:nvPr/>
        </p:nvSpPr>
        <p:spPr>
          <a:xfrm>
            <a:off x="10426903" y="6492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0A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 / 13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1752" y="228600"/>
            <a:ext cx="137160" cy="493776"/>
          </a:xfrm>
          <a:prstGeom prst="rect">
            <a:avLst/>
          </a:prstGeom>
          <a:solidFill>
            <a:srgbClr val="191F4D"/>
          </a:solidFill>
          <a:ln w="12700">
            <a:solidFill>
              <a:srgbClr val="191F4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01168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 シャンプー＆トリートメント セット ─ 詳細分析</a:t>
            </a:r>
            <a:endParaRPr lang="en-US" sz="2400" dirty="0"/>
          </a:p>
        </p:txBody>
      </p:sp>
      <p:pic>
        <p:nvPicPr>
          <p:cNvPr id="4" name="Image 0" descr="assets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9935" y="219456"/>
            <a:ext cx="2331720" cy="43342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01752" y="786384"/>
            <a:ext cx="11588191" cy="0"/>
          </a:xfrm>
          <a:prstGeom prst="line">
            <a:avLst/>
          </a:prstGeom>
          <a:noFill/>
          <a:ln w="9525">
            <a:solidFill>
              <a:srgbClr val="8C929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88175" y="795528"/>
            <a:ext cx="4754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商品番号 1155729990 / 各300ml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48640" y="1051560"/>
            <a:ext cx="2663876" cy="1143000"/>
          </a:xfrm>
          <a:prstGeom prst="roundRect">
            <a:avLst>
              <a:gd name="adj" fmla="val 5600"/>
            </a:avLst>
          </a:prstGeom>
          <a:solidFill>
            <a:srgbClr val="F4F5F8"/>
          </a:solidFill>
          <a:ln w="9525">
            <a:solidFill>
              <a:srgbClr val="D4D6DE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1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13232" y="1161288"/>
            <a:ext cx="23346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8月売上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713232" y="1417320"/>
            <a:ext cx="23346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E75B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¥181,776</a:t>
            </a:r>
            <a:endParaRPr lang="en-US" sz="2100" dirty="0"/>
          </a:p>
        </p:txBody>
      </p:sp>
      <p:sp>
        <p:nvSpPr>
          <p:cNvPr id="10" name="Text 7"/>
          <p:cNvSpPr txBox="1"/>
          <p:nvPr/>
        </p:nvSpPr>
        <p:spPr>
          <a:xfrm>
            <a:off x="713232" y="1901952"/>
            <a:ext cx="23346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全体の30.1% / No.2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358820" y="1051560"/>
            <a:ext cx="2663876" cy="1143000"/>
          </a:xfrm>
          <a:prstGeom prst="roundRect">
            <a:avLst>
              <a:gd name="adj" fmla="val 5600"/>
            </a:avLst>
          </a:prstGeom>
          <a:solidFill>
            <a:srgbClr val="F4F5F8"/>
          </a:solidFill>
          <a:ln w="9525">
            <a:solidFill>
              <a:srgbClr val="D4D6DE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18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3523412" y="1161288"/>
            <a:ext cx="23346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販売件数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3523412" y="1417320"/>
            <a:ext cx="23346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24件</a:t>
            </a:r>
            <a:endParaRPr lang="en-US" sz="2100" dirty="0"/>
          </a:p>
        </p:txBody>
      </p:sp>
      <p:sp>
        <p:nvSpPr>
          <p:cNvPr id="14" name="Text 11"/>
          <p:cNvSpPr txBox="1"/>
          <p:nvPr/>
        </p:nvSpPr>
        <p:spPr>
          <a:xfrm>
            <a:off x="3523412" y="1901952"/>
            <a:ext cx="23346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7月28件比 -14.3%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169000" y="1051560"/>
            <a:ext cx="2663876" cy="1143000"/>
          </a:xfrm>
          <a:prstGeom prst="roundRect">
            <a:avLst>
              <a:gd name="adj" fmla="val 5600"/>
            </a:avLst>
          </a:prstGeom>
          <a:solidFill>
            <a:srgbClr val="F4F5F8"/>
          </a:solidFill>
          <a:ln w="9525">
            <a:solidFill>
              <a:srgbClr val="D4D6DE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18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333592" y="1161288"/>
            <a:ext cx="23346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1個単価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6333592" y="1417320"/>
            <a:ext cx="23346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91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¥7,574</a:t>
            </a:r>
            <a:endParaRPr lang="en-US" sz="2100" dirty="0"/>
          </a:p>
        </p:txBody>
      </p:sp>
      <p:sp>
        <p:nvSpPr>
          <p:cNvPr id="18" name="Text 15"/>
          <p:cNvSpPr txBox="1"/>
          <p:nvPr/>
        </p:nvSpPr>
        <p:spPr>
          <a:xfrm>
            <a:off x="6333592" y="1901952"/>
            <a:ext cx="23346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全SKU中 最高単価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8979179" y="1051560"/>
            <a:ext cx="2663876" cy="1143000"/>
          </a:xfrm>
          <a:prstGeom prst="roundRect">
            <a:avLst>
              <a:gd name="adj" fmla="val 5600"/>
            </a:avLst>
          </a:prstGeom>
          <a:solidFill>
            <a:srgbClr val="F4F5F8"/>
          </a:solidFill>
          <a:ln w="9525">
            <a:solidFill>
              <a:srgbClr val="D4D6DE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18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9143771" y="1161288"/>
            <a:ext cx="23346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PV / CVR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9143771" y="1417320"/>
            <a:ext cx="23346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91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255 / 9.41%</a:t>
            </a:r>
            <a:endParaRPr lang="en-US" sz="2100" dirty="0"/>
          </a:p>
        </p:txBody>
      </p:sp>
      <p:sp>
        <p:nvSpPr>
          <p:cNvPr id="22" name="Text 19"/>
          <p:cNvSpPr txBox="1"/>
          <p:nvPr/>
        </p:nvSpPr>
        <p:spPr>
          <a:xfrm>
            <a:off x="9143771" y="1901952"/>
            <a:ext cx="23346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7月 9.36% から微増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2331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チャネル別PV（8月）</a:t>
            </a:r>
            <a:endParaRPr lang="en-US" sz="11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51760"/>
          <a:ext cx="11094415" cy="914400"/>
        </p:xfrm>
        <a:graphic>
          <a:graphicData uri="http://schemas.openxmlformats.org/drawingml/2006/table">
            <a:tbl>
              <a:tblPr/>
              <a:tblGrid>
                <a:gridCol w="1008583"/>
                <a:gridCol w="1008583"/>
                <a:gridCol w="1008583"/>
                <a:gridCol w="1008583"/>
                <a:gridCol w="1008583"/>
                <a:gridCol w="1008583"/>
                <a:gridCol w="1008583"/>
                <a:gridCol w="1008583"/>
                <a:gridCol w="1008583"/>
                <a:gridCol w="1008583"/>
                <a:gridCol w="1008583"/>
              </a:tblGrid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お気に入り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ダイレクト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外部サイト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└ Google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検索結果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ショップ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カート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商品カタログ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商品詳細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その他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合計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62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44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25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24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23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21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16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15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29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255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hape 21"/>
          <p:cNvSpPr/>
          <p:nvPr/>
        </p:nvSpPr>
        <p:spPr>
          <a:xfrm>
            <a:off x="548640" y="3429000"/>
            <a:ext cx="5410048" cy="28346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 w="9525">
            <a:solidFill>
              <a:srgbClr val="D4D6DE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18000"/>
              </a:srgbClr>
            </a:outerShdw>
          </a:effectLst>
        </p:spPr>
      </p:sp>
      <p:sp>
        <p:nvSpPr>
          <p:cNvPr id="26" name="Text 22"/>
          <p:cNvSpPr txBox="1"/>
          <p:nvPr/>
        </p:nvSpPr>
        <p:spPr>
          <a:xfrm>
            <a:off x="768096" y="3529584"/>
            <a:ext cx="497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商品特性・分析</a:t>
            </a:r>
            <a:endParaRPr lang="en-US" sz="1150" dirty="0"/>
          </a:p>
        </p:txBody>
      </p:sp>
      <p:sp>
        <p:nvSpPr>
          <p:cNvPr id="27" name="Text 23"/>
          <p:cNvSpPr txBox="1"/>
          <p:nvPr/>
        </p:nvSpPr>
        <p:spPr>
          <a:xfrm>
            <a:off x="768096" y="3840480"/>
            <a:ext cx="49711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【商品概要】シャンプーとトリートメントのライン使いセット。単価¥7,574は全SKU中最高で、件数の少なさを単価で補う収益貢献型の商品。</a:t>
            </a:r>
            <a:endParaRPr lang="en-US" sz="950" dirty="0"/>
          </a:p>
        </p:txBody>
      </p:sp>
      <p:sp>
        <p:nvSpPr>
          <p:cNvPr id="28" name="Text 24"/>
          <p:cNvSpPr txBox="1"/>
          <p:nvPr/>
        </p:nvSpPr>
        <p:spPr>
          <a:xfrm>
            <a:off x="768096" y="4498848"/>
            <a:ext cx="497113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2000"/>
              </a:lnSpc>
              <a:spcAft>
                <a:spcPts val="600"/>
              </a:spcAft>
              <a:buSzPct val="100000"/>
              <a:buChar char="●"/>
            </a:pPr>
            <a:r>
              <a:rPr lang="en-US" sz="950" dirty="0">
                <a:solidFill>
                  <a:srgbClr val="4449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売上-14.3%と、主力（-25.1%）や全体（-20.4%）より減少幅が小さく、相対的に堅調。</a:t>
            </a:r>
            <a:endParaRPr lang="en-US" sz="950" dirty="0"/>
          </a:p>
          <a:p>
            <a:pPr marL="342900" indent="-342900">
              <a:lnSpc>
                <a:spcPct val="122000"/>
              </a:lnSpc>
              <a:spcAft>
                <a:spcPts val="600"/>
              </a:spcAft>
              <a:buSzPct val="100000"/>
              <a:buChar char="●"/>
            </a:pPr>
            <a:r>
              <a:rPr lang="en-US" sz="950" dirty="0">
                <a:solidFill>
                  <a:srgbClr val="4449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 CVR 9.41%（7月9.36%）を維持。高単価にもかかわらず転換率は主力商品と同水準で、セット訴求が機能している。</a:t>
            </a:r>
            <a:endParaRPr lang="en-US" sz="950" dirty="0"/>
          </a:p>
          <a:p>
            <a:pPr marL="342900" indent="-342900">
              <a:lnSpc>
                <a:spcPct val="122000"/>
              </a:lnSpc>
              <a:spcAft>
                <a:spcPts val="600"/>
              </a:spcAft>
              <a:buSzPct val="100000"/>
              <a:buChar char="●"/>
            </a:pPr>
            <a:r>
              <a:rPr lang="en-US" sz="950" dirty="0">
                <a:solidFill>
                  <a:srgbClr val="4449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 外部サイト25PVのうちGoogle24PVが占め、外部検索が新規接点として効いている数少ない商品。</a:t>
            </a:r>
            <a:endParaRPr lang="en-US" sz="950" dirty="0"/>
          </a:p>
          <a:p>
            <a:pPr marL="342900" indent="-342900">
              <a:lnSpc>
                <a:spcPct val="122000"/>
              </a:lnSpc>
              <a:spcAft>
                <a:spcPts val="600"/>
              </a:spcAft>
              <a:buSzPct val="100000"/>
              <a:buChar char="●"/>
            </a:pPr>
            <a:r>
              <a:rPr lang="en-US" sz="950" dirty="0">
                <a:solidFill>
                  <a:srgbClr val="4449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単品のセラムイン シャンプー（+400%）・トリートメント（-50%）と合わせ、ライン商品全体では単品需要が伸びセット需要が縮む傾向。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6233008" y="3429000"/>
            <a:ext cx="5410048" cy="28346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 w="9525">
            <a:solidFill>
              <a:srgbClr val="D4D6DE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18000"/>
              </a:srgbClr>
            </a:outerShdw>
          </a:effectLst>
        </p:spPr>
      </p:sp>
      <p:sp>
        <p:nvSpPr>
          <p:cNvPr id="30" name="Text 26"/>
          <p:cNvSpPr txBox="1"/>
          <p:nvPr/>
        </p:nvSpPr>
        <p:spPr>
          <a:xfrm>
            <a:off x="6452464" y="3529584"/>
            <a:ext cx="497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次回メガ割に向けた打ち手</a:t>
            </a:r>
            <a:endParaRPr lang="en-US" sz="1150" dirty="0"/>
          </a:p>
        </p:txBody>
      </p:sp>
      <p:sp>
        <p:nvSpPr>
          <p:cNvPr id="31" name="Shape 27"/>
          <p:cNvSpPr/>
          <p:nvPr/>
        </p:nvSpPr>
        <p:spPr>
          <a:xfrm>
            <a:off x="6452464" y="3904488"/>
            <a:ext cx="237744" cy="237744"/>
          </a:xfrm>
          <a:prstGeom prst="ellipse">
            <a:avLst/>
          </a:prstGeom>
          <a:solidFill>
            <a:srgbClr val="191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6452464" y="39044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850" dirty="0"/>
          </a:p>
        </p:txBody>
      </p:sp>
      <p:sp>
        <p:nvSpPr>
          <p:cNvPr id="33" name="Text 29"/>
          <p:cNvSpPr txBox="1"/>
          <p:nvPr/>
        </p:nvSpPr>
        <p:spPr>
          <a:xfrm>
            <a:off x="6781648" y="3858768"/>
            <a:ext cx="464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b="1" dirty="0">
                <a:solidFill>
                  <a:srgbClr val="191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セット vs 単品の整理
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単品シャンプーが+400%と伸長。セットの価格メリット（実質割引率）をページ上部に明示し、単品からの引き上げを図る。</a:t>
            </a:r>
            <a:endParaRPr lang="en-US" sz="980" dirty="0"/>
          </a:p>
        </p:txBody>
      </p:sp>
      <p:sp>
        <p:nvSpPr>
          <p:cNvPr id="34" name="Shape 30"/>
          <p:cNvSpPr/>
          <p:nvPr/>
        </p:nvSpPr>
        <p:spPr>
          <a:xfrm>
            <a:off x="6452464" y="4489704"/>
            <a:ext cx="237744" cy="237744"/>
          </a:xfrm>
          <a:prstGeom prst="ellipse">
            <a:avLst/>
          </a:prstGeom>
          <a:solidFill>
            <a:srgbClr val="191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6452464" y="448970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850" dirty="0"/>
          </a:p>
        </p:txBody>
      </p:sp>
      <p:sp>
        <p:nvSpPr>
          <p:cNvPr id="36" name="Text 32"/>
          <p:cNvSpPr txBox="1"/>
          <p:nvPr/>
        </p:nvSpPr>
        <p:spPr>
          <a:xfrm>
            <a:off x="6781648" y="4443984"/>
            <a:ext cx="464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b="1" dirty="0">
                <a:solidFill>
                  <a:srgbClr val="191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Google流入の受け皿強化
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外部検索が効いている唯一の商品。「シャンプー トリートメント セット」等のSEO記事から本商品へ送客する導線を追加。</a:t>
            </a:r>
            <a:endParaRPr lang="en-US" sz="980" dirty="0"/>
          </a:p>
        </p:txBody>
      </p:sp>
      <p:sp>
        <p:nvSpPr>
          <p:cNvPr id="37" name="Shape 33"/>
          <p:cNvSpPr/>
          <p:nvPr/>
        </p:nvSpPr>
        <p:spPr>
          <a:xfrm>
            <a:off x="6452464" y="5074920"/>
            <a:ext cx="237744" cy="237744"/>
          </a:xfrm>
          <a:prstGeom prst="ellipse">
            <a:avLst/>
          </a:prstGeom>
          <a:solidFill>
            <a:srgbClr val="191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6452464" y="50749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850" dirty="0"/>
          </a:p>
        </p:txBody>
      </p:sp>
      <p:sp>
        <p:nvSpPr>
          <p:cNvPr id="39" name="Text 35"/>
          <p:cNvSpPr txBox="1"/>
          <p:nvPr/>
        </p:nvSpPr>
        <p:spPr>
          <a:xfrm>
            <a:off x="6781648" y="5029200"/>
            <a:ext cx="464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b="1" dirty="0">
                <a:solidFill>
                  <a:srgbClr val="191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ライン使いの効果訴求
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使用前後の質感比較・使用イメージを商品ページ上部に配置し、高単価の納得感を補強。</a:t>
            </a:r>
            <a:endParaRPr lang="en-US" sz="980" dirty="0"/>
          </a:p>
        </p:txBody>
      </p:sp>
      <p:sp>
        <p:nvSpPr>
          <p:cNvPr id="40" name="Shape 36"/>
          <p:cNvSpPr/>
          <p:nvPr/>
        </p:nvSpPr>
        <p:spPr>
          <a:xfrm>
            <a:off x="6452464" y="5660136"/>
            <a:ext cx="237744" cy="237744"/>
          </a:xfrm>
          <a:prstGeom prst="ellipse">
            <a:avLst/>
          </a:prstGeom>
          <a:solidFill>
            <a:srgbClr val="191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6452464" y="56601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850" dirty="0"/>
          </a:p>
        </p:txBody>
      </p:sp>
      <p:sp>
        <p:nvSpPr>
          <p:cNvPr id="42" name="Text 38"/>
          <p:cNvSpPr txBox="1"/>
          <p:nvPr/>
        </p:nvSpPr>
        <p:spPr>
          <a:xfrm>
            <a:off x="6781648" y="5614416"/>
            <a:ext cx="464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b="1" dirty="0">
                <a:solidFill>
                  <a:srgbClr val="191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定期購入・リピート設計
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¥7,574の消耗品セット。使い切りサイクル（約1.5〜2か月）に合わせたリマインド配信で再購入を促進。</a:t>
            </a:r>
            <a:endParaRPr lang="en-US" sz="980" dirty="0"/>
          </a:p>
        </p:txBody>
      </p:sp>
      <p:sp>
        <p:nvSpPr>
          <p:cNvPr id="43" name="Text 39"/>
          <p:cNvSpPr txBox="1"/>
          <p:nvPr/>
        </p:nvSpPr>
        <p:spPr>
          <a:xfrm>
            <a:off x="301752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0A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Copyright © Wacworks Inc. All Rights Reserved.</a:t>
            </a:r>
            <a:endParaRPr lang="en-US" sz="800" dirty="0"/>
          </a:p>
        </p:txBody>
      </p:sp>
      <p:sp>
        <p:nvSpPr>
          <p:cNvPr id="44" name="Text 40"/>
          <p:cNvSpPr txBox="1"/>
          <p:nvPr/>
        </p:nvSpPr>
        <p:spPr>
          <a:xfrm>
            <a:off x="10426903" y="6492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0A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 / 13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1752" y="228600"/>
            <a:ext cx="137160" cy="493776"/>
          </a:xfrm>
          <a:prstGeom prst="rect">
            <a:avLst/>
          </a:prstGeom>
          <a:solidFill>
            <a:srgbClr val="191F4D"/>
          </a:solidFill>
          <a:ln w="12700">
            <a:solidFill>
              <a:srgbClr val="191F4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01168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広告パフォーマンス ─ AD アナリティクス（8/1〜9）</a:t>
            </a:r>
            <a:endParaRPr lang="en-US" sz="2400" dirty="0"/>
          </a:p>
        </p:txBody>
      </p:sp>
      <p:pic>
        <p:nvPicPr>
          <p:cNvPr id="4" name="Image 0" descr="assets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9935" y="219456"/>
            <a:ext cx="2331720" cy="43342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01752" y="786384"/>
            <a:ext cx="11588191" cy="0"/>
          </a:xfrm>
          <a:prstGeom prst="line">
            <a:avLst/>
          </a:prstGeom>
          <a:noFill/>
          <a:ln w="9525">
            <a:solidFill>
              <a:srgbClr val="8C929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88175" y="795528"/>
            <a:ext cx="4754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出典：Qoo10 広告レポート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48640" y="1051560"/>
            <a:ext cx="2101840" cy="1188720"/>
          </a:xfrm>
          <a:prstGeom prst="roundRect">
            <a:avLst>
              <a:gd name="adj" fmla="val 5385"/>
            </a:avLst>
          </a:prstGeom>
          <a:solidFill>
            <a:srgbClr val="F4F5F8"/>
          </a:solidFill>
          <a:ln w="9525">
            <a:solidFill>
              <a:srgbClr val="D4D6DE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1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13232" y="1161288"/>
            <a:ext cx="177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広告費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713232" y="1417320"/>
            <a:ext cx="1772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91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7,100</a:t>
            </a:r>
            <a:endParaRPr lang="en-US" sz="2100" dirty="0"/>
          </a:p>
        </p:txBody>
      </p:sp>
      <p:sp>
        <p:nvSpPr>
          <p:cNvPr id="10" name="Text 7"/>
          <p:cNvSpPr txBox="1"/>
          <p:nvPr/>
        </p:nvSpPr>
        <p:spPr>
          <a:xfrm>
            <a:off x="713232" y="1901952"/>
            <a:ext cx="1772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Qcash / 9日間合計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796784" y="1051560"/>
            <a:ext cx="2101840" cy="1188720"/>
          </a:xfrm>
          <a:prstGeom prst="roundRect">
            <a:avLst>
              <a:gd name="adj" fmla="val 5385"/>
            </a:avLst>
          </a:prstGeom>
          <a:solidFill>
            <a:srgbClr val="F4F5F8"/>
          </a:solidFill>
          <a:ln w="9525">
            <a:solidFill>
              <a:srgbClr val="D4D6DE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18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2961376" y="1161288"/>
            <a:ext cx="177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広告売上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2961376" y="1417320"/>
            <a:ext cx="1772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91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¥38,366</a:t>
            </a:r>
            <a:endParaRPr lang="en-US" sz="2100" dirty="0"/>
          </a:p>
        </p:txBody>
      </p:sp>
      <p:sp>
        <p:nvSpPr>
          <p:cNvPr id="14" name="Text 11"/>
          <p:cNvSpPr txBox="1"/>
          <p:nvPr/>
        </p:nvSpPr>
        <p:spPr>
          <a:xfrm>
            <a:off x="2961376" y="1901952"/>
            <a:ext cx="1772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メガポ期間合計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044928" y="1051560"/>
            <a:ext cx="2101840" cy="1188720"/>
          </a:xfrm>
          <a:prstGeom prst="roundRect">
            <a:avLst>
              <a:gd name="adj" fmla="val 5385"/>
            </a:avLst>
          </a:prstGeom>
          <a:solidFill>
            <a:srgbClr val="F4F5F8"/>
          </a:solidFill>
          <a:ln w="9525">
            <a:solidFill>
              <a:srgbClr val="D4D6DE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18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5209520" y="1161288"/>
            <a:ext cx="177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ROAS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5209520" y="1417320"/>
            <a:ext cx="1772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E75B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540%</a:t>
            </a:r>
            <a:endParaRPr lang="en-US" sz="2100" dirty="0"/>
          </a:p>
        </p:txBody>
      </p:sp>
      <p:sp>
        <p:nvSpPr>
          <p:cNvPr id="18" name="Text 15"/>
          <p:cNvSpPr txBox="1"/>
          <p:nvPr/>
        </p:nvSpPr>
        <p:spPr>
          <a:xfrm>
            <a:off x="5209520" y="1901952"/>
            <a:ext cx="1772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広告費の約5倍を回収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7293072" y="1051560"/>
            <a:ext cx="2101840" cy="1188720"/>
          </a:xfrm>
          <a:prstGeom prst="roundRect">
            <a:avLst>
              <a:gd name="adj" fmla="val 5385"/>
            </a:avLst>
          </a:prstGeom>
          <a:solidFill>
            <a:srgbClr val="F4F5F8"/>
          </a:solidFill>
          <a:ln w="9525">
            <a:solidFill>
              <a:srgbClr val="D4D6DE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18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7457664" y="1161288"/>
            <a:ext cx="177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広告経由 購入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7457664" y="1417320"/>
            <a:ext cx="1772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91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7件</a:t>
            </a:r>
            <a:endParaRPr lang="en-US" sz="2100" dirty="0"/>
          </a:p>
        </p:txBody>
      </p:sp>
      <p:sp>
        <p:nvSpPr>
          <p:cNvPr id="22" name="Text 19"/>
          <p:cNvSpPr txBox="1"/>
          <p:nvPr/>
        </p:nvSpPr>
        <p:spPr>
          <a:xfrm>
            <a:off x="7457664" y="1901952"/>
            <a:ext cx="1772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広告CVR 7.69%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9541215" y="1051560"/>
            <a:ext cx="2101840" cy="1188720"/>
          </a:xfrm>
          <a:prstGeom prst="roundRect">
            <a:avLst>
              <a:gd name="adj" fmla="val 5385"/>
            </a:avLst>
          </a:prstGeom>
          <a:solidFill>
            <a:srgbClr val="F4F5F8"/>
          </a:solidFill>
          <a:ln w="9525">
            <a:solidFill>
              <a:srgbClr val="D4D6DE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18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9705807" y="1161288"/>
            <a:ext cx="177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全体売上への寄与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9705807" y="1417320"/>
            <a:ext cx="1772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91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6.3%</a:t>
            </a:r>
            <a:endParaRPr lang="en-US" sz="2100" dirty="0"/>
          </a:p>
        </p:txBody>
      </p:sp>
      <p:sp>
        <p:nvSpPr>
          <p:cNvPr id="26" name="Text 23"/>
          <p:cNvSpPr txBox="1"/>
          <p:nvPr/>
        </p:nvSpPr>
        <p:spPr>
          <a:xfrm>
            <a:off x="9705807" y="1901952"/>
            <a:ext cx="1772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¥604,819中 ¥38,366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598932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960120"/>
                <a:gridCol w="1188720"/>
                <a:gridCol w="1005840"/>
                <a:gridCol w="914400"/>
                <a:gridCol w="96012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日付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広告費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広告売上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ROAS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クリック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購入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8/1 土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1,250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¥7,574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606%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14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8/2 日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2,550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—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8/3 月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500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¥3,911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782%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8/4 火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500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—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14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8/5 水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500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—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8/6 木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500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¥11,733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2,347%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8/7 金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500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¥7,574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1,515%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15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8/8 土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500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¥7,574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1,515%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8/9 日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300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—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91F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合計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91F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7,100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91F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¥38,366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91F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540%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91F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91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91F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2"/>
                    </a:solidFill>
                  </a:tcPr>
                </a:tc>
              </a:tr>
            </a:tbl>
          </a:graphicData>
        </a:graphic>
      </p:graphicFrame>
      <p:sp>
        <p:nvSpPr>
          <p:cNvPr id="28" name="Text 24"/>
          <p:cNvSpPr txBox="1"/>
          <p:nvPr/>
        </p:nvSpPr>
        <p:spPr>
          <a:xfrm>
            <a:off x="6812280" y="2377440"/>
            <a:ext cx="48307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91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広告メニュー別</a:t>
            </a:r>
            <a:endParaRPr lang="en-US" sz="105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12280" y="2670048"/>
          <a:ext cx="4830775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749808"/>
                <a:gridCol w="969264"/>
                <a:gridCol w="731520"/>
                <a:gridCol w="82296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メニュー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広告費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広告売上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ROAS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CTR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キーワードプラス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5,700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¥3,911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69%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4.71%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パワーランクアップ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1,400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¥34,455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2,461%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0.96%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91F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合計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91F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7,100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91F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¥38,366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91F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540%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91F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1.35%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2"/>
                    </a:solidFill>
                  </a:tcPr>
                </a:tc>
              </a:tr>
            </a:tbl>
          </a:graphicData>
        </a:graphic>
      </p:graphicFrame>
      <p:sp>
        <p:nvSpPr>
          <p:cNvPr id="30" name="Shape 25"/>
          <p:cNvSpPr/>
          <p:nvPr/>
        </p:nvSpPr>
        <p:spPr>
          <a:xfrm>
            <a:off x="548640" y="5532120"/>
            <a:ext cx="11094415" cy="740664"/>
          </a:xfrm>
          <a:prstGeom prst="roundRect">
            <a:avLst>
              <a:gd name="adj" fmla="val 8642"/>
            </a:avLst>
          </a:prstGeom>
          <a:solidFill>
            <a:srgbClr val="FFFFFF"/>
          </a:solidFill>
          <a:ln w="9525">
            <a:solidFill>
              <a:srgbClr val="D4D6DE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18000"/>
              </a:srgbClr>
            </a:outerShdw>
          </a:effectLst>
        </p:spPr>
      </p:sp>
      <p:sp>
        <p:nvSpPr>
          <p:cNvPr id="31" name="Text 26"/>
          <p:cNvSpPr txBox="1"/>
          <p:nvPr/>
        </p:nvSpPr>
        <p:spPr>
          <a:xfrm>
            <a:off x="804672" y="5623560"/>
            <a:ext cx="1058235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2000"/>
              </a:lnSpc>
              <a:spcAft>
                <a:spcPts val="600"/>
              </a:spcAft>
              <a:buSzPct val="100000"/>
              <a:buChar char="●"/>
            </a:pPr>
            <a:r>
              <a:rPr lang="en-US" sz="900" dirty="0">
                <a:solidFill>
                  <a:srgbClr val="4449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 パワーランクアップは費用1,400（19.7%）で広告売上の89.8%（¥34,455）を創出。ROAS 2,461%・CVR 10.34%と、露出量に対する費用効率が非常に高い。</a:t>
            </a:r>
            <a:endParaRPr lang="en-US" sz="900" dirty="0"/>
          </a:p>
          <a:p>
            <a:pPr marL="342900" indent="-342900">
              <a:lnSpc>
                <a:spcPct val="122000"/>
              </a:lnSpc>
              <a:spcAft>
                <a:spcPts val="600"/>
              </a:spcAft>
              <a:buSzPct val="100000"/>
              <a:buChar char="●"/>
            </a:pPr>
            <a:r>
              <a:rPr lang="en-US" sz="900" dirty="0">
                <a:solidFill>
                  <a:srgbClr val="4449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キーワードプラスは費用5,700（80.3%）でROAS 69%。CTR 4.71%と関心は取れているため、出稿商品と入札の見直しで改善余地がある。</a:t>
            </a:r>
            <a:endParaRPr lang="en-US" sz="900" dirty="0"/>
          </a:p>
        </p:txBody>
      </p:sp>
      <p:sp>
        <p:nvSpPr>
          <p:cNvPr id="32" name="Text 27"/>
          <p:cNvSpPr txBox="1"/>
          <p:nvPr/>
        </p:nvSpPr>
        <p:spPr>
          <a:xfrm>
            <a:off x="301752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0A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Copyright © Wacworks Inc. All Rights Reserved.</a:t>
            </a:r>
            <a:endParaRPr lang="en-US" sz="800" dirty="0"/>
          </a:p>
        </p:txBody>
      </p:sp>
      <p:sp>
        <p:nvSpPr>
          <p:cNvPr id="33" name="Text 28"/>
          <p:cNvSpPr txBox="1"/>
          <p:nvPr/>
        </p:nvSpPr>
        <p:spPr>
          <a:xfrm>
            <a:off x="10426903" y="6492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0A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11 / 13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1752" y="228600"/>
            <a:ext cx="137160" cy="493776"/>
          </a:xfrm>
          <a:prstGeom prst="rect">
            <a:avLst/>
          </a:prstGeom>
          <a:solidFill>
            <a:srgbClr val="191F4D"/>
          </a:solidFill>
          <a:ln w="12700">
            <a:solidFill>
              <a:srgbClr val="191F4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01168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商品別 広告パフォーマンス ─ 予算配分の検証</a:t>
            </a:r>
            <a:endParaRPr lang="en-US" sz="2400" dirty="0"/>
          </a:p>
        </p:txBody>
      </p:sp>
      <p:pic>
        <p:nvPicPr>
          <p:cNvPr id="4" name="Image 0" descr="assets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9935" y="219456"/>
            <a:ext cx="2331720" cy="43342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01752" y="786384"/>
            <a:ext cx="11588191" cy="0"/>
          </a:xfrm>
          <a:prstGeom prst="line">
            <a:avLst/>
          </a:prstGeom>
          <a:noFill/>
          <a:ln w="9525">
            <a:solidFill>
              <a:srgbClr val="8C929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88175" y="795528"/>
            <a:ext cx="4754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8/1〜9 / 広告出稿 全3商品</a:t>
            </a:r>
            <a:endParaRPr lang="en-US" sz="9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11094415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960120"/>
                <a:gridCol w="1143000"/>
                <a:gridCol w="960120"/>
                <a:gridCol w="960120"/>
                <a:gridCol w="914400"/>
                <a:gridCol w="822960"/>
                <a:gridCol w="777240"/>
                <a:gridCol w="777240"/>
                <a:gridCol w="761695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商品名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広告費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広告売上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ROAS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インプ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クリック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CTR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カート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購入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CVR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セラムイン シャンプー＆トリートメント セット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1,600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¥22,722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5B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1,420%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976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22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2.25%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13.64%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セラムイン ウォータートリートメント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4,600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¥15,644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340%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5,698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64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1.12%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11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6.25%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ヘアミルクセラム アウトバストリートメント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900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—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65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7.69%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0.00%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91F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合計 全3商品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91F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7,100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91F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¥38,366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91F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540%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91F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6,739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91F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91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91F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1.35%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91F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17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91F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91F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7.69%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2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301752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91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商品 × 広告メニュー別</a:t>
            </a:r>
            <a:endParaRPr lang="en-US" sz="105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310128"/>
          <a:ext cx="59893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325880"/>
                <a:gridCol w="658368"/>
                <a:gridCol w="850392"/>
                <a:gridCol w="731520"/>
                <a:gridCol w="59436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商品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メニュー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広告費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広告売上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ROAS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CTR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F4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シャンプー＆トリートメント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キーワードプラス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—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11.29%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シャンプー＆トリートメント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パワーランクアップ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¥22,722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E75B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3,246%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1.64%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ウォータートリートメント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キーワードプラス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3,900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¥3,911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100%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3.66%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ウォータートリートメント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パワーランクアップ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¥11,733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E75B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1,676%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0.84%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ヘアミルクセラム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キーワードプラス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—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9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7.69%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5"/>
          <p:cNvSpPr/>
          <p:nvPr/>
        </p:nvSpPr>
        <p:spPr>
          <a:xfrm>
            <a:off x="6812280" y="3310128"/>
            <a:ext cx="4830775" cy="1755648"/>
          </a:xfrm>
          <a:prstGeom prst="roundRect">
            <a:avLst>
              <a:gd name="adj" fmla="val 3646"/>
            </a:avLst>
          </a:prstGeom>
          <a:solidFill>
            <a:srgbClr val="FFFFFF"/>
          </a:solidFill>
          <a:ln w="9525">
            <a:solidFill>
              <a:srgbClr val="D4D6DE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18000"/>
              </a:srgbClr>
            </a:outerShdw>
          </a:effectLst>
        </p:spPr>
      </p:sp>
      <p:sp>
        <p:nvSpPr>
          <p:cNvPr id="11" name="Text 6"/>
          <p:cNvSpPr txBox="1"/>
          <p:nvPr/>
        </p:nvSpPr>
        <p:spPr>
          <a:xfrm>
            <a:off x="7031736" y="3401568"/>
            <a:ext cx="439186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1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メニュー間で効率差が大きい</a:t>
            </a:r>
            <a:endParaRPr lang="en-US" sz="1100" dirty="0"/>
          </a:p>
        </p:txBody>
      </p:sp>
      <p:sp>
        <p:nvSpPr>
          <p:cNvPr id="12" name="Text 7"/>
          <p:cNvSpPr txBox="1"/>
          <p:nvPr/>
        </p:nvSpPr>
        <p:spPr>
          <a:xfrm>
            <a:off x="7031736" y="3694176"/>
            <a:ext cx="439186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2000"/>
              </a:lnSpc>
              <a:spcAft>
                <a:spcPts val="600"/>
              </a:spcAft>
              <a:buSzPct val="100000"/>
              <a:buChar char="●"/>
            </a:pPr>
            <a:r>
              <a:rPr lang="en-US" sz="850" dirty="0">
                <a:solidFill>
                  <a:srgbClr val="4449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シャンプー＆トリートメント セットはパワーランクアップでROAS 3,246%・CVR 20.00%と突出。</a:t>
            </a:r>
            <a:endParaRPr lang="en-US" sz="850" dirty="0"/>
          </a:p>
          <a:p>
            <a:pPr marL="342900" indent="-342900">
              <a:lnSpc>
                <a:spcPct val="122000"/>
              </a:lnSpc>
              <a:spcAft>
                <a:spcPts val="600"/>
              </a:spcAft>
              <a:buSzPct val="100000"/>
              <a:buChar char="●"/>
            </a:pPr>
            <a:r>
              <a:rPr lang="en-US" sz="850" dirty="0">
                <a:solidFill>
                  <a:srgbClr val="4449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ウォータートリートメントも同メニューでROAS 1,676%。一方キーワードプラスは費用3,900でROAS 100%。</a:t>
            </a:r>
            <a:endParaRPr lang="en-US" sz="850" dirty="0"/>
          </a:p>
          <a:p>
            <a:pPr marL="342900" indent="-342900">
              <a:lnSpc>
                <a:spcPct val="122000"/>
              </a:lnSpc>
              <a:spcAft>
                <a:spcPts val="600"/>
              </a:spcAft>
              <a:buSzPct val="100000"/>
              <a:buChar char="●"/>
            </a:pPr>
            <a:r>
              <a:rPr lang="en-US" sz="850" dirty="0">
                <a:solidFill>
                  <a:srgbClr val="4449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ヘアミルクセラムはCTR 7.69%と関心は高いが購入ゼロ。商品ページ側の見直しが必要。</a:t>
            </a:r>
            <a:endParaRPr lang="en-US" sz="850" dirty="0"/>
          </a:p>
        </p:txBody>
      </p:sp>
      <p:sp>
        <p:nvSpPr>
          <p:cNvPr id="13" name="Shape 8"/>
          <p:cNvSpPr/>
          <p:nvPr/>
        </p:nvSpPr>
        <p:spPr>
          <a:xfrm>
            <a:off x="6812280" y="5138928"/>
            <a:ext cx="4830775" cy="1133856"/>
          </a:xfrm>
          <a:prstGeom prst="roundRect">
            <a:avLst>
              <a:gd name="adj" fmla="val 5645"/>
            </a:avLst>
          </a:prstGeom>
          <a:solidFill>
            <a:srgbClr val="FFFFFF"/>
          </a:solidFill>
          <a:ln w="9525">
            <a:solidFill>
              <a:srgbClr val="D4D6DE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18000"/>
              </a:srgbClr>
            </a:outerShdw>
          </a:effectLst>
        </p:spPr>
      </p:sp>
      <p:sp>
        <p:nvSpPr>
          <p:cNvPr id="14" name="Text 9"/>
          <p:cNvSpPr txBox="1"/>
          <p:nvPr/>
        </p:nvSpPr>
        <p:spPr>
          <a:xfrm>
            <a:off x="7031736" y="5212080"/>
            <a:ext cx="439186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1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■ 次回メガ割に向けた打ち手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7031736" y="5522976"/>
            <a:ext cx="214884" cy="214884"/>
          </a:xfrm>
          <a:prstGeom prst="ellipse">
            <a:avLst/>
          </a:prstGeom>
          <a:solidFill>
            <a:srgbClr val="191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031736" y="5522976"/>
            <a:ext cx="21488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800" dirty="0"/>
          </a:p>
        </p:txBody>
      </p:sp>
      <p:sp>
        <p:nvSpPr>
          <p:cNvPr id="17" name="Text 12"/>
          <p:cNvSpPr txBox="1"/>
          <p:nvPr/>
        </p:nvSpPr>
        <p:spPr>
          <a:xfrm>
            <a:off x="7333488" y="5495544"/>
            <a:ext cx="40901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4449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キーワードプラスの費用を縮小しパワーランクアップへ振替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7031736" y="5870448"/>
            <a:ext cx="214884" cy="214884"/>
          </a:xfrm>
          <a:prstGeom prst="ellipse">
            <a:avLst/>
          </a:prstGeom>
          <a:solidFill>
            <a:srgbClr val="191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7031736" y="5870448"/>
            <a:ext cx="21488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800" dirty="0"/>
          </a:p>
        </p:txBody>
      </p:sp>
      <p:sp>
        <p:nvSpPr>
          <p:cNvPr id="20" name="Text 15"/>
          <p:cNvSpPr txBox="1"/>
          <p:nvPr/>
        </p:nvSpPr>
        <p:spPr>
          <a:xfrm>
            <a:off x="7333488" y="5843016"/>
            <a:ext cx="40901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4449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出稿はTOP2商品（セット・ウォータートリートメント）へ集中</a:t>
            </a:r>
            <a:endParaRPr lang="en-US" sz="950" dirty="0"/>
          </a:p>
        </p:txBody>
      </p:sp>
      <p:sp>
        <p:nvSpPr>
          <p:cNvPr id="21" name="Text 16"/>
          <p:cNvSpPr txBox="1"/>
          <p:nvPr/>
        </p:nvSpPr>
        <p:spPr>
          <a:xfrm>
            <a:off x="301752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0A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Copyright © Wacworks Inc. All Rights Reserved.</a:t>
            </a:r>
            <a:endParaRPr lang="en-US" sz="800" dirty="0"/>
          </a:p>
        </p:txBody>
      </p:sp>
      <p:sp>
        <p:nvSpPr>
          <p:cNvPr id="22" name="Text 17"/>
          <p:cNvSpPr txBox="1"/>
          <p:nvPr/>
        </p:nvSpPr>
        <p:spPr>
          <a:xfrm>
            <a:off x="10426903" y="6492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0A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 / 13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1752" y="228600"/>
            <a:ext cx="137160" cy="493776"/>
          </a:xfrm>
          <a:prstGeom prst="rect">
            <a:avLst/>
          </a:prstGeom>
          <a:solidFill>
            <a:srgbClr val="191F4D"/>
          </a:solidFill>
          <a:ln w="12700">
            <a:solidFill>
              <a:srgbClr val="191F4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01168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次回メガ割に向けた改善アクション ─ 優先3施策</a:t>
            </a:r>
            <a:endParaRPr lang="en-US" sz="2400" dirty="0"/>
          </a:p>
        </p:txBody>
      </p:sp>
      <p:pic>
        <p:nvPicPr>
          <p:cNvPr id="4" name="Image 0" descr="assets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9935" y="219456"/>
            <a:ext cx="2331720" cy="43342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01752" y="786384"/>
            <a:ext cx="11588191" cy="0"/>
          </a:xfrm>
          <a:prstGeom prst="line">
            <a:avLst/>
          </a:prstGeom>
          <a:noFill/>
          <a:ln w="9525">
            <a:solidFill>
              <a:srgbClr val="8C929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88175" y="795528"/>
            <a:ext cx="4754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8月メガポ実績＋商品企画にもとづく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48640" y="1143000"/>
            <a:ext cx="3515258" cy="4892040"/>
          </a:xfrm>
          <a:prstGeom prst="roundRect">
            <a:avLst>
              <a:gd name="adj" fmla="val 1821"/>
            </a:avLst>
          </a:prstGeom>
          <a:solidFill>
            <a:srgbClr val="FFFFFF"/>
          </a:solidFill>
          <a:ln w="9525">
            <a:solidFill>
              <a:srgbClr val="D4D6DE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86384" y="1289304"/>
            <a:ext cx="329184" cy="329184"/>
          </a:xfrm>
          <a:prstGeom prst="ellipse">
            <a:avLst/>
          </a:prstGeom>
          <a:solidFill>
            <a:srgbClr val="191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86384" y="12893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1207008" y="1252728"/>
            <a:ext cx="261914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91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ウォータートリートメントを軸にしたセット商品の造成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786384" y="194767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根 拠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786384" y="2148840"/>
            <a:ext cx="303977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449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ウォータートリートメント単品が売上の46.0%（¥278,124）を占める最主力。リピート比率も61.9%とファン基盤が厚く、客単価向上の余地が大きい（現状¥4,999）。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786384" y="32644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打ち手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804672" y="3552444"/>
            <a:ext cx="68580" cy="68580"/>
          </a:xfrm>
          <a:prstGeom prst="ellipse">
            <a:avLst/>
          </a:prstGeom>
          <a:solidFill>
            <a:srgbClr val="191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69264" y="3465576"/>
            <a:ext cx="285689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449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「ウォータートリートメント＋シャンプー or トリートメント」のセットページを新設（商品企画ご提案②）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804672" y="4155948"/>
            <a:ext cx="68580" cy="68580"/>
          </a:xfrm>
          <a:prstGeom prst="ellipse">
            <a:avLst/>
          </a:prstGeom>
          <a:solidFill>
            <a:srgbClr val="191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69264" y="4069080"/>
            <a:ext cx="285689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449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「ウォータートリートメント2個セット」を20%OFF・Qoo10専用商品として作成（ご提案①）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804672" y="4759452"/>
            <a:ext cx="68580" cy="68580"/>
          </a:xfrm>
          <a:prstGeom prst="ellipse">
            <a:avLst/>
          </a:prstGeom>
          <a:solidFill>
            <a:srgbClr val="191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69264" y="4672584"/>
            <a:ext cx="285689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449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GWPをメガ割期間限定で付与し、セットへの購買意欲を高める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786384" y="5404104"/>
            <a:ext cx="3039770" cy="475488"/>
          </a:xfrm>
          <a:prstGeom prst="roundRect">
            <a:avLst>
              <a:gd name="adj" fmla="val 9615"/>
            </a:avLst>
          </a:prstGeom>
          <a:solidFill>
            <a:srgbClr val="2E75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2960" y="5404104"/>
            <a:ext cx="296661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目標： 客単価 ≧ ¥5,500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338218" y="1143000"/>
            <a:ext cx="3515258" cy="4892040"/>
          </a:xfrm>
          <a:prstGeom prst="roundRect">
            <a:avLst>
              <a:gd name="adj" fmla="val 1821"/>
            </a:avLst>
          </a:prstGeom>
          <a:solidFill>
            <a:srgbClr val="FFFFFF"/>
          </a:solidFill>
          <a:ln w="9525">
            <a:solidFill>
              <a:srgbClr val="D4D6DE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1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575962" y="1289304"/>
            <a:ext cx="329184" cy="329184"/>
          </a:xfrm>
          <a:prstGeom prst="ellipse">
            <a:avLst/>
          </a:prstGeom>
          <a:solidFill>
            <a:srgbClr val="191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575962" y="12893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4996586" y="1252728"/>
            <a:ext cx="261914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91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広告予算をROASの高いメニューへ再配分</a:t>
            </a:r>
            <a:endParaRPr lang="en-US" sz="1150" dirty="0"/>
          </a:p>
        </p:txBody>
      </p:sp>
      <p:sp>
        <p:nvSpPr>
          <p:cNvPr id="26" name="Text 23"/>
          <p:cNvSpPr txBox="1"/>
          <p:nvPr/>
        </p:nvSpPr>
        <p:spPr>
          <a:xfrm>
            <a:off x="4575962" y="194767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根 拠</a:t>
            </a:r>
            <a:endParaRPr lang="en-US" sz="850" dirty="0"/>
          </a:p>
        </p:txBody>
      </p:sp>
      <p:sp>
        <p:nvSpPr>
          <p:cNvPr id="27" name="Text 24"/>
          <p:cNvSpPr txBox="1"/>
          <p:nvPr/>
        </p:nvSpPr>
        <p:spPr>
          <a:xfrm>
            <a:off x="4575962" y="2148840"/>
            <a:ext cx="303977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449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パワーランクアップは費用1,400（19.7%）で広告売上の89.8%・ROAS 2,461%。一方キーワードプラスは費用5,700（80.3%）でROAS 69%。広告全体ではROAS 540%・広告売上¥38,366。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4575962" y="32644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打ち手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4594250" y="3552444"/>
            <a:ext cx="68580" cy="68580"/>
          </a:xfrm>
          <a:prstGeom prst="ellipse">
            <a:avLst/>
          </a:prstGeom>
          <a:solidFill>
            <a:srgbClr val="191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758842" y="3465576"/>
            <a:ext cx="285689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449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キーワードプラスの費用を縮小し、パワーランクアップへ振替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594250" y="4155948"/>
            <a:ext cx="68580" cy="68580"/>
          </a:xfrm>
          <a:prstGeom prst="ellipse">
            <a:avLst/>
          </a:prstGeom>
          <a:solidFill>
            <a:srgbClr val="191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758842" y="4069080"/>
            <a:ext cx="285689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449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ウォータートリートメントのキーワードプラス（費用3,900・ROAS 100%）を優先的に見直す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4594250" y="4759452"/>
            <a:ext cx="68580" cy="68580"/>
          </a:xfrm>
          <a:prstGeom prst="ellipse">
            <a:avLst/>
          </a:prstGeom>
          <a:solidFill>
            <a:srgbClr val="191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758842" y="4672584"/>
            <a:ext cx="285689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449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出稿はTOP2商品（セット・ウォータートリートメント）へ集中させる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4575962" y="5404104"/>
            <a:ext cx="3039770" cy="475488"/>
          </a:xfrm>
          <a:prstGeom prst="roundRect">
            <a:avLst>
              <a:gd name="adj" fmla="val 9615"/>
            </a:avLst>
          </a:prstGeom>
          <a:solidFill>
            <a:srgbClr val="2E75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612538" y="5404104"/>
            <a:ext cx="296661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目標： 広告ROAS ≧ 900%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8127797" y="1143000"/>
            <a:ext cx="3515258" cy="4892040"/>
          </a:xfrm>
          <a:prstGeom prst="roundRect">
            <a:avLst>
              <a:gd name="adj" fmla="val 1821"/>
            </a:avLst>
          </a:prstGeom>
          <a:solidFill>
            <a:srgbClr val="FFFFFF"/>
          </a:solidFill>
          <a:ln w="9525">
            <a:solidFill>
              <a:srgbClr val="D4D6DE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18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8365541" y="1289304"/>
            <a:ext cx="329184" cy="329184"/>
          </a:xfrm>
          <a:prstGeom prst="ellipse">
            <a:avLst/>
          </a:prstGeom>
          <a:solidFill>
            <a:srgbClr val="191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8365541" y="12893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100" dirty="0"/>
          </a:p>
        </p:txBody>
      </p:sp>
      <p:sp>
        <p:nvSpPr>
          <p:cNvPr id="40" name="Text 37"/>
          <p:cNvSpPr txBox="1"/>
          <p:nvPr/>
        </p:nvSpPr>
        <p:spPr>
          <a:xfrm>
            <a:off x="8786165" y="1252728"/>
            <a:ext cx="261914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91F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メガ割向けクリエイティブと回遊動線の整備</a:t>
            </a:r>
            <a:endParaRPr lang="en-US" sz="1150" dirty="0"/>
          </a:p>
        </p:txBody>
      </p:sp>
      <p:sp>
        <p:nvSpPr>
          <p:cNvPr id="41" name="Text 38"/>
          <p:cNvSpPr txBox="1"/>
          <p:nvPr/>
        </p:nvSpPr>
        <p:spPr>
          <a:xfrm>
            <a:off x="8365541" y="194767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根 拠</a:t>
            </a:r>
            <a:endParaRPr lang="en-US" sz="850" dirty="0"/>
          </a:p>
        </p:txBody>
      </p:sp>
      <p:sp>
        <p:nvSpPr>
          <p:cNvPr id="42" name="Text 39"/>
          <p:cNvSpPr txBox="1"/>
          <p:nvPr/>
        </p:nvSpPr>
        <p:spPr>
          <a:xfrm>
            <a:off x="8365541" y="2148840"/>
            <a:ext cx="303977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449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商品詳細ページは91→43PV（-52.7%）、カートは189→78PV（-58.7%）と回遊系が半減。商品企画でも単品ページからセットページへの回遊動線設置が前提となっている。</a:t>
            </a:r>
            <a:endParaRPr lang="en-US" sz="900" dirty="0"/>
          </a:p>
        </p:txBody>
      </p:sp>
      <p:sp>
        <p:nvSpPr>
          <p:cNvPr id="43" name="Text 40"/>
          <p:cNvSpPr txBox="1"/>
          <p:nvPr/>
        </p:nvSpPr>
        <p:spPr>
          <a:xfrm>
            <a:off x="8365541" y="32644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67C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打ち手</a:t>
            </a:r>
            <a:endParaRPr lang="en-US" sz="850" dirty="0"/>
          </a:p>
        </p:txBody>
      </p:sp>
      <p:sp>
        <p:nvSpPr>
          <p:cNvPr id="44" name="Shape 41"/>
          <p:cNvSpPr/>
          <p:nvPr/>
        </p:nvSpPr>
        <p:spPr>
          <a:xfrm>
            <a:off x="8383829" y="3552444"/>
            <a:ext cx="68580" cy="68580"/>
          </a:xfrm>
          <a:prstGeom prst="ellipse">
            <a:avLst/>
          </a:prstGeom>
          <a:solidFill>
            <a:srgbClr val="191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548421" y="3465576"/>
            <a:ext cx="285689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449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セール用の割引率・セール価格を入れたメガ割用サムネイル／バナーを全SKU分制作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8383829" y="4155948"/>
            <a:ext cx="68580" cy="68580"/>
          </a:xfrm>
          <a:prstGeom prst="ellipse">
            <a:avLst/>
          </a:prstGeom>
          <a:solidFill>
            <a:srgbClr val="191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8548421" y="4069080"/>
            <a:ext cx="285689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449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単品ページからセット商品ページへの回遊バナーを設置し、相互送客を行う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8383829" y="4759452"/>
            <a:ext cx="68580" cy="68580"/>
          </a:xfrm>
          <a:prstGeom prst="ellipse">
            <a:avLst/>
          </a:prstGeom>
          <a:solidFill>
            <a:srgbClr val="191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548421" y="4672584"/>
            <a:ext cx="285689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449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ショップページにメガ割特集枠を常設し、期間中のトップバナーを差し替え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8365541" y="5404104"/>
            <a:ext cx="3039770" cy="475488"/>
          </a:xfrm>
          <a:prstGeom prst="roundRect">
            <a:avLst>
              <a:gd name="adj" fmla="val 9615"/>
            </a:avLst>
          </a:prstGeom>
          <a:solidFill>
            <a:srgbClr val="2E75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8402117" y="5404104"/>
            <a:ext cx="296661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目標： 商品詳細ページ ≧ 90PV ／ CVR ≧ 11.2%</a:t>
            </a:r>
            <a:endParaRPr lang="en-US" sz="950" dirty="0"/>
          </a:p>
        </p:txBody>
      </p:sp>
      <p:sp>
        <p:nvSpPr>
          <p:cNvPr id="52" name="Text 49"/>
          <p:cNvSpPr txBox="1"/>
          <p:nvPr/>
        </p:nvSpPr>
        <p:spPr>
          <a:xfrm>
            <a:off x="301752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0A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Copyright © Wacworks Inc. All Rights Reserved.</a:t>
            </a:r>
            <a:endParaRPr lang="en-US" sz="800" dirty="0"/>
          </a:p>
        </p:txBody>
      </p:sp>
      <p:sp>
        <p:nvSpPr>
          <p:cNvPr id="53" name="Text 50"/>
          <p:cNvSpPr txBox="1"/>
          <p:nvPr/>
        </p:nvSpPr>
        <p:spPr>
          <a:xfrm>
            <a:off x="10426903" y="6492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0A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13 / 13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HTL_Qoo10_2026年8月メガポ_レポート</dc:title>
  <dc:subject>PptxGenJS Presentation</dc:subject>
  <dc:creator>株式会社Wacworks</dc:creator>
  <cp:lastModifiedBy>株式会社Wacworks</cp:lastModifiedBy>
  <cp:revision>1</cp:revision>
  <dcterms:created xsi:type="dcterms:W3CDTF">2026-08-30T15:17:51Z</dcterms:created>
  <dcterms:modified xsi:type="dcterms:W3CDTF">2026-08-30T15:17:51Z</dcterms:modified>
</cp:coreProperties>
</file>