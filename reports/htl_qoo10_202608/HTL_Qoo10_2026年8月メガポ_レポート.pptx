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7月メガポ 売上</c:v>
                </c:pt>
              </c:strCache>
            </c:strRef>
          </c:tx>
          <c:spPr>
            <a:solidFill>
              <a:srgbClr val="A9B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eiry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1日目</c:v>
                  </c:pt>
                  <c:pt idx="1">
                    <c:v>2日目</c:v>
                  </c:pt>
                  <c:pt idx="2">
                    <c:v>3日目</c:v>
                  </c:pt>
                  <c:pt idx="3">
                    <c:v>4日目</c:v>
                  </c:pt>
                  <c:pt idx="4">
                    <c:v>5日目</c:v>
                  </c:pt>
                  <c:pt idx="5">
                    <c:v>6日目</c:v>
                  </c:pt>
                  <c:pt idx="6">
                    <c:v>7日目</c:v>
                  </c:pt>
                  <c:pt idx="7">
                    <c:v>8日目</c:v>
                  </c:pt>
                  <c:pt idx="8">
                    <c:v>9日目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123544</c:v>
                </c:pt>
                <c:pt idx="1">
                  <c:v>75902</c:v>
                </c:pt>
                <c:pt idx="2">
                  <c:v>83928</c:v>
                </c:pt>
                <c:pt idx="3">
                  <c:v>85024</c:v>
                </c:pt>
                <c:pt idx="4">
                  <c:v>98955</c:v>
                </c:pt>
                <c:pt idx="5">
                  <c:v>52177</c:v>
                </c:pt>
                <c:pt idx="6">
                  <c:v>68355</c:v>
                </c:pt>
                <c:pt idx="7">
                  <c:v>66508</c:v>
                </c:pt>
                <c:pt idx="8">
                  <c:v>104985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8月メガポ 売上</c:v>
                </c:pt>
              </c:strCache>
            </c:strRef>
          </c:tx>
          <c:spPr>
            <a:solidFill>
              <a:srgbClr val="191F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eiry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1日目</c:v>
                  </c:pt>
                  <c:pt idx="1">
                    <c:v>2日目</c:v>
                  </c:pt>
                  <c:pt idx="2">
                    <c:v>3日目</c:v>
                  </c:pt>
                  <c:pt idx="3">
                    <c:v>4日目</c:v>
                  </c:pt>
                  <c:pt idx="4">
                    <c:v>5日目</c:v>
                  </c:pt>
                  <c:pt idx="5">
                    <c:v>6日目</c:v>
                  </c:pt>
                  <c:pt idx="6">
                    <c:v>7日目</c:v>
                  </c:pt>
                  <c:pt idx="7">
                    <c:v>8日目</c:v>
                  </c:pt>
                  <c:pt idx="8">
                    <c:v>9日目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162835</c:v>
                </c:pt>
                <c:pt idx="1">
                  <c:v>102621</c:v>
                </c:pt>
                <c:pt idx="2">
                  <c:v>35093</c:v>
                </c:pt>
                <c:pt idx="3">
                  <c:v>39245</c:v>
                </c:pt>
                <c:pt idx="4">
                  <c:v>47181</c:v>
                </c:pt>
                <c:pt idx="5">
                  <c:v>104052</c:v>
                </c:pt>
                <c:pt idx="6">
                  <c:v>16266</c:v>
                </c:pt>
                <c:pt idx="7">
                  <c:v>51956</c:v>
                </c:pt>
                <c:pt idx="8">
                  <c:v>45570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Meiryo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96E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000"/>
        </c:scaling>
        <c:delete val="0"/>
        <c:axPos val="l"/>
        <c:majorGridlines>
          <c:spPr>
            <a:ln w="12700" cap="flat">
              <a:solidFill>
                <a:srgbClr val="E8ECF1"/>
              </a:solidFill>
              <a:prstDash val="solid"/>
              <a:round/>
            </a:ln>
          </c:spPr>
        </c:majorGridlines>
        <c:numFmt formatCode="¥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C8A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4449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HTL様（ヘアセオリーラボ）Qoo10 2026年8月メガポ（8/1〜8/9）の振り返り。比較対象は7月メガポ（7/1〜7/9）。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売上減の主因は新規集客の縮小。CVR・客単価・リピート基盤は良好で、回復の起点は新規流入の再獲得。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title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F4D">
              <a:alpha val="95000"/>
            </a:srgbClr>
          </a:solidFill>
          <a:ln w="12700">
            <a:solidFill>
              <a:srgbClr val="191F4D"/>
            </a:solidFill>
            <a:prstDash val="solid"/>
          </a:ln>
        </p:spPr>
      </p:sp>
      <p:pic>
        <p:nvPicPr>
          <p:cNvPr id="4" name="Image 1" descr="assets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2167128"/>
            <a:ext cx="3785616" cy="26151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099048" y="2167128"/>
            <a:ext cx="0" cy="2697480"/>
          </a:xfrm>
          <a:prstGeom prst="line">
            <a:avLst/>
          </a:prstGeom>
          <a:noFill/>
          <a:ln w="9525">
            <a:solidFill>
              <a:srgbClr val="9AA0B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748272" y="2395728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HTL様  Qoo10 メガポ 振り返りレポート</a:t>
            </a:r>
            <a:endParaRPr lang="en-US" sz="1950" dirty="0"/>
          </a:p>
        </p:txBody>
      </p:sp>
      <p:sp>
        <p:nvSpPr>
          <p:cNvPr id="7" name="Text 3"/>
          <p:cNvSpPr txBox="1"/>
          <p:nvPr/>
        </p:nvSpPr>
        <p:spPr>
          <a:xfrm>
            <a:off x="67482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2026年8月メガポ 運用振り返り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748272" y="3566160"/>
            <a:ext cx="4846320" cy="18288"/>
          </a:xfrm>
          <a:prstGeom prst="rect">
            <a:avLst/>
          </a:prstGeom>
          <a:solidFill>
            <a:srgbClr val="5B6182"/>
          </a:solidFill>
          <a:ln w="12700">
            <a:solidFill>
              <a:srgbClr val="5B618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748272" y="36758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対象期間: 2026年8月1日〜9日（メガポ期間 9日間）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6748272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比較: 2026年7月1日〜9日（メガポ期間）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748272" y="43708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作成：株式会社Wacworks   |   2026年8月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目次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14300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14300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261872" y="1143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1764792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76479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17647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KPI比較サマリー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2386584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238658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23865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売上推移（8月日別表）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008376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00837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0083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売上・件数比較（日別）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630168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630168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261872" y="3630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注文・顧客データ（8月）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48640" y="425196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25196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261872" y="4251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顧客・新規/リピート比較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4873752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87375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261872" y="48737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チャネル別流入分析（7月vs8月 TOP10）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48640" y="5495544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549554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261872" y="54955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CVR・ファネル比較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263640" y="114300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63640" y="114300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6976872" y="1143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商品別売上ランキング（8月）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63640" y="1764792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63640" y="176479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976872" y="17647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商品別売上比較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6263640" y="2386584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63640" y="238658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976872" y="23865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セラムイン ウォータートリートメント 詳細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6263640" y="3008376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63640" y="300837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976872" y="30083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シャンプー＆トリートメント セット 詳細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6263640" y="3630168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63640" y="3630168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976872" y="3630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検索キーワード分析（7月vs8月）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263640" y="425196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263640" y="425196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6976872" y="4251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次回メガ割に向けた改善アクション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6263640" y="4873752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263640" y="487375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6976872" y="48737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Next Step・総括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17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 ─ 2026年8月メガポ（8/1〜9）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比較：2026年7月メガポ（7/1〜9）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売上金額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¥604,819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9日間合計（7月比 -20.4%）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796784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961376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961376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121件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961376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平均13.4件/日（-21.4%）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044928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209520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訪問者数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209520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1,099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209520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平均122人/日（-19.8%）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293072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57664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平均客単価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457664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¥4,999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7457664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7月比 +1.4%（+¥68）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9541215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705807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購入顧客数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9705807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113名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9705807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リピート61.9%（+22.3pt）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48640" y="2487168"/>
            <a:ext cx="11094415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04672" y="2606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総評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04672" y="2971800"/>
            <a:ext cx="10582351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8月メガポ期間（8/1〜9）売上¥604,819。7月同期間（¥759,378）比で -20.4%、-¥154,559の減少となった。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減少の主因は集客。訪問者-19.8%・PV-22.6%と流入が縮小し、売上減とほぼ同率で推移している。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一方でCVR 11.01%（-0.22pt）と客単価¥4,999（+1.4%）は維持。「入ってきた顧客の買う力」は落ちていない。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最大の構造変化は顧客層。新規は90→43名（-52.2%）と半減した反面、リピーターは59→70名（+18.6%）に増加し、リピート比率が39.6%→61.9%へ逆転した。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サイト内回遊の急減が顕著。カート流入-58.7%、商品詳細ページ-52.7%、カテゴリページ-42.4%と、回遊系チャネルが軒並み半減。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ブランド指名KW「ヘアセオリーラボ」57→35件（-38.6%）。認知系の流入縮小が新規減に直結している。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KPI比較サマリー（メガポ同日比較）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  vs  7/1〜7/9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売上金額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¥759,378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¥604,819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-20.4%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6784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2933944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売上件数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933944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154件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933944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121件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2933944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-21.4%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44928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182088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訪問者数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182088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1,371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182088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1,099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5182088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-19.8%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293072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30232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CVR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430232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11.23%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430232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11.01%</a:t>
            </a:r>
            <a:endParaRPr lang="en-US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7430232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-0.22pt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541215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678375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客単価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9678375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¥4,931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678375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¥4,999</a:t>
            </a:r>
            <a:endParaRPr lang="en-US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9678375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+1.4%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95728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  <a:gridCol w="2331720"/>
                <a:gridCol w="1828800"/>
                <a:gridCol w="1856232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7月メガポ（7/1-9）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8月メガポ（8/1-9）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¥759,378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¥604,819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-¥154,559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-20.4%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売上件数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-33件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-21.4%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1,371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1,099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-272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-19.8%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1,815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-411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-22.6%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平均客単価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¥4,931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¥4,999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+¥68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11.23%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11.01%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-0.22pt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ほぼ維持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新規比率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-22.3pt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新規減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2,049名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2,070名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+21名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過去最高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548640" y="55961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売上-20.4%に対し訪問者-19.8%・PV-22.6%とほぼ同率で減少。CVR（-0.22pt）と客単価（+1.4%）は維持されており、「転換力」ではなく「流入量」が課題であることが明確。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5" name="Text 31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17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売上推移 ─ 2026年8月メガポ 日別（表）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8/1〜8/9（9日間）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17320"/>
                <a:gridCol w="868680"/>
                <a:gridCol w="960120"/>
                <a:gridCol w="960120"/>
                <a:gridCol w="1097280"/>
                <a:gridCol w="960120"/>
                <a:gridCol w="1097280"/>
                <a:gridCol w="2542032"/>
              </a:tblGrid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客単価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顧客数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新規/リピ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備考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¥162,835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15.46%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¥5,089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10/20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初日ピーク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¥102,621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12.96%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¥4,887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7/11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週末好調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8/3 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¥35,093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6.42%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急減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8/4 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¥39,245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5.83%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¥5,606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6/1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8/5 水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¥47,181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7.58%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¥4,718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3/6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8/6 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¥104,052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21.43%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¥4,955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7/13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CVR最高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8/7 金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¥16,266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4.55%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¥5,422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1/2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期間最低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8/8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¥51,956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10.64%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¥5,196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4/6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8/9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¥45,570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9.01%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¥4,557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3/6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¥604,819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1,099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11.01%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¥4,999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113名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43/70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553712"/>
            <a:ext cx="11094415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4672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ハイライト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04672" y="4992624"/>
            <a:ext cx="1058235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初日8/1（土）¥162,835・32件が期間最高で、単日で期間売上の26.9%。8/6（木）はCVR21.43%と期間最高効率（訪問98人で21件）。</a:t>
            </a:r>
            <a:endParaRPr lang="en-US" sz="10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前半3日（¥300,549）に対し中盤8/3〜5は¥121,519、8/7（金）は¥16,266・3件と急落。初日集中型で、2日目以降の失速が売上減の直接要因。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売上・件数比較（メガポ同日）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メガポ開始からの経過日数で比較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097280"/>
          <a:ext cx="7818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8641080" y="1097280"/>
            <a:ext cx="3001975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805672" y="1207008"/>
            <a:ext cx="2672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 合計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8805672" y="1463040"/>
            <a:ext cx="267279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¥604,819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8805672" y="1947672"/>
            <a:ext cx="26727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121件 / 訪問1,099 / CVR 11.01%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8641080" y="2377440"/>
            <a:ext cx="3001975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8805672" y="2487168"/>
            <a:ext cx="2672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7月メガポ 合計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8805672" y="2743200"/>
            <a:ext cx="267279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¥759,378</a:t>
            </a:r>
            <a:endParaRPr lang="en-US" sz="2100" dirty="0"/>
          </a:p>
        </p:txBody>
      </p:sp>
      <p:sp>
        <p:nvSpPr>
          <p:cNvPr id="15" name="Text 11"/>
          <p:cNvSpPr txBox="1"/>
          <p:nvPr/>
        </p:nvSpPr>
        <p:spPr>
          <a:xfrm>
            <a:off x="8805672" y="3227832"/>
            <a:ext cx="26727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154件 / 訪問1,371 / CVR 11.23%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8641080" y="3657600"/>
            <a:ext cx="3001975" cy="1417320"/>
          </a:xfrm>
          <a:prstGeom prst="roundRect">
            <a:avLst>
              <a:gd name="adj" fmla="val 4516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8805672" y="3767328"/>
            <a:ext cx="2672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前月差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805672" y="4023360"/>
            <a:ext cx="267279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-¥154,559</a:t>
            </a:r>
            <a:endParaRPr lang="en-US" sz="2100" dirty="0"/>
          </a:p>
        </p:txBody>
      </p:sp>
      <p:sp>
        <p:nvSpPr>
          <p:cNvPr id="19" name="Text 15"/>
          <p:cNvSpPr txBox="1"/>
          <p:nvPr/>
        </p:nvSpPr>
        <p:spPr>
          <a:xfrm>
            <a:off x="8805672" y="4507992"/>
            <a:ext cx="2672791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-33件 / -272人 / -0.22pt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売上伸長率 -20.4%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48640" y="5257800"/>
            <a:ext cx="11094415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04672" y="5376672"/>
            <a:ext cx="105823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7月は9日間を通じて¥52,177〜¥123,544と平準化していたのに対し、8月は初日¥162,835に突出し以降失速。特に3〜5日目と7日目の落ち込みが大きく、期間を通じた露出の継続性が7月より弱かった。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注文・顧客データ ─ 2026年8月メガポ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購入顧客（合計）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113名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9日間（7月149名比 -24.2%）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新規顧客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43名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38.1%（7月60.4%比 -22.3pt）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リピーター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70名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61.9%（7月39.6%比 +22.3pt）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フォロワー数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2,070名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期末時点（+12名/9日）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9152"/>
          <a:ext cx="6537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1143000"/>
                <a:gridCol w="960120"/>
                <a:gridCol w="1188720"/>
                <a:gridCol w="1051560"/>
              </a:tblGrid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リピート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8/1(土)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8/2(日)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2,063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8/3(月)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2,064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8/4(火)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8/5(水)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2,067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8/6(木)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2,068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8/7(金)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2,068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8/8(土)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2,070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8/9(日)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2,070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7360920" y="2359152"/>
            <a:ext cx="428213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543800" y="2441448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リピート主導へ構造転換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7543800" y="2688336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リピーター70名は7月59名から+18.6%。新規半減のなかで購入顧客の6割超を占め、売上を下支えした。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7360920" y="3291840"/>
            <a:ext cx="428213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7543800" y="3374136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新規43名（-52.2%）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7543800" y="3621024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7月90名から半減。ブランド指名KW-38.6%・検索流入-25.3%と連動しており、認知獲得の縮小が直接の要因。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7360920" y="4224528"/>
            <a:ext cx="428213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7543800" y="4306824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8/1（土）が突出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7543800" y="4553712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30名獲得（新規10/リピート20）。メガポ初日にリピーターが集中し、単日で期間顧客の26.5%を占めた。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7360920" y="5157216"/>
            <a:ext cx="428213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7543800" y="5239512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フォロワー2,070名で過去最高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7543800" y="5486400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+12名/9日は7月（+8名）を上回るペース。母数2,000超のファン基盤は着実に積み上がっている。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7" name="Text 33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顧客・新規/リピート比較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286000"/>
                <a:gridCol w="2286000"/>
                <a:gridCol w="1828800"/>
                <a:gridCol w="176479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7月（7/1-9）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8月（8/1-9）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前期比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購入顧客（合計）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113名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-36名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新規顧客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90名(60.4%)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43名(38.1%)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-47名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-52.2%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59名(39.6%)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70名(61.9%)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+11名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+18.6%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フォロワー（期末）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2,049名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2,070名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+21名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フォロワー増（期中）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+50.0%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1人あたり売上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¥5,097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¥5,352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+¥255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-15.0%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776472"/>
            <a:ext cx="11094415" cy="2487168"/>
          </a:xfrm>
          <a:prstGeom prst="roundRect">
            <a:avLst>
              <a:gd name="adj" fmla="val 2574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4672" y="3877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考察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804672" y="4206240"/>
            <a:ext cx="10582351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顧客数-24.2%の内訳は、新規-47名・リピーター+11名。減少はすべて新規側で起きており、既存顧客はむしろ増えている。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リピート比率39.6%→61.9%（+22.3pt）と主従が逆転。フォロワー2,070名・お気に入り流入446PVという資産が実際の購買に結びついている証左。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1人あたり売上は¥5,097→¥5,352（+5.0%）。単価の高いリピーター比率が上がったことで、顧客単価は改善した。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ただしリピート依存は中長期のリスク。新規流入が細ったままではリピート母数自体が先細りするため、新規獲得の回復が最優先課題。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次回メガ割は「リピート基盤（2,070名）を維持しながら、新規を7月水準の90名へ戻す」ことが目標。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チャネル別流入分析（PV）─ 7月vs8月 TOP10比較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合計PV 1,815 → 1,404（-22.6%）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70866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68680"/>
                <a:gridCol w="868680"/>
                <a:gridCol w="777240"/>
                <a:gridCol w="1097280"/>
                <a:gridCol w="1143000"/>
              </a:tblGrid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チャネル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8月構成比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-66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31.8%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-12.9%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-7.7%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横ばい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検索結果_全体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-39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-25.3%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-28.8%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検索結果_一般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-22.2%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Keyword Plus（広告）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-23.3%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外部サイト_全体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6.8%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横ばい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外部_Google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5.8%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+8.0%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-47.9%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-111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-58.7%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Myページ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-6.4%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商品詳細ページ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-48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-52.7%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ホーム_全体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2.8%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-20.4%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商品カタログ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-26.0%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最近見た商品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+12.5%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カテゴリページ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-42.4%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合計（ページビュー合計）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1,815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1,404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-411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-22.6%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909560" y="1051560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92440" y="1161288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お気に入りが最大流入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453896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446PV・構成比31.8%。-12.9%と全体（-22.6%）より減少幅が小さく、ファン基盤の底堅さを示す。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909560" y="2093976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092440" y="2203704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カート流入 -58.7%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2496312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189→78PV。カゴ落ち復帰の動線が大きく縮小し、回遊系の落ち込みで最大。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909560" y="3136392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92440" y="324612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商品詳細ページ -52.7%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3538728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91→43PV。商品間の相互回遊が半減。レコメンド・関連商品導線の再設計が必要。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7909560" y="4178808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092440" y="4288536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外部Google +8.0%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8092440" y="4581144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75→81PV。全体が減るなかで唯一伸びたチャネル。外部SEOは新規回復の足がかり。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48640" y="5504688"/>
            <a:ext cx="11094415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04672" y="5596128"/>
            <a:ext cx="1058235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お気に入り（31.8%）＋ダイレクト（14.5%）＋ショップ（9.6%）で全体の56%。指名・再訪型に大きく偏っており、リピート構造とチャネル構造が一致している。</a:t>
            </a:r>
            <a:endParaRPr lang="en-US" sz="9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検索は115PV・構成比8.2%まで縮小。広告（Keyword Plus -23.3%／パワーランクアップ -28.8%）と自然検索が揃って減っており、次回は検索面の回復が最優先。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17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CVR・ファネル比較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60350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143000"/>
                <a:gridCol w="1143000"/>
                <a:gridCol w="105156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7月メガポ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8月メガポ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総PV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1,815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-411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-22.6%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1,371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1,099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-272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-19.8%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商品カート数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-19.0%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注文数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-33件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-21.4%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売上CVR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11.23%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11.01%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-0.22pt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ほぼ維持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903720" y="1051560"/>
            <a:ext cx="4739335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104888" y="1133856"/>
            <a:ext cx="43369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ファネル推移（7月 → 8月）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104888" y="1463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872984" y="1504188"/>
            <a:ext cx="2041855" cy="132588"/>
          </a:xfrm>
          <a:prstGeom prst="roundRect">
            <a:avLst>
              <a:gd name="adj" fmla="val 20690"/>
            </a:avLst>
          </a:prstGeom>
          <a:solidFill>
            <a:srgbClr val="A9B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872984" y="1659636"/>
            <a:ext cx="1579485" cy="132588"/>
          </a:xfrm>
          <a:prstGeom prst="roundRect">
            <a:avLst>
              <a:gd name="adj" fmla="val 20690"/>
            </a:avLst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042855" y="14630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1,815 → 1,404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7104888" y="1892808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7872984" y="1933956"/>
            <a:ext cx="1542360" cy="132588"/>
          </a:xfrm>
          <a:prstGeom prst="roundRect">
            <a:avLst>
              <a:gd name="adj" fmla="val 20690"/>
            </a:avLst>
          </a:prstGeom>
          <a:solidFill>
            <a:srgbClr val="A9B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872984" y="2089404"/>
            <a:ext cx="1236363" cy="132588"/>
          </a:xfrm>
          <a:prstGeom prst="roundRect">
            <a:avLst>
              <a:gd name="adj" fmla="val 20690"/>
            </a:avLst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42855" y="189280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1,371 → 1,099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7104888" y="2322576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872984" y="2363724"/>
            <a:ext cx="307122" cy="132588"/>
          </a:xfrm>
          <a:prstGeom prst="roundRect">
            <a:avLst>
              <a:gd name="adj" fmla="val 20690"/>
            </a:avLst>
          </a:prstGeom>
          <a:solidFill>
            <a:srgbClr val="A9B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872984" y="2519172"/>
            <a:ext cx="248623" cy="132588"/>
          </a:xfrm>
          <a:prstGeom prst="roundRect">
            <a:avLst>
              <a:gd name="adj" fmla="val 20690"/>
            </a:avLst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042855" y="23225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273 → 221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7104888" y="2752344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7872984" y="2793492"/>
            <a:ext cx="173248" cy="132588"/>
          </a:xfrm>
          <a:prstGeom prst="roundRect">
            <a:avLst>
              <a:gd name="adj" fmla="val 20690"/>
            </a:avLst>
          </a:prstGeom>
          <a:solidFill>
            <a:srgbClr val="A9B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872984" y="2948940"/>
            <a:ext cx="136124" cy="132588"/>
          </a:xfrm>
          <a:prstGeom prst="roundRect">
            <a:avLst>
              <a:gd name="adj" fmla="val 20690"/>
            </a:avLst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042855" y="27523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154 → 121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548640" y="3401568"/>
            <a:ext cx="11094415" cy="2862072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804672" y="35112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分析</a:t>
            </a:r>
            <a:endParaRPr lang="en-US" sz="1250" dirty="0"/>
          </a:p>
        </p:txBody>
      </p:sp>
      <p:sp>
        <p:nvSpPr>
          <p:cNvPr id="28" name="Text 24"/>
          <p:cNvSpPr txBox="1"/>
          <p:nvPr/>
        </p:nvSpPr>
        <p:spPr>
          <a:xfrm>
            <a:off x="804672" y="3840480"/>
            <a:ext cx="10582351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PV-22.6%・訪問者-19.8%・カート-19.0%・注文-21.4%と、ファネル全層がほぼ同率で縮小。特定段階のボトルネックではなく、入口の流入量そのものが減っている。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カート転換率（カート数/訪問者）は19.9%→20.1%と微増、CVRも-0.22ptにとどまる。サイト・商品ページの説得力は7月と同水準を保っている。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カート→注文は56.4%→54.8%（-1.6pt）。残カート100件が回収余地として残り、ここは即効性のある打ち手が効く。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次回メガ割は「訪問者1,400・CVR11.0%・注文150件」を目標に、①検索・広告での新規流入回復 ②残カート回収 の2点に絞って投下する。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商品別売上ランキング ─ 2026年8月メガポ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全7SKU / 売上¥604,819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1位 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¥278,124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セラムイン ウォータートリートメント（46.0%）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2位 売上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¥181,776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シャンプー＆トリートメント セット（30.1%）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TOP2合計シェア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76.0%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2商品への依存度が高い構造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販売商品数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7SKU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TOP3で売上の85.7%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9152"/>
          <a:ext cx="1109441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828032"/>
                <a:gridCol w="1600200"/>
                <a:gridCol w="1051560"/>
                <a:gridCol w="1325880"/>
                <a:gridCol w="15087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順位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客単価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構成比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セラムイン ウォータートリートメント 200ml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¥278,124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¥4,031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46.0%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セラムイン シャンプー＆トリートメント セット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¥181,776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¥7,574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ヘアミルクセラム アウトバストリートメント 95ml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¥58,668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¥4,889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フューチャー バイタル エッセンス 50ml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¥35,200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¥7,040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セラムイン シャンプー 300ml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¥21,505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¥4,301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セラムイン オイル アウトバストリートメント 95ml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¥20,196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¥5,049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セラムイン トリートメント 300ml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¥9,350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¥4,675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 全7商品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¥604,819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¥4,999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548640" y="56692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TOP2で売上の76.0%を占める集中構造。主力のウォータートリートメント（-25.1%）とセット品（-14.3%）が揃って落ちたことが、全体-20.4%の大半を説明する。一方でシャンプー単品は+400%と伸長。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17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商品別売上比較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913632"/>
                <a:gridCol w="1325880"/>
                <a:gridCol w="960120"/>
                <a:gridCol w="1325880"/>
                <a:gridCol w="960120"/>
                <a:gridCol w="1371600"/>
                <a:gridCol w="12344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セラムイン ウォータートリートメント 200ml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¥371,118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¥278,124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-¥92,994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-25.1%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セラムイン シャンプー＆トリートメント セット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¥212,072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¥181,776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-¥30,296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ヘアミルクセラム アウトバストリートメント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¥55,408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¥58,668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+¥3,260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フューチャー バイタル エッセンス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¥42,240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¥35,200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-¥7,040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-16.7%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セラムイン シャンプー 300ml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¥4,301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¥21,505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+¥17,204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+400%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セラムイン オイル アウトバストリートメント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¥55,539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¥20,196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-¥35,343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-63.6%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セラムイン トリートメント 300ml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¥18,700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¥9,350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-¥9,350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-50.0%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977640"/>
            <a:ext cx="5410048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68096" y="407822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伸長した商品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68096" y="4407408"/>
            <a:ext cx="497113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セラムイン シャンプー 300ml：¥4.3k→¥21.5k（+400%）。PV34でCVR14.71%と全SKU中最高。単品需要の掘り起こしに成功。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ヘアミルクセラム：¥55.4k→¥58.7k（+5.9%）。全体が2割減のなかで唯一の増収を確保し、アウトバス需要の受け皿に。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いずれも低PV・高CVR。露出を増やせば伸びしろが大きい2商品。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233008" y="3977640"/>
            <a:ext cx="5410048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452464" y="407822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減少した商品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452464" y="4407408"/>
            <a:ext cx="497113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ウォータートリートメント：-25.1%（-¥93k）。PVが1,038→733（-29.4%）と流入減が直撃。CVRは8.96%→9.41%と改善。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セラムイン オイル：-63.6%が最大の下落率。PV135→67と半減し、アウトバス需要がヘアミルクへ移動した可能性。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対策：主力2品は流入回復が最優先。オイルはヘアミルクとの使い分け（質感・仕上がり別）訴求で再定義する。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17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セラムイン ウォータートリートメント ─ 詳細分析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商品番号 1175373902 / 200ml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¥278,124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全体の46.0% / No.1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7月93件比 -25.8%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1個単価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¥4,031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主力ボリューム価格帯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 / CVR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733 / 9.41%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8.96% から改善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チャネル別PV（8月）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ランクUP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KW Plus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Myページ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ホーム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48640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68096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商品特性・分析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768096" y="3840480"/>
            <a:ext cx="4971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【商品概要】洗い流さないウォータータイプのトリートメント。うねり・くせ・広がりのケアを訴求する、売上構成比46%の最主力商品。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68096" y="4498848"/>
            <a:ext cx="497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PVが1,038→733（-29.4%）と大きく減少し、売上-25.1%の直接要因に。件数も93→69件へ。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一方でCVRは8.96%→9.41%へ改善。流入は減ったが、来訪者あたりの購買力はむしろ上がっている。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お気に入り286PV（全PVの39.0%）が最大流入。リピーター増加と整合し、ファン層に支えられた商品。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検索は64PVのみ（全体の8.7%）。うち広告55PV・自然検索9PVで、新規流入の入口として機能していない。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6233008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452464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452464" y="3904488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52464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781648" y="3858768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検索面の回復（最優先）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「ウォータートリートメント」KWが6→14件と伸長中。商品タイトル先頭に配置し、Keyword Plusの入札も同KWへ集中。</a:t>
            </a:r>
            <a:endParaRPr lang="en-US" sz="980" dirty="0"/>
          </a:p>
        </p:txBody>
      </p:sp>
      <p:sp>
        <p:nvSpPr>
          <p:cNvPr id="34" name="Shape 30"/>
          <p:cNvSpPr/>
          <p:nvPr/>
        </p:nvSpPr>
        <p:spPr>
          <a:xfrm>
            <a:off x="6452464" y="4489704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52464" y="4489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781648" y="4443984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悩み系KWの獲得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「くせ毛 シャンプー」が新規発生。「うねり」「広がり」「梅雨 髪」など悩みKWを属性タグ・タイトルへ追加。</a:t>
            </a:r>
            <a:endParaRPr lang="en-US" sz="980" dirty="0"/>
          </a:p>
        </p:txBody>
      </p:sp>
      <p:sp>
        <p:nvSpPr>
          <p:cNvPr id="37" name="Shape 33"/>
          <p:cNvSpPr/>
          <p:nvPr/>
        </p:nvSpPr>
        <p:spPr>
          <a:xfrm>
            <a:off x="6452464" y="5074920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452464" y="5074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6781648" y="5029200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お気に入り層への先出し告知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286PVの基盤へメガ割開始前にクーポンを配布し、初日集中をさらに強化。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6452464" y="5660136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52464" y="5660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6781648" y="5614416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まとめ買い導線の設置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¥4,031の消耗品でリピート率が高い。2本・3本セットを新設し、客単価と再購入間隔を同時に改善。</a:t>
            </a:r>
            <a:endParaRPr lang="en-US" sz="980" dirty="0"/>
          </a:p>
        </p:txBody>
      </p:sp>
      <p:sp>
        <p:nvSpPr>
          <p:cNvPr id="43" name="Text 3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17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シャンプー＆トリートメント セット ─ 詳細分析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商品番号 1155729990 / 各300ml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¥181,776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全体の30.1% / No.2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7月28件比 -14.3%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1個単価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¥7,574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全SKU中 最高単価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 / CVR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 / 9.41%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9.36% から微増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チャネル別PV（8月）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Google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商品カタログ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商品詳細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48640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68096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商品特性・分析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768096" y="3840480"/>
            <a:ext cx="4971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【商品概要】シャンプーとトリートメントのライン使いセット。単価¥7,574は全SKU中最高で、件数の少なさを単価で補う収益貢献型の商品。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68096" y="4498848"/>
            <a:ext cx="497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売上-14.3%と、主力（-25.1%）や全体（-20.4%）より減少幅が小さく、相対的に堅調。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CVR 9.41%（7月9.36%）を維持。高単価にもかかわらず転換率は主力商品と同水準で、セット訴求が機能している。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外部サイト25PVのうちGoogle24PVが占め、外部検索が新規接点として効いている数少ない商品。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単品のセラムイン シャンプー（+400%）・トリートメント（-50%）と合わせ、ライン商品全体では単品需要が伸びセット需要が縮む傾向。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6233008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452464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452464" y="3904488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52464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781648" y="3858768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セット vs 単品の整理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単品シャンプーが+400%と伸長。セットの価格メリット（実質割引率）をページ上部に明示し、単品からの引き上げを図る。</a:t>
            </a:r>
            <a:endParaRPr lang="en-US" sz="980" dirty="0"/>
          </a:p>
        </p:txBody>
      </p:sp>
      <p:sp>
        <p:nvSpPr>
          <p:cNvPr id="34" name="Shape 30"/>
          <p:cNvSpPr/>
          <p:nvPr/>
        </p:nvSpPr>
        <p:spPr>
          <a:xfrm>
            <a:off x="6452464" y="4489704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52464" y="4489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781648" y="4443984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Google流入の受け皿強化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外部検索が効いている唯一の商品。「シャンプー トリートメント セット」等のSEO記事から本商品へ送客する導線を追加。</a:t>
            </a:r>
            <a:endParaRPr lang="en-US" sz="980" dirty="0"/>
          </a:p>
        </p:txBody>
      </p:sp>
      <p:sp>
        <p:nvSpPr>
          <p:cNvPr id="37" name="Shape 33"/>
          <p:cNvSpPr/>
          <p:nvPr/>
        </p:nvSpPr>
        <p:spPr>
          <a:xfrm>
            <a:off x="6452464" y="5074920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452464" y="5074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6781648" y="5029200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ライン使いの効果訴求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使用前後の質感比較・使用イメージを商品ページ上部に配置し、高単価の納得感を補強。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6452464" y="5660136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52464" y="5660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6781648" y="5614416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定期購入・リピート設計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¥7,574の消耗品セット。使い切りサイクル（約1.5〜2か月）に合わせたリマインド配信で再購入を促進。</a:t>
            </a:r>
            <a:endParaRPr lang="en-US" sz="980" dirty="0"/>
          </a:p>
        </p:txBody>
      </p:sp>
      <p:sp>
        <p:nvSpPr>
          <p:cNvPr id="43" name="Text 3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17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検索キーワード分析 ─ 7月vs8月比較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検索流入 154PV → 115PV（-25.3%）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7086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38912"/>
                <a:gridCol w="438912"/>
                <a:gridCol w="502920"/>
                <a:gridCol w="1188720"/>
                <a:gridCol w="950976"/>
              </a:tblGrid>
              <a:tr h="2450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検索ワード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ヘアセオリーラボ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ブランド指名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-38.6%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ウォータートリートメント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+133%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hairtheorylab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ブランド（英字）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+700%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トステア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関連ブランド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+75%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hair theory lab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ブランド（英字）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-41.7%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セラムインシャンプー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-22.2%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ヘアセオリーラボ セラムイン ウォータートリートメント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商品名（完全）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-16.7%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トリートメント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一般カテゴリ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-64.3%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くせ毛 シャンプー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悩み×カテゴリ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ヘアミルク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+100%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シャンプー 艶 コシ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効能訴求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ハリコシ髪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効能訴求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セラムシャンプー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ウォーターインセラムトリートメント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フューチャー バイタル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ケラチントリートメント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±0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成分×カテゴリ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横ばい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909560" y="1051560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92440" y="1152144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ブランド指名 -38.6%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444752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「ヘアセオリーラボ」57→35件。認知系流入の縮小が新規-52%に直結している。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909560" y="2084832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092440" y="2185416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カテゴリKWが伸長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2478024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「ウォータートリートメント」6→14件（+133%）。商品カテゴリでの探され方が定着してきた。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909560" y="3118104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92440" y="3218688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英字表記が急増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3511296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「hairtheorylab」1→8件。表記ゆれでの流入。英字・スペースなし表記もタグへ登録すべき。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7909560" y="4151376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092440" y="425196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悩み・効能KWが新規発生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8092440" y="4544568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「くせ毛 シャンプー」「シャンプー 艶 コシ」「ハリコシ髪」が新規出現。購買意欲の高い層。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48640" y="5230368"/>
            <a:ext cx="11094415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04672" y="5303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KW施策まとめ（次回メガ割に向けて）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04672" y="5577840"/>
            <a:ext cx="1058235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ブランド指名の減少をカテゴリKWで補う局面。伸びている「ウォータートリートメント」「ヘアミルク」を商品タイトル先頭・属性タグへ配置し、指名以外の入口を広げる。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表記ゆれ（hairtheorylab／hair theory lab／hair-theory-lab）と悩みKW（くせ毛・うねり・ハリコシ・艶）をタグに追加。Keyword Plusは減った予算を主力2商品のカテゴリKWへ集中させる。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17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次回メガ割に向けた改善アクション ─ 4軸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8月メガポ実績にもとづく優先施策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188720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68096" y="1280160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流入チャネル改善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8096" y="1677924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" y="167792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069848" y="163677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Keyword Plus：削減された広告流入（-23.3%）を主力2商品へ再配分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68096" y="205282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8096" y="205282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69848" y="201168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パワーランクアップ -28.8% の回復：上位表示枠の出稿を再開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68096" y="2427732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8096" y="242773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1069848" y="238658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外部Google +8.0% を伸ばす：唯一伸びたチャネルへコンテンツSEOを追加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68096" y="280263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68096" y="280263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1069848" y="276148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商品詳細ページ -52.7% の回復：関連商品レコメンド枠を全SKUに設置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68096" y="3177540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68096" y="317754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313639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カート流入 -58.7% の回収：カゴ落ちリマインドの配信設計を再構築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233008" y="1188720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52464" y="1280160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KW・検索対策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52464" y="1677924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52464" y="167792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6754216" y="163677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伸長KW「ウォータートリートメント」を商品タイトル先頭へ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452464" y="205282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52464" y="205282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6754216" y="201168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表記ゆれ登録：hairtheorylab / hair theory lab / hair-theory-lab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452464" y="2427732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52464" y="242773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6754216" y="238658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悩みKW新設：「くせ毛」「うねり」「広がり」「ハリコシ」「艶」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6452464" y="280263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452464" y="280263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6754216" y="276148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「ヘアミルク」「セラムシャンプー」などカテゴリ語を属性タグへ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6452464" y="3177540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52464" y="317754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6754216" y="313639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ブランド指名KWの回復：SNS・外部記事での露出を再強化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48640" y="3730752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768096" y="3822192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商品別 優先順位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8096" y="421995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68096" y="421995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1069848" y="417880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ウォータートリートメント：PV 733→1,000へ回復が最重要（売上46%）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768096" y="4594860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68096" y="459486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1069848" y="455371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シャンプー＆トリートメントセット：Google流入の受け皿を強化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768096" y="4969764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68096" y="496976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51" name="Text 48"/>
          <p:cNvSpPr txBox="1"/>
          <p:nvPr/>
        </p:nvSpPr>
        <p:spPr>
          <a:xfrm>
            <a:off x="1069848" y="492861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セラムイン シャンプー：+400%・CVR14.7%。露出拡大で伸びしろ大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768096" y="534466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68096" y="534466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54" name="Text 51"/>
          <p:cNvSpPr txBox="1"/>
          <p:nvPr/>
        </p:nvSpPr>
        <p:spPr>
          <a:xfrm>
            <a:off x="1069848" y="530352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ヘアミルクセラム：唯一の増収商品。アウトバスの主役へ育成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768096" y="5719572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68096" y="571957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57" name="Text 54"/>
          <p:cNvSpPr txBox="1"/>
          <p:nvPr/>
        </p:nvSpPr>
        <p:spPr>
          <a:xfrm>
            <a:off x="1069848" y="567842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セラムイン オイル（-63.6%）：ヘアミルクとの使い分け訴求で再定義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6233008" y="3730752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59" name="Text 56"/>
          <p:cNvSpPr txBox="1"/>
          <p:nvPr/>
        </p:nvSpPr>
        <p:spPr>
          <a:xfrm>
            <a:off x="6452464" y="3822192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メガ割本番施策</a:t>
            </a:r>
            <a:endParaRPr lang="en-US" sz="1200" dirty="0"/>
          </a:p>
        </p:txBody>
      </p:sp>
      <p:sp>
        <p:nvSpPr>
          <p:cNvPr id="60" name="Shape 57"/>
          <p:cNvSpPr/>
          <p:nvPr/>
        </p:nvSpPr>
        <p:spPr>
          <a:xfrm>
            <a:off x="6452464" y="421995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52464" y="421995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62" name="Text 59"/>
          <p:cNvSpPr txBox="1"/>
          <p:nvPr/>
        </p:nvSpPr>
        <p:spPr>
          <a:xfrm>
            <a:off x="6754216" y="417880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リピーター70名・フォロワー2,070名へ直前クーポンを先出し配布</a:t>
            </a:r>
            <a:endParaRPr lang="en-US" sz="950" dirty="0"/>
          </a:p>
        </p:txBody>
      </p:sp>
      <p:sp>
        <p:nvSpPr>
          <p:cNvPr id="63" name="Shape 60"/>
          <p:cNvSpPr/>
          <p:nvPr/>
        </p:nvSpPr>
        <p:spPr>
          <a:xfrm>
            <a:off x="6452464" y="4594860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52464" y="459486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65" name="Text 62"/>
          <p:cNvSpPr txBox="1"/>
          <p:nvPr/>
        </p:nvSpPr>
        <p:spPr>
          <a:xfrm>
            <a:off x="6754216" y="455371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残カート100件へのリマインド・クーポン投下で確実に回収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6452464" y="4969764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52464" y="496976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6754216" y="492861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新規獲得の回復：メガ割専用LPとレビュー特典で初回購入を後押し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6452464" y="534466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452464" y="534466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6754216" y="530352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初日集中の是正：中盤（3〜5日目）にタイムセール・追加クーポンを投下</a:t>
            </a:r>
            <a:endParaRPr lang="en-US" sz="950" dirty="0"/>
          </a:p>
        </p:txBody>
      </p:sp>
      <p:sp>
        <p:nvSpPr>
          <p:cNvPr id="72" name="Shape 69"/>
          <p:cNvSpPr/>
          <p:nvPr/>
        </p:nvSpPr>
        <p:spPr>
          <a:xfrm>
            <a:off x="6452464" y="5719572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452464" y="571957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74" name="Text 71"/>
          <p:cNvSpPr txBox="1"/>
          <p:nvPr/>
        </p:nvSpPr>
        <p:spPr>
          <a:xfrm>
            <a:off x="6754216" y="567842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まとめ買い／セット販売で客単価¥4,999をさらに引き上げ</a:t>
            </a:r>
            <a:endParaRPr lang="en-US" sz="950" dirty="0"/>
          </a:p>
        </p:txBody>
      </p:sp>
      <p:sp>
        <p:nvSpPr>
          <p:cNvPr id="75" name="Text 72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17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9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Next Step・総括 ─ 2026年8月メガポ</a:t>
            </a:r>
            <a:endParaRPr lang="en-US" sz="2400" dirty="0"/>
          </a:p>
        </p:txBody>
      </p:sp>
      <p:pic>
        <p:nvPicPr>
          <p:cNvPr id="3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8927" y="182880"/>
            <a:ext cx="1188720" cy="8229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01752" y="896112"/>
            <a:ext cx="11588191" cy="0"/>
          </a:xfrm>
          <a:prstGeom prst="line">
            <a:avLst/>
          </a:prstGeom>
          <a:noFill/>
          <a:ln w="9525">
            <a:solidFill>
              <a:srgbClr val="5B618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【8月メガポ 実績総括】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325880"/>
            <a:ext cx="2663876" cy="960120"/>
          </a:xfrm>
          <a:prstGeom prst="roundRect">
            <a:avLst>
              <a:gd name="adj" fmla="val 6667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99032"/>
            <a:ext cx="22981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63677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¥604,819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29968"/>
            <a:ext cx="229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7月比 -20.4%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58820" y="1325880"/>
            <a:ext cx="2663876" cy="960120"/>
          </a:xfrm>
          <a:prstGeom prst="roundRect">
            <a:avLst>
              <a:gd name="adj" fmla="val 6667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41700" y="1399032"/>
            <a:ext cx="22981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件数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3541700" y="163677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121件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541700" y="2029968"/>
            <a:ext cx="229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7月比 -33件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169000" y="1325880"/>
            <a:ext cx="2663876" cy="960120"/>
          </a:xfrm>
          <a:prstGeom prst="roundRect">
            <a:avLst>
              <a:gd name="adj" fmla="val 6667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51880" y="1399032"/>
            <a:ext cx="22981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顧客数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351880" y="163677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113名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351880" y="2029968"/>
            <a:ext cx="229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リピート 61.9%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979179" y="1325880"/>
            <a:ext cx="2663876" cy="960120"/>
          </a:xfrm>
          <a:prstGeom prst="roundRect">
            <a:avLst>
              <a:gd name="adj" fmla="val 6667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62059" y="1399032"/>
            <a:ext cx="22981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CVR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162059" y="163677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11.01%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9162059" y="2029968"/>
            <a:ext cx="229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-0.22pt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4505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次回メガ割に向けた優先3課題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48640" y="2834640"/>
            <a:ext cx="11094415" cy="1060704"/>
          </a:xfrm>
          <a:prstGeom prst="roundRect">
            <a:avLst>
              <a:gd name="adj" fmla="val 6034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4672" y="2916936"/>
            <a:ext cx="7436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【最優先①】 新規流入の回復 ─ 検索・広告面の立て直し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04672" y="3218688"/>
            <a:ext cx="74368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C2C8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新規90→43名（-52.2%）が売上減の最大要因。検索流入-25.3%・ブランド指名KW-38.6%と連動しており、広告の再配分とカテゴリKW・悩みKWの拡張で7月水準へ戻す。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8488375" y="3108960"/>
            <a:ext cx="2898648" cy="512064"/>
          </a:xfrm>
          <a:prstGeom prst="roundRect">
            <a:avLst>
              <a:gd name="adj" fmla="val 10714"/>
            </a:avLst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488375" y="3108960"/>
            <a:ext cx="2898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目標: 新規 ≧ 90名 ／ 検索 ≧ 155PV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48640" y="4005072"/>
            <a:ext cx="11094415" cy="1060704"/>
          </a:xfrm>
          <a:prstGeom prst="roundRect">
            <a:avLst>
              <a:gd name="adj" fmla="val 6034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04672" y="4087368"/>
            <a:ext cx="7436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【最優先②】 主力2商品のPV回復 ─ 売上の76%を占める集中構造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04672" y="4389120"/>
            <a:ext cx="74368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C2C8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ウォータートリートメント（PV -29.4%）とセット品が揃って減少。CVRは維持できているため、露出さえ戻せば売上は連動して回復する見込み。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488375" y="4279392"/>
            <a:ext cx="2898648" cy="512064"/>
          </a:xfrm>
          <a:prstGeom prst="roundRect">
            <a:avLst>
              <a:gd name="adj" fmla="val 10714"/>
            </a:avLst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488375" y="4279392"/>
            <a:ext cx="2898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目標: 主力2商品PV ≧ 1,300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48640" y="5175504"/>
            <a:ext cx="11094415" cy="1060704"/>
          </a:xfrm>
          <a:prstGeom prst="roundRect">
            <a:avLst>
              <a:gd name="adj" fmla="val 6034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" y="5257800"/>
            <a:ext cx="7436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【優先③】 回遊導線の再構築と残カート回収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804672" y="5559552"/>
            <a:ext cx="74368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C2C8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カート流入-58.7%・商品詳細-52.7%とサイト内回遊が半減。レコメンド枠設置とカゴ落ちリマインドで残カート100件を回収し、CVR11%台を維持したまま件数を積む。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8488375" y="5449824"/>
            <a:ext cx="2898648" cy="512064"/>
          </a:xfrm>
          <a:prstGeom prst="roundRect">
            <a:avLst>
              <a:gd name="adj" fmla="val 10714"/>
            </a:avLst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488375" y="5449824"/>
            <a:ext cx="2898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目標: 注文 ≧ 150件 ／ CVR ≧ 11.0%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17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HTL_Qoo10_2026年8月メガポ_レポート</dc:title>
  <dc:subject>PptxGenJS Presentation</dc:subject>
  <dc:creator>株式会社Wacworks</dc:creator>
  <cp:lastModifiedBy>株式会社Wacworks</cp:lastModifiedBy>
  <cp:revision>1</cp:revision>
  <dcterms:created xsi:type="dcterms:W3CDTF">2026-08-30T12:37:13Z</dcterms:created>
  <dcterms:modified xsi:type="dcterms:W3CDTF">2026-08-30T12:37:13Z</dcterms:modified>
</cp:coreProperties>
</file>