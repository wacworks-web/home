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こんにちは。株式会社Wacworks代表の舟瀬です。今日のテーマは「これが欲しかった、と言われる商品はどう作るのか」です。広告もSNSもSEOもやっている、セールもクーポンも打っている。それでも思うように伸びない。その原因は、売り方ではなく商品の設計側にあることが非常に多いんです。今日は、マーケティングの視点から商品そのものを設計する考え方を、15分で体系的に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簡単に自己紹介です。Wacworksは楽天・Amazon・Yahoo!・Qoo10といったECモールの売上支援を専門にしている会社です。これまで120社以上をご支援し、平均売上アップ率は233%、サポート継続率は95%。日々いろいろな商品の売上を見ていますが、伸びる商品と伸びない商品の差は、広告の上手さよりも「商品設計の段階でどこまで考えられているか」で決まる。今日はその実感から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の流れです。前半で、なぜ売り方の工夫だけでは差がつかなくなったのかという構造の話。中盤で、では何を見るべきかという「課題の深さ」と「市場の狭さ」の話。後半で、実際に課題起点で商品を設計する手順と、小さく当てて大きく広げる進め方をお話しします。最後まで見ていただくと、次に商品を企画するときの思考の順番が変わるは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第1章です。まずは、なぜ今までのやり方が通用しにくくなったのか。ここを共有しないと、この後の話が「精神論」に聞こえてしまうので、構造からいきます。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前はシンプルでした。商品を作って、広告を出して、LPを改善すれば売上が伸びた。ところが今はどうでしょうか。競合商品が増え、広告費が上がり、似た商品が大量にあり、ユーザーは広告に慣れ、比較も一瞬でできる。さらにAIで、クリエイティブも施策もすぐ真似されます。つまり「売り方」だけで作れる差は、どんどん小さくなっている。ここが出発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一番伝えたい転換がこれです。商品起点というのは、まず商品を作って、その特徴を伝えて、広告で説得して、最後は他社と比較される。行き着く先は価格と広告費の勝負です。一方の課題起点は、先に課題を見つけて、その課題から商品を設計する。だから見た瞬間に「これが欲しかった」と言われて、指名で選ばれる。説得コストが下がるので利益も残ります。マーケティングは商品を作った後に始めるものではなく、作る前から始まっている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第2章です。ではその「これが欲しかった」という反応は、どこから生まれるのか。実は狙う市場の選び方に答えがあります。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例でいきます。「高品質な化粧水」。これだけだと弱い。なぜなら高品質な化粧水は市場に山ほどあるからです。でも「肌が弱くて何を使ってもヒリヒリしてしまい、スキンケア選びを諦めていた人のための化粧水」になると、意味がまったく変わる。前者への反応は「良さそう」。後者への反応は「これ、私のための商品じゃん」です。この差を生んでいるのはスペックではなく、誰のどんな未解決課題を解決するのかが明確かどうか、それ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くの商品開発は「市場規模はどのくらいある？」から入ります。でも大きな市場ほど競合も多い。だから逆をやります。市場を意図的に小さくする。スキンケア、から乾燥肌、から子育て中の乾燥肌、さらに、お風呂上がりに子どもの世話で自分のスキンケアができない人。ここまで狭くすると、市場は確かに小さくなります。でもその代わり、課題の解像度が一気に上がる。何を作ればいいかが、はっきり見えるようになるんです。市場を捨てているのではなく、課題を見えるようにしている。ここを間違え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を見るとき、何人いるか、だけを見てはいけません。見るべきは課題の深さ掛ける人数です。100万人いるけれど困り度が10の市場より、3万人しかいないけれど困り度が100の市場を狙う。このマトリクスでいうと、左上、人数は少ないが課題が深いところ。ここから始めます。右上は大手がいる激戦区、右下は困り度が浅いので価格競争になる。なぜ左上かというと、課題が深い人は、自分から検索して、比較して、多少高くても買って、満足したら口コミして、リピートしてくれるからです。探すべきは人数の多い市場ではなく、困っている人が密集している市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第3章です。ここからは実務パートに入ります。実際に商品を企画するときに、何をどの順番で考えるか。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品開発の最初に、この5つに答えてください。1つ目WHO、誰が困っているのか。年齢性別ではなく、どんな状況にいる人かまで定義します。2つ目PAIN、何に困っているのか。表面的なニーズではなく、面倒、不安、恥ずかしい、時間がない、失敗したくない、もう諦めている、というところまで掘ります。3つ目WHY、なぜ既存商品では解決できていないのか。ここが最大のヒントです。4つ目SOLUTION、何を変えれば劇的に解決するのか。機能だけでなく、使い方、サイズ、価格、購入方法、配送、セット、サポートまで含めて考える。5つ目PROOF、ユーザーは何を見たら本当に解決できそうだと信じるのか。この5つが埋まらないまま商品を作ると、後から広告で穴埋めすること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競合分析というと、Amazonで同じカテゴリーの商品を見る、で終わりがちです。でもそれだけでは不十分。見るべきなのは、ユーザーが今その課題をどうやって解決しているか、です。たとえば時短ボディケアの競合は、別のボディミルクだけではありません。何も塗らない、化粧水だけで済ませる、子ども用クリームを一緒に使う、乾燥を我慢する。これらも全部競合です。つまり私たちが戦っているのは商品ではなく、ユーザーの今の代替行動なんです。ここが見えると、勝ち方が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しい商品アイデアは、ゼロから考えないでください。既存商品に対する「○○だったらいいのに」を探すほうが、圧倒的に早くて確実です。見る場所は、Amazon・楽天・Qoo10のレビュー、SNS、知恵袋、検索キーワード、問い合わせ、返品理由、カスタマーサポートの記録。特に重要なのは★1から★3のレビューです。★5は満足の声で、これは伸ばす材料。でも★1から3には、既存商品が解決できていない課題が大量に書かれています。良い商品を探すのではなく、既存商品の不満を探す。ここが商品開発のスタート地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品開発というと、つい新しい機能を追加しようとなります。でもユーザーが欲しいのは機能ではなく、課題がなくなることです。だから考えるべきは4つ。ADD、何を追加するか。これはみんなやります。大事なのは残りの3つで、REMOVE、何をなくせるか。REDUCE、何を減らせるか。SIMPLIFY、何を簡単にできるか。たとえば10種類の美容成分を追加するより、お風呂上がり10秒で終わる、のほうが価値になることがあるんです。足し算ではなく引き算で価値を作る。ここは意識しないとまず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品コンセプトは一文で説明できるか。これは強い商品かどうかの、いちばん簡単なテストです。フォーマットはこれ。「○○な人が、△△せずに、□□できる商品」。例をあてはめると、「子育て中で自分のスキンケア時間がない人が、何種類もの化粧品を使わずに、10秒で保湿を終えられる商品」。この一文を見て、対象ユーザーが「それ私だ」と思えるかを確認してください。思えないなら、まだ絞りきれていない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最終章です。ここまでで課題起点の設計方法をお話ししました。最後は、それをどういう順番で市場に出していくか。ここを間違えると、良い商品でも埋もれます。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品を完成させてから売れるかどうか確認するのでは遅いです。在庫を抱えてから失敗がわかる、これがいちばん損失が大きい。だから順番を逆にします。まず課題を発見して、コンセプトを作って、先にLP・画像・広告を作ってしまう。それをユーザーに見せて、反応を見る。反応が悪ければ商品ではなくコンセプトを直せばいいので、傷が浅い。反応が良ければ商品を改善して本格投入する。商品を作ってからマーケティングするのではなく、マーケティングしながら商品を作る、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ーケティングファネルの話です。通常は、認知、興味、比較、購入、リピートの順に上から考えます。でも商品設計では逆から考えてください。まずリピート。どんな商品ならもう一度買いたくなるか。次に購入。何ならお金を払ってでも解決したいか。次に比較。他の商品ではなくこれを選ぶ理由は何か。次に興味。どんな言葉なら自分のことだと思うか。最後に認知。その人はどこにいるのか。この順番で考えると、広告のクリエイティブは自然に決まります。広告から考えない、リピートから逆算する。ここは本当に効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長の順番です。多くの人は最初から大きな市場を取りにいきますが、そこは競合だらけで誰にも刺さりません。そうではなく、まず小さな課題市場に絞る。そこで圧倒的に支持される状態、つまり小さなPMFを作る。サインは、レビュー評価が高い、レビューの内容が具体的、リピートされる、人に紹介される、指名検索される、他の商品に戻れないと言われる。この状態ができると、レビューと口コミとデータが資産として貯まります。そこから初めて、似た課題を持つ隣接層、利用シーンへと広げていく。広く売ってからファンを作るのではなく、小さなファンを作ってから広く売る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の話が全部つながるのがこのスライドです。弱い商品は、広告を見せて、説得して、説得して、説得して、やっと購入。説得の回数が多いほど広告費はかさみます。強い商品は、広告を見た瞬間に「これ欲しかった」となって購入。商品と顧客課題が合っていれば、マーケティングは説得ではなく、その商品を必要としている人に知らせる仕事になります。これが理想の状態です。広告が上手いから売れるのではなく、商品が合っているから広告が効く、という順番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ECマーケティングが難しくなったとき、広告テクニックを増やすだけでは限界があります。変えるべきは、考える順番、つまり自分に投げかける問いです。何を売る、ではなく誰が困っている。市場は大きい、ではなく課題は深い。競合商品は、ではなく今どうやって解決している。何を追加する、ではなく何をなくせる。どう広告する、ではなく、なぜこれが欲しかったと言われるのか。この5つの問いに変えるだけで、出てくる企画がまったく変わります。そして、万人に70点ではなく、特定の誰かに120点の商品を作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いちばんお伝えしたいのはこの一文です。最後に大きな市場を取るために、最初は市場を小さくする。万人に70点の商品を作るのではなく、特定の誰かに120点の商品を作る。その小さな市場で「これが欲しかった」と言われる状態を作って、そこから隣の市場へ広げていく。遠回りに見えて、これがいちばん確実で速い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品設計から見直すと、広告もページもセールも、すべての施策が効きやすくなります。今日からできる第一歩は、自社商品と競合商品の★1から3のレビューを100件読むこと。そこに次の商品のヒントが必ずあります。個別のご相談は無料で受け付けていますので、概要欄のリンクから、あるいはWacworksで検索してください。今日はご視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01</a:t>
            </a:r>
            <a:endParaRPr lang="en-US" sz="850" dirty="0"/>
          </a:p>
        </p:txBody>
      </p:sp>
      <p:sp>
        <p:nvSpPr>
          <p:cNvPr id="5" name="Text 2"/>
          <p:cNvSpPr txBox="1"/>
          <p:nvPr/>
        </p:nvSpPr>
        <p:spPr>
          <a:xfrm>
            <a:off x="594360" y="1051560"/>
            <a:ext cx="7315200" cy="320040"/>
          </a:xfrm>
          <a:prstGeom prst="rect">
            <a:avLst/>
          </a:prstGeom>
          <a:noFill/>
          <a:ln/>
        </p:spPr>
        <p:txBody>
          <a:bodyPr wrap="square" lIns="0" tIns="0" rIns="0" bIns="0" rtlCol="0" anchor="ctr"/>
          <a:lstStyle/>
          <a:p>
            <a:pPr indent="0" marL="0">
              <a:buNone/>
            </a:pPr>
            <a:r>
              <a:rPr lang="en-US" sz="1300" b="1" spc="150" kern="0" dirty="0">
                <a:solidFill>
                  <a:srgbClr val="8FBCFF"/>
                </a:solidFill>
                <a:latin typeface="Arial" pitchFamily="34" charset="0"/>
                <a:ea typeface="Arial" pitchFamily="34" charset="-122"/>
                <a:cs typeface="Arial" pitchFamily="34" charset="-120"/>
              </a:rPr>
              <a:t>Wacworks EC GROWTH SEMINAR</a:t>
            </a:r>
            <a:endParaRPr lang="en-US" sz="1300" dirty="0"/>
          </a:p>
        </p:txBody>
      </p:sp>
      <p:sp>
        <p:nvSpPr>
          <p:cNvPr id="6" name="Text 3"/>
          <p:cNvSpPr txBox="1"/>
          <p:nvPr/>
        </p:nvSpPr>
        <p:spPr>
          <a:xfrm>
            <a:off x="594360" y="1600200"/>
            <a:ext cx="10972800" cy="2011680"/>
          </a:xfrm>
          <a:prstGeom prst="rect">
            <a:avLst/>
          </a:prstGeom>
          <a:noFill/>
          <a:ln/>
        </p:spPr>
        <p:txBody>
          <a:bodyPr wrap="square" lIns="0" tIns="0" rIns="0" bIns="0" rtlCol="0" anchor="ctr"/>
          <a:lstStyle/>
          <a:p>
            <a:pPr indent="0" marL="0">
              <a:lnSpc>
                <a:spcPts val="5600"/>
              </a:lnSpc>
              <a:buNone/>
            </a:pPr>
            <a:r>
              <a:rPr lang="en-US" sz="4200" b="1" dirty="0">
                <a:solidFill>
                  <a:srgbClr val="FFFFFF"/>
                </a:solidFill>
                <a:latin typeface="Arial" pitchFamily="34" charset="0"/>
                <a:ea typeface="Arial" pitchFamily="34" charset="-122"/>
                <a:cs typeface="Arial" pitchFamily="34" charset="-120"/>
              </a:rPr>
              <a:t>「これが欲しかった」と言われる商品は、</a:t>
            </a:r>
            <a:endParaRPr lang="en-US" sz="4200" dirty="0"/>
          </a:p>
          <a:p>
            <a:pPr indent="0" marL="0">
              <a:lnSpc>
                <a:spcPts val="5600"/>
              </a:lnSpc>
              <a:buNone/>
            </a:pPr>
            <a:r>
              <a:rPr lang="en-US" sz="4200" b="1" dirty="0">
                <a:solidFill>
                  <a:srgbClr val="FFFFFF"/>
                </a:solidFill>
                <a:latin typeface="Arial" pitchFamily="34" charset="0"/>
                <a:ea typeface="Arial" pitchFamily="34" charset="-122"/>
                <a:cs typeface="Arial" pitchFamily="34" charset="-120"/>
              </a:rPr>
              <a:t>どう作るのか？</a:t>
            </a:r>
            <a:endParaRPr lang="en-US" sz="4200" dirty="0"/>
          </a:p>
        </p:txBody>
      </p:sp>
      <p:sp>
        <p:nvSpPr>
          <p:cNvPr id="7" name="Text 4"/>
          <p:cNvSpPr txBox="1"/>
          <p:nvPr/>
        </p:nvSpPr>
        <p:spPr>
          <a:xfrm>
            <a:off x="594360" y="3703320"/>
            <a:ext cx="10241280" cy="457200"/>
          </a:xfrm>
          <a:prstGeom prst="rect">
            <a:avLst/>
          </a:prstGeom>
          <a:noFill/>
          <a:ln/>
        </p:spPr>
        <p:txBody>
          <a:bodyPr wrap="square" lIns="0" tIns="0" rIns="0" bIns="0" rtlCol="0" anchor="ctr"/>
          <a:lstStyle/>
          <a:p>
            <a:pPr indent="0" marL="0">
              <a:buNone/>
            </a:pPr>
            <a:r>
              <a:rPr lang="en-US" sz="1800" dirty="0">
                <a:solidFill>
                  <a:srgbClr val="C9DAF5"/>
                </a:solidFill>
                <a:latin typeface="Arial" pitchFamily="34" charset="0"/>
                <a:ea typeface="Arial" pitchFamily="34" charset="-122"/>
                <a:cs typeface="Arial" pitchFamily="34" charset="-120"/>
              </a:rPr>
              <a:t>ECマーケティングが難しくなった時代の、商品設計の考え方</a:t>
            </a:r>
            <a:endParaRPr lang="en-US" sz="1800" dirty="0"/>
          </a:p>
        </p:txBody>
      </p:sp>
      <p:sp>
        <p:nvSpPr>
          <p:cNvPr id="8" name="Shape 5"/>
          <p:cNvSpPr/>
          <p:nvPr/>
        </p:nvSpPr>
        <p:spPr>
          <a:xfrm>
            <a:off x="594360" y="4892040"/>
            <a:ext cx="5212080" cy="1005840"/>
          </a:xfrm>
          <a:prstGeom prst="roundRect">
            <a:avLst>
              <a:gd name="adj" fmla="val 8182"/>
            </a:avLst>
          </a:prstGeom>
          <a:solidFill>
            <a:srgbClr val="16294A"/>
          </a:solidFill>
          <a:ln w="12700">
            <a:solidFill>
              <a:srgbClr val="2E4A7A"/>
            </a:solidFill>
            <a:prstDash val="solid"/>
          </a:ln>
        </p:spPr>
      </p:sp>
      <p:sp>
        <p:nvSpPr>
          <p:cNvPr id="9" name="Text 6"/>
          <p:cNvSpPr txBox="1"/>
          <p:nvPr/>
        </p:nvSpPr>
        <p:spPr>
          <a:xfrm>
            <a:off x="868680" y="5029200"/>
            <a:ext cx="4754880" cy="77724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Arial" pitchFamily="34" charset="0"/>
                <a:ea typeface="Arial" pitchFamily="34" charset="-122"/>
                <a:cs typeface="Arial" pitchFamily="34" charset="-120"/>
              </a:rPr>
              <a:t>株式会社Wacworks
</a:t>
            </a:r>
            <a:pPr indent="0" marL="0">
              <a:lnSpc>
                <a:spcPts val="2200"/>
              </a:lnSpc>
              <a:buNone/>
            </a:pPr>
            <a:r>
              <a:rPr lang="en-US" sz="1250" dirty="0">
                <a:solidFill>
                  <a:srgbClr val="AFC6E8"/>
                </a:solidFill>
                <a:latin typeface="Arial" pitchFamily="34" charset="0"/>
                <a:ea typeface="Arial" pitchFamily="34" charset="-122"/>
                <a:cs typeface="Arial" pitchFamily="34" charset="-120"/>
              </a:rPr>
              <a:t>代表取締役　舟瀬 悠</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02</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ABOUT US</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本題の前に ── Wacworksについて</a:t>
            </a:r>
            <a:endParaRPr lang="en-US" sz="2600" dirty="0"/>
          </a:p>
        </p:txBody>
      </p:sp>
      <p:sp>
        <p:nvSpPr>
          <p:cNvPr id="7" name="Text 4"/>
          <p:cNvSpPr txBox="1"/>
          <p:nvPr/>
        </p:nvSpPr>
        <p:spPr>
          <a:xfrm>
            <a:off x="594360" y="1417320"/>
            <a:ext cx="10972800" cy="731520"/>
          </a:xfrm>
          <a:prstGeom prst="rect">
            <a:avLst/>
          </a:prstGeom>
          <a:noFill/>
          <a:ln/>
        </p:spPr>
        <p:txBody>
          <a:bodyPr wrap="square" lIns="0" tIns="0" rIns="0" bIns="0" rtlCol="0" anchor="t"/>
          <a:lstStyle/>
          <a:p>
            <a:pPr indent="0" marL="0">
              <a:lnSpc>
                <a:spcPts val="2400"/>
              </a:lnSpc>
              <a:buNone/>
            </a:pPr>
            <a:r>
              <a:rPr lang="en-US" sz="1400" dirty="0">
                <a:solidFill>
                  <a:srgbClr val="3A4A61"/>
                </a:solidFill>
                <a:latin typeface="Arial" pitchFamily="34" charset="0"/>
                <a:ea typeface="Arial" pitchFamily="34" charset="-122"/>
                <a:cs typeface="Arial" pitchFamily="34" charset="-120"/>
              </a:rPr>
              <a:t>楽天・Amazon・Yahoo!ショッピング・Qoo10を中心に、ECモールの売上支援を行う専門企業です。</a:t>
            </a:r>
            <a:endParaRPr lang="en-US" sz="1400" dirty="0"/>
          </a:p>
          <a:p>
            <a:pPr indent="0" marL="0">
              <a:lnSpc>
                <a:spcPts val="2400"/>
              </a:lnSpc>
              <a:buNone/>
            </a:pPr>
            <a:r>
              <a:rPr lang="en-US" sz="1400" dirty="0">
                <a:solidFill>
                  <a:srgbClr val="3A4A61"/>
                </a:solidFill>
                <a:latin typeface="Arial" pitchFamily="34" charset="0"/>
                <a:ea typeface="Arial" pitchFamily="34" charset="-122"/>
                <a:cs typeface="Arial" pitchFamily="34" charset="-120"/>
              </a:rPr>
              <a:t>コンサルティングから運営代行・広告運用まで、「売れる仕組みづくり」を一気通貫でサポートしています。</a:t>
            </a:r>
            <a:endParaRPr lang="en-US" sz="1400" dirty="0"/>
          </a:p>
        </p:txBody>
      </p:sp>
      <p:sp>
        <p:nvSpPr>
          <p:cNvPr id="8" name="Shape 5"/>
          <p:cNvSpPr/>
          <p:nvPr/>
        </p:nvSpPr>
        <p:spPr>
          <a:xfrm>
            <a:off x="594360" y="2468880"/>
            <a:ext cx="3474720" cy="2286000"/>
          </a:xfrm>
          <a:prstGeom prst="roundRect">
            <a:avLst>
              <a:gd name="adj" fmla="val 3200"/>
            </a:avLst>
          </a:prstGeom>
          <a:solidFill>
            <a:srgbClr val="F2F6FD"/>
          </a:solidFill>
          <a:ln/>
        </p:spPr>
      </p:sp>
      <p:sp>
        <p:nvSpPr>
          <p:cNvPr id="9" name="Shape 6"/>
          <p:cNvSpPr/>
          <p:nvPr/>
        </p:nvSpPr>
        <p:spPr>
          <a:xfrm>
            <a:off x="914400" y="2743200"/>
            <a:ext cx="566928" cy="566928"/>
          </a:xfrm>
          <a:prstGeom prst="ellipse">
            <a:avLst/>
          </a:prstGeom>
          <a:solidFill>
            <a:srgbClr val="1E6FE8"/>
          </a:solidFill>
          <a:ln/>
        </p:spPr>
      </p:sp>
      <p:pic>
        <p:nvPicPr>
          <p:cNvPr id="10" name="Image 1" descr="/tmp/claude-0/-home-user-home/46e674e1-850e-5f3a-8004-a2778537f0fe/scratchpad/assets/icons/store.png">    </p:cNvPr>
          <p:cNvPicPr>
            <a:picLocks noChangeAspect="1"/>
          </p:cNvPicPr>
          <p:nvPr/>
        </p:nvPicPr>
        <p:blipFill>
          <a:blip r:embed="rId2"/>
          <a:stretch>
            <a:fillRect/>
          </a:stretch>
        </p:blipFill>
        <p:spPr>
          <a:xfrm>
            <a:off x="1051560" y="2880360"/>
            <a:ext cx="292608" cy="292608"/>
          </a:xfrm>
          <a:prstGeom prst="rect">
            <a:avLst/>
          </a:prstGeom>
        </p:spPr>
      </p:pic>
      <p:sp>
        <p:nvSpPr>
          <p:cNvPr id="11" name="Text 7"/>
          <p:cNvSpPr txBox="1"/>
          <p:nvPr/>
        </p:nvSpPr>
        <p:spPr>
          <a:xfrm>
            <a:off x="868680" y="3337560"/>
            <a:ext cx="2926080" cy="822960"/>
          </a:xfrm>
          <a:prstGeom prst="rect">
            <a:avLst/>
          </a:prstGeom>
          <a:noFill/>
          <a:ln/>
        </p:spPr>
        <p:txBody>
          <a:bodyPr wrap="square" lIns="0" tIns="0" rIns="0" bIns="0" rtlCol="0" anchor="ctr"/>
          <a:lstStyle/>
          <a:p>
            <a:pPr indent="0" marL="0">
              <a:buNone/>
            </a:pPr>
            <a:r>
              <a:rPr lang="en-US" sz="4000" b="1" dirty="0">
                <a:solidFill>
                  <a:srgbClr val="1E6FE8"/>
                </a:solidFill>
                <a:latin typeface="Arial" pitchFamily="34" charset="0"/>
                <a:ea typeface="Arial" pitchFamily="34" charset="-122"/>
                <a:cs typeface="Arial" pitchFamily="34" charset="-120"/>
              </a:rPr>
              <a:t>120社+</a:t>
            </a:r>
            <a:endParaRPr lang="en-US" sz="4000" dirty="0"/>
          </a:p>
        </p:txBody>
      </p:sp>
      <p:sp>
        <p:nvSpPr>
          <p:cNvPr id="12" name="Text 8"/>
          <p:cNvSpPr txBox="1"/>
          <p:nvPr/>
        </p:nvSpPr>
        <p:spPr>
          <a:xfrm>
            <a:off x="896112" y="4160520"/>
            <a:ext cx="2926080" cy="320040"/>
          </a:xfrm>
          <a:prstGeom prst="rect">
            <a:avLst/>
          </a:prstGeom>
          <a:noFill/>
          <a:ln/>
        </p:spPr>
        <p:txBody>
          <a:bodyPr wrap="square" lIns="0" tIns="0" rIns="0" bIns="0" rtlCol="0" anchor="ctr"/>
          <a:lstStyle/>
          <a:p>
            <a:pPr indent="0" marL="0">
              <a:buNone/>
            </a:pPr>
            <a:r>
              <a:rPr lang="en-US" sz="1300" dirty="0">
                <a:solidFill>
                  <a:srgbClr val="3A4A61"/>
                </a:solidFill>
                <a:latin typeface="Arial" pitchFamily="34" charset="0"/>
                <a:ea typeface="Arial" pitchFamily="34" charset="-122"/>
                <a:cs typeface="Arial" pitchFamily="34" charset="-120"/>
              </a:rPr>
              <a:t>支援店舗数</a:t>
            </a:r>
            <a:endParaRPr lang="en-US" sz="1300" dirty="0"/>
          </a:p>
        </p:txBody>
      </p:sp>
      <p:sp>
        <p:nvSpPr>
          <p:cNvPr id="13" name="Shape 9"/>
          <p:cNvSpPr/>
          <p:nvPr/>
        </p:nvSpPr>
        <p:spPr>
          <a:xfrm>
            <a:off x="4357116" y="2468880"/>
            <a:ext cx="3474720" cy="2286000"/>
          </a:xfrm>
          <a:prstGeom prst="roundRect">
            <a:avLst>
              <a:gd name="adj" fmla="val 3200"/>
            </a:avLst>
          </a:prstGeom>
          <a:solidFill>
            <a:srgbClr val="F2F6FD"/>
          </a:solidFill>
          <a:ln/>
        </p:spPr>
      </p:sp>
      <p:sp>
        <p:nvSpPr>
          <p:cNvPr id="14" name="Shape 10"/>
          <p:cNvSpPr/>
          <p:nvPr/>
        </p:nvSpPr>
        <p:spPr>
          <a:xfrm>
            <a:off x="4677156" y="2743200"/>
            <a:ext cx="566928" cy="566928"/>
          </a:xfrm>
          <a:prstGeom prst="ellipse">
            <a:avLst/>
          </a:prstGeom>
          <a:solidFill>
            <a:srgbClr val="1E6FE8"/>
          </a:solidFill>
          <a:ln/>
        </p:spPr>
      </p:sp>
      <p:pic>
        <p:nvPicPr>
          <p:cNvPr id="15" name="Image 2" descr="/tmp/claude-0/-home-user-home/46e674e1-850e-5f3a-8004-a2778537f0fe/scratchpad/assets/icons/trending.png">    </p:cNvPr>
          <p:cNvPicPr>
            <a:picLocks noChangeAspect="1"/>
          </p:cNvPicPr>
          <p:nvPr/>
        </p:nvPicPr>
        <p:blipFill>
          <a:blip r:embed="rId3"/>
          <a:stretch>
            <a:fillRect/>
          </a:stretch>
        </p:blipFill>
        <p:spPr>
          <a:xfrm>
            <a:off x="4814316" y="2880360"/>
            <a:ext cx="292608" cy="292608"/>
          </a:xfrm>
          <a:prstGeom prst="rect">
            <a:avLst/>
          </a:prstGeom>
        </p:spPr>
      </p:pic>
      <p:sp>
        <p:nvSpPr>
          <p:cNvPr id="16" name="Text 11"/>
          <p:cNvSpPr txBox="1"/>
          <p:nvPr/>
        </p:nvSpPr>
        <p:spPr>
          <a:xfrm>
            <a:off x="4631436" y="3337560"/>
            <a:ext cx="2926080" cy="822960"/>
          </a:xfrm>
          <a:prstGeom prst="rect">
            <a:avLst/>
          </a:prstGeom>
          <a:noFill/>
          <a:ln/>
        </p:spPr>
        <p:txBody>
          <a:bodyPr wrap="square" lIns="0" tIns="0" rIns="0" bIns="0" rtlCol="0" anchor="ctr"/>
          <a:lstStyle/>
          <a:p>
            <a:pPr indent="0" marL="0">
              <a:buNone/>
            </a:pPr>
            <a:r>
              <a:rPr lang="en-US" sz="4000" b="1" dirty="0">
                <a:solidFill>
                  <a:srgbClr val="1E6FE8"/>
                </a:solidFill>
                <a:latin typeface="Arial" pitchFamily="34" charset="0"/>
                <a:ea typeface="Arial" pitchFamily="34" charset="-122"/>
                <a:cs typeface="Arial" pitchFamily="34" charset="-120"/>
              </a:rPr>
              <a:t>233%</a:t>
            </a:r>
            <a:endParaRPr lang="en-US" sz="4000" dirty="0"/>
          </a:p>
        </p:txBody>
      </p:sp>
      <p:sp>
        <p:nvSpPr>
          <p:cNvPr id="17" name="Text 12"/>
          <p:cNvSpPr txBox="1"/>
          <p:nvPr/>
        </p:nvSpPr>
        <p:spPr>
          <a:xfrm>
            <a:off x="4658868" y="4160520"/>
            <a:ext cx="2926080" cy="320040"/>
          </a:xfrm>
          <a:prstGeom prst="rect">
            <a:avLst/>
          </a:prstGeom>
          <a:noFill/>
          <a:ln/>
        </p:spPr>
        <p:txBody>
          <a:bodyPr wrap="square" lIns="0" tIns="0" rIns="0" bIns="0" rtlCol="0" anchor="ctr"/>
          <a:lstStyle/>
          <a:p>
            <a:pPr indent="0" marL="0">
              <a:buNone/>
            </a:pPr>
            <a:r>
              <a:rPr lang="en-US" sz="1300" dirty="0">
                <a:solidFill>
                  <a:srgbClr val="3A4A61"/>
                </a:solidFill>
                <a:latin typeface="Arial" pitchFamily="34" charset="0"/>
                <a:ea typeface="Arial" pitchFamily="34" charset="-122"/>
                <a:cs typeface="Arial" pitchFamily="34" charset="-120"/>
              </a:rPr>
              <a:t>平均売上アップ率</a:t>
            </a:r>
            <a:endParaRPr lang="en-US" sz="1300" dirty="0"/>
          </a:p>
        </p:txBody>
      </p:sp>
      <p:sp>
        <p:nvSpPr>
          <p:cNvPr id="18" name="Shape 13"/>
          <p:cNvSpPr/>
          <p:nvPr/>
        </p:nvSpPr>
        <p:spPr>
          <a:xfrm>
            <a:off x="8119872" y="2468880"/>
            <a:ext cx="3474720" cy="2286000"/>
          </a:xfrm>
          <a:prstGeom prst="roundRect">
            <a:avLst>
              <a:gd name="adj" fmla="val 3200"/>
            </a:avLst>
          </a:prstGeom>
          <a:solidFill>
            <a:srgbClr val="F2F6FD"/>
          </a:solidFill>
          <a:ln/>
        </p:spPr>
      </p:sp>
      <p:sp>
        <p:nvSpPr>
          <p:cNvPr id="19" name="Shape 14"/>
          <p:cNvSpPr/>
          <p:nvPr/>
        </p:nvSpPr>
        <p:spPr>
          <a:xfrm>
            <a:off x="8439912" y="2743200"/>
            <a:ext cx="566928" cy="566928"/>
          </a:xfrm>
          <a:prstGeom prst="ellipse">
            <a:avLst/>
          </a:prstGeom>
          <a:solidFill>
            <a:srgbClr val="1E6FE8"/>
          </a:solidFill>
          <a:ln/>
        </p:spPr>
      </p:sp>
      <p:pic>
        <p:nvPicPr>
          <p:cNvPr id="20" name="Image 3" descr="/tmp/claude-0/-home-user-home/46e674e1-850e-5f3a-8004-a2778537f0fe/scratchpad/assets/icons/repeat.png">    </p:cNvPr>
          <p:cNvPicPr>
            <a:picLocks noChangeAspect="1"/>
          </p:cNvPicPr>
          <p:nvPr/>
        </p:nvPicPr>
        <p:blipFill>
          <a:blip r:embed="rId4"/>
          <a:stretch>
            <a:fillRect/>
          </a:stretch>
        </p:blipFill>
        <p:spPr>
          <a:xfrm>
            <a:off x="8577072" y="2880360"/>
            <a:ext cx="292608" cy="292608"/>
          </a:xfrm>
          <a:prstGeom prst="rect">
            <a:avLst/>
          </a:prstGeom>
        </p:spPr>
      </p:pic>
      <p:sp>
        <p:nvSpPr>
          <p:cNvPr id="21" name="Text 15"/>
          <p:cNvSpPr txBox="1"/>
          <p:nvPr/>
        </p:nvSpPr>
        <p:spPr>
          <a:xfrm>
            <a:off x="8394192" y="3337560"/>
            <a:ext cx="2926080" cy="822960"/>
          </a:xfrm>
          <a:prstGeom prst="rect">
            <a:avLst/>
          </a:prstGeom>
          <a:noFill/>
          <a:ln/>
        </p:spPr>
        <p:txBody>
          <a:bodyPr wrap="square" lIns="0" tIns="0" rIns="0" bIns="0" rtlCol="0" anchor="ctr"/>
          <a:lstStyle/>
          <a:p>
            <a:pPr indent="0" marL="0">
              <a:buNone/>
            </a:pPr>
            <a:r>
              <a:rPr lang="en-US" sz="4000" b="1" dirty="0">
                <a:solidFill>
                  <a:srgbClr val="1E6FE8"/>
                </a:solidFill>
                <a:latin typeface="Arial" pitchFamily="34" charset="0"/>
                <a:ea typeface="Arial" pitchFamily="34" charset="-122"/>
                <a:cs typeface="Arial" pitchFamily="34" charset="-120"/>
              </a:rPr>
              <a:t>95%</a:t>
            </a:r>
            <a:endParaRPr lang="en-US" sz="4000" dirty="0"/>
          </a:p>
        </p:txBody>
      </p:sp>
      <p:sp>
        <p:nvSpPr>
          <p:cNvPr id="22" name="Text 16"/>
          <p:cNvSpPr txBox="1"/>
          <p:nvPr/>
        </p:nvSpPr>
        <p:spPr>
          <a:xfrm>
            <a:off x="8421624" y="4160520"/>
            <a:ext cx="2926080" cy="320040"/>
          </a:xfrm>
          <a:prstGeom prst="rect">
            <a:avLst/>
          </a:prstGeom>
          <a:noFill/>
          <a:ln/>
        </p:spPr>
        <p:txBody>
          <a:bodyPr wrap="square" lIns="0" tIns="0" rIns="0" bIns="0" rtlCol="0" anchor="ctr"/>
          <a:lstStyle/>
          <a:p>
            <a:pPr indent="0" marL="0">
              <a:buNone/>
            </a:pPr>
            <a:r>
              <a:rPr lang="en-US" sz="1300" dirty="0">
                <a:solidFill>
                  <a:srgbClr val="3A4A61"/>
                </a:solidFill>
                <a:latin typeface="Arial" pitchFamily="34" charset="0"/>
                <a:ea typeface="Arial" pitchFamily="34" charset="-122"/>
                <a:cs typeface="Arial" pitchFamily="34" charset="-120"/>
              </a:rPr>
              <a:t>サポート継続率</a:t>
            </a:r>
            <a:endParaRPr lang="en-US" sz="1300" dirty="0"/>
          </a:p>
        </p:txBody>
      </p:sp>
      <p:sp>
        <p:nvSpPr>
          <p:cNvPr id="23" name="Text 17"/>
          <p:cNvSpPr txBox="1"/>
          <p:nvPr/>
        </p:nvSpPr>
        <p:spPr>
          <a:xfrm>
            <a:off x="594360" y="5166360"/>
            <a:ext cx="10972800" cy="320040"/>
          </a:xfrm>
          <a:prstGeom prst="rect">
            <a:avLst/>
          </a:prstGeom>
          <a:noFill/>
          <a:ln/>
        </p:spPr>
        <p:txBody>
          <a:bodyPr wrap="square" lIns="0" tIns="0" rIns="0" bIns="0" rtlCol="0" anchor="ctr"/>
          <a:lstStyle/>
          <a:p>
            <a:pPr indent="0" marL="0">
              <a:buNone/>
            </a:pPr>
            <a:r>
              <a:rPr lang="en-US" sz="1100" dirty="0">
                <a:solidFill>
                  <a:srgbClr val="7A8AA3"/>
                </a:solidFill>
                <a:latin typeface="Arial" pitchFamily="34" charset="0"/>
                <a:ea typeface="Arial" pitchFamily="34" charset="-122"/>
                <a:cs typeface="Arial" pitchFamily="34" charset="-120"/>
              </a:rPr>
              <a:t>設立 2021年11月 ／ 東京都渋谷区　※数値は自社実績(公式サイト掲載値)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03</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AGENDA</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この動画でわかること</a:t>
            </a:r>
            <a:endParaRPr lang="en-US" sz="2600" dirty="0"/>
          </a:p>
        </p:txBody>
      </p:sp>
      <p:sp>
        <p:nvSpPr>
          <p:cNvPr id="7" name="Shape 4"/>
          <p:cNvSpPr/>
          <p:nvPr/>
        </p:nvSpPr>
        <p:spPr>
          <a:xfrm>
            <a:off x="594360" y="1965960"/>
            <a:ext cx="5349240" cy="1371600"/>
          </a:xfrm>
          <a:prstGeom prst="roundRect">
            <a:avLst>
              <a:gd name="adj" fmla="val 5333"/>
            </a:avLst>
          </a:prstGeom>
          <a:solidFill>
            <a:srgbClr val="F2F6FD"/>
          </a:solidFill>
          <a:ln/>
        </p:spPr>
      </p:sp>
      <p:sp>
        <p:nvSpPr>
          <p:cNvPr id="8" name="Text 5"/>
          <p:cNvSpPr txBox="1"/>
          <p:nvPr/>
        </p:nvSpPr>
        <p:spPr>
          <a:xfrm>
            <a:off x="960120" y="2221992"/>
            <a:ext cx="822960" cy="457200"/>
          </a:xfrm>
          <a:prstGeom prst="rect">
            <a:avLst/>
          </a:prstGeom>
          <a:noFill/>
          <a:ln/>
        </p:spPr>
        <p:txBody>
          <a:bodyPr wrap="square" lIns="0" tIns="0" rIns="0" bIns="0" rtlCol="0" anchor="ctr"/>
          <a:lstStyle/>
          <a:p>
            <a:pPr indent="0" marL="0">
              <a:buNone/>
            </a:pPr>
            <a:r>
              <a:rPr lang="en-US" sz="2600" b="1" dirty="0">
                <a:solidFill>
                  <a:srgbClr val="1E6FE8"/>
                </a:solidFill>
                <a:latin typeface="Arial" pitchFamily="34" charset="0"/>
                <a:ea typeface="Arial" pitchFamily="34" charset="-122"/>
                <a:cs typeface="Arial" pitchFamily="34" charset="-120"/>
              </a:rPr>
              <a:t>01</a:t>
            </a:r>
            <a:endParaRPr lang="en-US" sz="2600" dirty="0"/>
          </a:p>
        </p:txBody>
      </p:sp>
      <p:sp>
        <p:nvSpPr>
          <p:cNvPr id="9" name="Text 6"/>
          <p:cNvSpPr txBox="1"/>
          <p:nvPr/>
        </p:nvSpPr>
        <p:spPr>
          <a:xfrm>
            <a:off x="1737360" y="2203704"/>
            <a:ext cx="3931920" cy="502920"/>
          </a:xfrm>
          <a:prstGeom prst="rect">
            <a:avLst/>
          </a:prstGeom>
          <a:noFill/>
          <a:ln/>
        </p:spPr>
        <p:txBody>
          <a:bodyPr wrap="square" lIns="0" tIns="0" rIns="0" bIns="0" rtlCol="0" anchor="ctr"/>
          <a:lstStyle/>
          <a:p>
            <a:pPr indent="0" marL="0">
              <a:buNone/>
            </a:pPr>
            <a:r>
              <a:rPr lang="en-US" sz="1600" b="1" dirty="0">
                <a:solidFill>
                  <a:srgbClr val="0E1B2C"/>
                </a:solidFill>
                <a:latin typeface="Arial" pitchFamily="34" charset="0"/>
                <a:ea typeface="Arial" pitchFamily="34" charset="-122"/>
                <a:cs typeface="Arial" pitchFamily="34" charset="-120"/>
              </a:rPr>
              <a:t>なぜ「売り方」で差がつかなくなったのか</a:t>
            </a:r>
            <a:endParaRPr lang="en-US" sz="1600" dirty="0"/>
          </a:p>
        </p:txBody>
      </p:sp>
      <p:sp>
        <p:nvSpPr>
          <p:cNvPr id="10" name="Text 7"/>
          <p:cNvSpPr txBox="1"/>
          <p:nvPr/>
        </p:nvSpPr>
        <p:spPr>
          <a:xfrm>
            <a:off x="1737360" y="2743200"/>
            <a:ext cx="3931920" cy="384048"/>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施策の模倣が容易になった時代の構造変化</a:t>
            </a:r>
            <a:endParaRPr lang="en-US" sz="1200" dirty="0"/>
          </a:p>
        </p:txBody>
      </p:sp>
      <p:sp>
        <p:nvSpPr>
          <p:cNvPr id="11" name="Shape 8"/>
          <p:cNvSpPr/>
          <p:nvPr/>
        </p:nvSpPr>
        <p:spPr>
          <a:xfrm>
            <a:off x="6245352" y="1965960"/>
            <a:ext cx="5349240" cy="1371600"/>
          </a:xfrm>
          <a:prstGeom prst="roundRect">
            <a:avLst>
              <a:gd name="adj" fmla="val 5333"/>
            </a:avLst>
          </a:prstGeom>
          <a:solidFill>
            <a:srgbClr val="F2F6FD"/>
          </a:solidFill>
          <a:ln/>
        </p:spPr>
      </p:sp>
      <p:sp>
        <p:nvSpPr>
          <p:cNvPr id="12" name="Text 9"/>
          <p:cNvSpPr txBox="1"/>
          <p:nvPr/>
        </p:nvSpPr>
        <p:spPr>
          <a:xfrm>
            <a:off x="6611112" y="2221992"/>
            <a:ext cx="822960" cy="457200"/>
          </a:xfrm>
          <a:prstGeom prst="rect">
            <a:avLst/>
          </a:prstGeom>
          <a:noFill/>
          <a:ln/>
        </p:spPr>
        <p:txBody>
          <a:bodyPr wrap="square" lIns="0" tIns="0" rIns="0" bIns="0" rtlCol="0" anchor="ctr"/>
          <a:lstStyle/>
          <a:p>
            <a:pPr indent="0" marL="0">
              <a:buNone/>
            </a:pPr>
            <a:r>
              <a:rPr lang="en-US" sz="2600" b="1" dirty="0">
                <a:solidFill>
                  <a:srgbClr val="1E6FE8"/>
                </a:solidFill>
                <a:latin typeface="Arial" pitchFamily="34" charset="0"/>
                <a:ea typeface="Arial" pitchFamily="34" charset="-122"/>
                <a:cs typeface="Arial" pitchFamily="34" charset="-120"/>
              </a:rPr>
              <a:t>02</a:t>
            </a:r>
            <a:endParaRPr lang="en-US" sz="2600" dirty="0"/>
          </a:p>
        </p:txBody>
      </p:sp>
      <p:sp>
        <p:nvSpPr>
          <p:cNvPr id="13" name="Text 10"/>
          <p:cNvSpPr txBox="1"/>
          <p:nvPr/>
        </p:nvSpPr>
        <p:spPr>
          <a:xfrm>
            <a:off x="7388352" y="2203704"/>
            <a:ext cx="3931920" cy="502920"/>
          </a:xfrm>
          <a:prstGeom prst="rect">
            <a:avLst/>
          </a:prstGeom>
          <a:noFill/>
          <a:ln/>
        </p:spPr>
        <p:txBody>
          <a:bodyPr wrap="square" lIns="0" tIns="0" rIns="0" bIns="0" rtlCol="0" anchor="ctr"/>
          <a:lstStyle/>
          <a:p>
            <a:pPr indent="0" marL="0">
              <a:buNone/>
            </a:pPr>
            <a:r>
              <a:rPr lang="en-US" sz="1600" b="1" dirty="0">
                <a:solidFill>
                  <a:srgbClr val="0E1B2C"/>
                </a:solidFill>
                <a:latin typeface="Arial" pitchFamily="34" charset="0"/>
                <a:ea typeface="Arial" pitchFamily="34" charset="-122"/>
                <a:cs typeface="Arial" pitchFamily="34" charset="-120"/>
              </a:rPr>
              <a:t>「これが欲しかった」の正体</a:t>
            </a:r>
            <a:endParaRPr lang="en-US" sz="1600" dirty="0"/>
          </a:p>
        </p:txBody>
      </p:sp>
      <p:sp>
        <p:nvSpPr>
          <p:cNvPr id="14" name="Text 11"/>
          <p:cNvSpPr txBox="1"/>
          <p:nvPr/>
        </p:nvSpPr>
        <p:spPr>
          <a:xfrm>
            <a:off x="7388352" y="2743200"/>
            <a:ext cx="3931920" cy="384048"/>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市場を小さくし、課題の深さで狙いを定める</a:t>
            </a:r>
            <a:endParaRPr lang="en-US" sz="1200" dirty="0"/>
          </a:p>
        </p:txBody>
      </p:sp>
      <p:sp>
        <p:nvSpPr>
          <p:cNvPr id="15" name="Shape 12"/>
          <p:cNvSpPr/>
          <p:nvPr/>
        </p:nvSpPr>
        <p:spPr>
          <a:xfrm>
            <a:off x="594360" y="3657600"/>
            <a:ext cx="5349240" cy="1371600"/>
          </a:xfrm>
          <a:prstGeom prst="roundRect">
            <a:avLst>
              <a:gd name="adj" fmla="val 5333"/>
            </a:avLst>
          </a:prstGeom>
          <a:solidFill>
            <a:srgbClr val="F2F6FD"/>
          </a:solidFill>
          <a:ln/>
        </p:spPr>
      </p:sp>
      <p:sp>
        <p:nvSpPr>
          <p:cNvPr id="16" name="Text 13"/>
          <p:cNvSpPr txBox="1"/>
          <p:nvPr/>
        </p:nvSpPr>
        <p:spPr>
          <a:xfrm>
            <a:off x="960120" y="3913632"/>
            <a:ext cx="822960" cy="457200"/>
          </a:xfrm>
          <a:prstGeom prst="rect">
            <a:avLst/>
          </a:prstGeom>
          <a:noFill/>
          <a:ln/>
        </p:spPr>
        <p:txBody>
          <a:bodyPr wrap="square" lIns="0" tIns="0" rIns="0" bIns="0" rtlCol="0" anchor="ctr"/>
          <a:lstStyle/>
          <a:p>
            <a:pPr indent="0" marL="0">
              <a:buNone/>
            </a:pPr>
            <a:r>
              <a:rPr lang="en-US" sz="2600" b="1" dirty="0">
                <a:solidFill>
                  <a:srgbClr val="1E6FE8"/>
                </a:solidFill>
                <a:latin typeface="Arial" pitchFamily="34" charset="0"/>
                <a:ea typeface="Arial" pitchFamily="34" charset="-122"/>
                <a:cs typeface="Arial" pitchFamily="34" charset="-120"/>
              </a:rPr>
              <a:t>03</a:t>
            </a:r>
            <a:endParaRPr lang="en-US" sz="2600" dirty="0"/>
          </a:p>
        </p:txBody>
      </p:sp>
      <p:sp>
        <p:nvSpPr>
          <p:cNvPr id="17" name="Text 14"/>
          <p:cNvSpPr txBox="1"/>
          <p:nvPr/>
        </p:nvSpPr>
        <p:spPr>
          <a:xfrm>
            <a:off x="1737360" y="3895344"/>
            <a:ext cx="3931920" cy="502920"/>
          </a:xfrm>
          <a:prstGeom prst="rect">
            <a:avLst/>
          </a:prstGeom>
          <a:noFill/>
          <a:ln/>
        </p:spPr>
        <p:txBody>
          <a:bodyPr wrap="square" lIns="0" tIns="0" rIns="0" bIns="0" rtlCol="0" anchor="ctr"/>
          <a:lstStyle/>
          <a:p>
            <a:pPr indent="0" marL="0">
              <a:buNone/>
            </a:pPr>
            <a:r>
              <a:rPr lang="en-US" sz="1600" b="1" dirty="0">
                <a:solidFill>
                  <a:srgbClr val="0E1B2C"/>
                </a:solidFill>
                <a:latin typeface="Arial" pitchFamily="34" charset="0"/>
                <a:ea typeface="Arial" pitchFamily="34" charset="-122"/>
                <a:cs typeface="Arial" pitchFamily="34" charset="-120"/>
              </a:rPr>
              <a:t>課題起点で商品を設計する</a:t>
            </a:r>
            <a:endParaRPr lang="en-US" sz="1600" dirty="0"/>
          </a:p>
        </p:txBody>
      </p:sp>
      <p:sp>
        <p:nvSpPr>
          <p:cNvPr id="18" name="Text 15"/>
          <p:cNvSpPr txBox="1"/>
          <p:nvPr/>
        </p:nvSpPr>
        <p:spPr>
          <a:xfrm>
            <a:off x="1737360" y="4434840"/>
            <a:ext cx="3931920" cy="384048"/>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5つの質問・本当の競合・価値の引き算</a:t>
            </a:r>
            <a:endParaRPr lang="en-US" sz="1200" dirty="0"/>
          </a:p>
        </p:txBody>
      </p:sp>
      <p:sp>
        <p:nvSpPr>
          <p:cNvPr id="19" name="Shape 16"/>
          <p:cNvSpPr/>
          <p:nvPr/>
        </p:nvSpPr>
        <p:spPr>
          <a:xfrm>
            <a:off x="6245352" y="3657600"/>
            <a:ext cx="5349240" cy="1371600"/>
          </a:xfrm>
          <a:prstGeom prst="roundRect">
            <a:avLst>
              <a:gd name="adj" fmla="val 5333"/>
            </a:avLst>
          </a:prstGeom>
          <a:solidFill>
            <a:srgbClr val="F2F6FD"/>
          </a:solidFill>
          <a:ln/>
        </p:spPr>
      </p:sp>
      <p:sp>
        <p:nvSpPr>
          <p:cNvPr id="20" name="Text 17"/>
          <p:cNvSpPr txBox="1"/>
          <p:nvPr/>
        </p:nvSpPr>
        <p:spPr>
          <a:xfrm>
            <a:off x="6611112" y="3913632"/>
            <a:ext cx="822960" cy="457200"/>
          </a:xfrm>
          <a:prstGeom prst="rect">
            <a:avLst/>
          </a:prstGeom>
          <a:noFill/>
          <a:ln/>
        </p:spPr>
        <p:txBody>
          <a:bodyPr wrap="square" lIns="0" tIns="0" rIns="0" bIns="0" rtlCol="0" anchor="ctr"/>
          <a:lstStyle/>
          <a:p>
            <a:pPr indent="0" marL="0">
              <a:buNone/>
            </a:pPr>
            <a:r>
              <a:rPr lang="en-US" sz="2600" b="1" dirty="0">
                <a:solidFill>
                  <a:srgbClr val="1E6FE8"/>
                </a:solidFill>
                <a:latin typeface="Arial" pitchFamily="34" charset="0"/>
                <a:ea typeface="Arial" pitchFamily="34" charset="-122"/>
                <a:cs typeface="Arial" pitchFamily="34" charset="-120"/>
              </a:rPr>
              <a:t>04</a:t>
            </a:r>
            <a:endParaRPr lang="en-US" sz="2600" dirty="0"/>
          </a:p>
        </p:txBody>
      </p:sp>
      <p:sp>
        <p:nvSpPr>
          <p:cNvPr id="21" name="Text 18"/>
          <p:cNvSpPr txBox="1"/>
          <p:nvPr/>
        </p:nvSpPr>
        <p:spPr>
          <a:xfrm>
            <a:off x="7388352" y="3895344"/>
            <a:ext cx="3931920" cy="502920"/>
          </a:xfrm>
          <a:prstGeom prst="rect">
            <a:avLst/>
          </a:prstGeom>
          <a:noFill/>
          <a:ln/>
        </p:spPr>
        <p:txBody>
          <a:bodyPr wrap="square" lIns="0" tIns="0" rIns="0" bIns="0" rtlCol="0" anchor="ctr"/>
          <a:lstStyle/>
          <a:p>
            <a:pPr indent="0" marL="0">
              <a:buNone/>
            </a:pPr>
            <a:r>
              <a:rPr lang="en-US" sz="1600" b="1" dirty="0">
                <a:solidFill>
                  <a:srgbClr val="0E1B2C"/>
                </a:solidFill>
                <a:latin typeface="Arial" pitchFamily="34" charset="0"/>
                <a:ea typeface="Arial" pitchFamily="34" charset="-122"/>
                <a:cs typeface="Arial" pitchFamily="34" charset="-120"/>
              </a:rPr>
              <a:t>小さく当てて、大きく広げる</a:t>
            </a:r>
            <a:endParaRPr lang="en-US" sz="1600" dirty="0"/>
          </a:p>
        </p:txBody>
      </p:sp>
      <p:sp>
        <p:nvSpPr>
          <p:cNvPr id="22" name="Text 19"/>
          <p:cNvSpPr txBox="1"/>
          <p:nvPr/>
        </p:nvSpPr>
        <p:spPr>
          <a:xfrm>
            <a:off x="7388352" y="4434840"/>
            <a:ext cx="3931920" cy="384048"/>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逆算ファネルと、小さなPMFからの市場拡張</a:t>
            </a:r>
            <a:endParaRPr lang="en-US" sz="1200" dirty="0"/>
          </a:p>
        </p:txBody>
      </p:sp>
      <p:sp>
        <p:nvSpPr>
          <p:cNvPr id="23" name="Shape 20"/>
          <p:cNvSpPr/>
          <p:nvPr/>
        </p:nvSpPr>
        <p:spPr>
          <a:xfrm>
            <a:off x="594360" y="5486400"/>
            <a:ext cx="11000232" cy="685800"/>
          </a:xfrm>
          <a:prstGeom prst="roundRect">
            <a:avLst>
              <a:gd name="adj" fmla="val 12000"/>
            </a:avLst>
          </a:prstGeom>
          <a:solidFill>
            <a:srgbClr val="E8F0FC"/>
          </a:solidFill>
          <a:ln/>
        </p:spPr>
      </p:sp>
      <p:sp>
        <p:nvSpPr>
          <p:cNvPr id="24" name="Text 21"/>
          <p:cNvSpPr txBox="1"/>
          <p:nvPr/>
        </p:nvSpPr>
        <p:spPr>
          <a:xfrm>
            <a:off x="960120" y="5486400"/>
            <a:ext cx="10268712" cy="685800"/>
          </a:xfrm>
          <a:prstGeom prst="rect">
            <a:avLst/>
          </a:prstGeom>
          <a:noFill/>
          <a:ln/>
        </p:spPr>
        <p:txBody>
          <a:bodyPr wrap="square" lIns="0" tIns="0" rIns="0" bIns="0" rtlCol="0" anchor="ctr"/>
          <a:lstStyle/>
          <a:p>
            <a:pPr algn="l" indent="0" marL="0">
              <a:buNone/>
            </a:pPr>
            <a:r>
              <a:rPr lang="en-US" sz="1600" b="1" dirty="0">
                <a:solidFill>
                  <a:srgbClr val="1E6FE8"/>
                </a:solidFill>
                <a:latin typeface="Arial" pitchFamily="34" charset="0"/>
                <a:ea typeface="Arial" pitchFamily="34" charset="-122"/>
                <a:cs typeface="Arial" pitchFamily="34" charset="-120"/>
              </a:rPr>
              <a:t>対象　</a:t>
            </a:r>
            <a:pPr algn="l" indent="0" marL="0">
              <a:buNone/>
            </a:pPr>
            <a:r>
              <a:rPr lang="en-US" sz="1600" b="1" dirty="0">
                <a:solidFill>
                  <a:srgbClr val="0E1B2C"/>
                </a:solidFill>
                <a:latin typeface="Arial" pitchFamily="34" charset="0"/>
                <a:ea typeface="Arial" pitchFamily="34" charset="-122"/>
                <a:cs typeface="Arial" pitchFamily="34" charset="-120"/>
              </a:rPr>
              <a:t>経営者・EC事業責任者・マーケター。商品開発とマーケティングを分けずに考える回です。</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04</a:t>
            </a:r>
            <a:endParaRPr lang="en-US" sz="850" dirty="0"/>
          </a:p>
        </p:txBody>
      </p:sp>
      <p:sp>
        <p:nvSpPr>
          <p:cNvPr id="5" name="Text 2"/>
          <p:cNvSpPr txBox="1"/>
          <p:nvPr/>
        </p:nvSpPr>
        <p:spPr>
          <a:xfrm>
            <a:off x="594360" y="1828800"/>
            <a:ext cx="3200400" cy="1463040"/>
          </a:xfrm>
          <a:prstGeom prst="rect">
            <a:avLst/>
          </a:prstGeom>
          <a:noFill/>
          <a:ln/>
        </p:spPr>
        <p:txBody>
          <a:bodyPr wrap="square" lIns="0" tIns="0" rIns="0" bIns="0" rtlCol="0" anchor="ctr"/>
          <a:lstStyle/>
          <a:p>
            <a:pPr indent="0" marL="0">
              <a:buNone/>
            </a:pPr>
            <a:r>
              <a:rPr lang="en-US" sz="9600" b="1" dirty="0">
                <a:solidFill>
                  <a:srgbClr val="1E6FE8"/>
                </a:solidFill>
                <a:latin typeface="Arial" pitchFamily="34" charset="0"/>
                <a:ea typeface="Arial" pitchFamily="34" charset="-122"/>
                <a:cs typeface="Arial" pitchFamily="34" charset="-120"/>
              </a:rPr>
              <a:t>01</a:t>
            </a:r>
            <a:endParaRPr lang="en-US" sz="9600" dirty="0"/>
          </a:p>
        </p:txBody>
      </p:sp>
      <p:sp>
        <p:nvSpPr>
          <p:cNvPr id="6" name="Text 3"/>
          <p:cNvSpPr txBox="1"/>
          <p:nvPr/>
        </p:nvSpPr>
        <p:spPr>
          <a:xfrm>
            <a:off x="594360" y="3383280"/>
            <a:ext cx="1078992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なぜ「売り方」で差がつかなくなったのか</a:t>
            </a:r>
            <a:endParaRPr lang="en-US" sz="3400" dirty="0"/>
          </a:p>
        </p:txBody>
      </p:sp>
      <p:sp>
        <p:nvSpPr>
          <p:cNvPr id="7" name="Text 4"/>
          <p:cNvSpPr txBox="1"/>
          <p:nvPr/>
        </p:nvSpPr>
        <p:spPr>
          <a:xfrm>
            <a:off x="594360" y="4206240"/>
            <a:ext cx="10515600" cy="411480"/>
          </a:xfrm>
          <a:prstGeom prst="rect">
            <a:avLst/>
          </a:prstGeom>
          <a:noFill/>
          <a:ln/>
        </p:spPr>
        <p:txBody>
          <a:bodyPr wrap="square" lIns="0" tIns="0" rIns="0" bIns="0" rtlCol="0" anchor="ctr"/>
          <a:lstStyle/>
          <a:p>
            <a:pPr indent="0" marL="0">
              <a:buNone/>
            </a:pPr>
            <a:r>
              <a:rPr lang="en-US" sz="1500" dirty="0">
                <a:solidFill>
                  <a:srgbClr val="AFC6E8"/>
                </a:solidFill>
                <a:latin typeface="Arial" pitchFamily="34" charset="0"/>
                <a:ea typeface="Arial" pitchFamily="34" charset="-122"/>
                <a:cs typeface="Arial" pitchFamily="34" charset="-120"/>
              </a:rPr>
              <a:t>まず、いま起きている構造の変化から整理します。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05</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WHY NOW</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かつての勝ちパターンが、効かなくなった</a:t>
            </a:r>
            <a:endParaRPr lang="en-US" sz="2600" dirty="0"/>
          </a:p>
        </p:txBody>
      </p:sp>
      <p:sp>
        <p:nvSpPr>
          <p:cNvPr id="7" name="Shape 4"/>
          <p:cNvSpPr/>
          <p:nvPr/>
        </p:nvSpPr>
        <p:spPr>
          <a:xfrm>
            <a:off x="594360" y="1572768"/>
            <a:ext cx="5349240" cy="3977640"/>
          </a:xfrm>
          <a:prstGeom prst="roundRect">
            <a:avLst>
              <a:gd name="adj" fmla="val 1839"/>
            </a:avLst>
          </a:prstGeom>
          <a:solidFill>
            <a:srgbClr val="F2F6FD"/>
          </a:solidFill>
          <a:ln/>
        </p:spPr>
      </p:sp>
      <p:sp>
        <p:nvSpPr>
          <p:cNvPr id="8" name="Text 5"/>
          <p:cNvSpPr txBox="1"/>
          <p:nvPr/>
        </p:nvSpPr>
        <p:spPr>
          <a:xfrm>
            <a:off x="960120" y="1783080"/>
            <a:ext cx="1828800" cy="365760"/>
          </a:xfrm>
          <a:prstGeom prst="rect">
            <a:avLst/>
          </a:prstGeom>
          <a:noFill/>
          <a:ln/>
        </p:spPr>
        <p:txBody>
          <a:bodyPr wrap="square" lIns="0" tIns="0" rIns="0" bIns="0" rtlCol="0" anchor="ctr"/>
          <a:lstStyle/>
          <a:p>
            <a:pPr indent="0" marL="0">
              <a:buNone/>
            </a:pPr>
            <a:r>
              <a:rPr lang="en-US" sz="1500" b="1" dirty="0">
                <a:solidFill>
                  <a:srgbClr val="7A8AA3"/>
                </a:solidFill>
                <a:latin typeface="Arial" pitchFamily="34" charset="0"/>
                <a:ea typeface="Arial" pitchFamily="34" charset="-122"/>
                <a:cs typeface="Arial" pitchFamily="34" charset="-120"/>
              </a:rPr>
              <a:t>以前</a:t>
            </a:r>
            <a:endParaRPr lang="en-US" sz="1500" dirty="0"/>
          </a:p>
        </p:txBody>
      </p:sp>
      <p:sp>
        <p:nvSpPr>
          <p:cNvPr id="9" name="Shape 6"/>
          <p:cNvSpPr/>
          <p:nvPr/>
        </p:nvSpPr>
        <p:spPr>
          <a:xfrm>
            <a:off x="960120" y="2286000"/>
            <a:ext cx="4617720" cy="548640"/>
          </a:xfrm>
          <a:prstGeom prst="roundRect">
            <a:avLst>
              <a:gd name="adj" fmla="val 10000"/>
            </a:avLst>
          </a:prstGeom>
          <a:solidFill>
            <a:srgbClr val="FFFFFF"/>
          </a:solidFill>
          <a:ln/>
        </p:spPr>
      </p:sp>
      <p:sp>
        <p:nvSpPr>
          <p:cNvPr id="10" name="Text 7"/>
          <p:cNvSpPr txBox="1"/>
          <p:nvPr/>
        </p:nvSpPr>
        <p:spPr>
          <a:xfrm>
            <a:off x="1234440" y="2286000"/>
            <a:ext cx="4114800" cy="548640"/>
          </a:xfrm>
          <a:prstGeom prst="rect">
            <a:avLst/>
          </a:prstGeom>
          <a:noFill/>
          <a:ln/>
        </p:spPr>
        <p:txBody>
          <a:bodyPr wrap="square" lIns="0" tIns="0" rIns="0" bIns="0" rtlCol="0" anchor="ctr"/>
          <a:lstStyle/>
          <a:p>
            <a:pPr indent="0" marL="0">
              <a:buNone/>
            </a:pPr>
            <a:r>
              <a:rPr lang="en-US" sz="1450" dirty="0">
                <a:solidFill>
                  <a:srgbClr val="3A4A61"/>
                </a:solidFill>
                <a:latin typeface="Arial" pitchFamily="34" charset="0"/>
                <a:ea typeface="Arial" pitchFamily="34" charset="-122"/>
                <a:cs typeface="Arial" pitchFamily="34" charset="-120"/>
              </a:rPr>
              <a:t>商品を作る</a:t>
            </a:r>
            <a:endParaRPr lang="en-US" sz="1450" dirty="0"/>
          </a:p>
        </p:txBody>
      </p:sp>
      <p:sp>
        <p:nvSpPr>
          <p:cNvPr id="11" name="Shape 8"/>
          <p:cNvSpPr/>
          <p:nvPr/>
        </p:nvSpPr>
        <p:spPr>
          <a:xfrm rot="10800000">
            <a:off x="3182112" y="2889504"/>
            <a:ext cx="182880" cy="146304"/>
          </a:xfrm>
          <a:prstGeom prst="triangle">
            <a:avLst/>
          </a:prstGeom>
          <a:solidFill>
            <a:srgbClr val="AFC6E8"/>
          </a:solidFill>
          <a:ln/>
        </p:spPr>
      </p:sp>
      <p:sp>
        <p:nvSpPr>
          <p:cNvPr id="12" name="Shape 9"/>
          <p:cNvSpPr/>
          <p:nvPr/>
        </p:nvSpPr>
        <p:spPr>
          <a:xfrm>
            <a:off x="960120" y="3072384"/>
            <a:ext cx="4617720" cy="548640"/>
          </a:xfrm>
          <a:prstGeom prst="roundRect">
            <a:avLst>
              <a:gd name="adj" fmla="val 10000"/>
            </a:avLst>
          </a:prstGeom>
          <a:solidFill>
            <a:srgbClr val="FFFFFF"/>
          </a:solidFill>
          <a:ln/>
        </p:spPr>
      </p:sp>
      <p:sp>
        <p:nvSpPr>
          <p:cNvPr id="13" name="Text 10"/>
          <p:cNvSpPr txBox="1"/>
          <p:nvPr/>
        </p:nvSpPr>
        <p:spPr>
          <a:xfrm>
            <a:off x="1234440" y="3072384"/>
            <a:ext cx="4114800" cy="548640"/>
          </a:xfrm>
          <a:prstGeom prst="rect">
            <a:avLst/>
          </a:prstGeom>
          <a:noFill/>
          <a:ln/>
        </p:spPr>
        <p:txBody>
          <a:bodyPr wrap="square" lIns="0" tIns="0" rIns="0" bIns="0" rtlCol="0" anchor="ctr"/>
          <a:lstStyle/>
          <a:p>
            <a:pPr indent="0" marL="0">
              <a:buNone/>
            </a:pPr>
            <a:r>
              <a:rPr lang="en-US" sz="1450" dirty="0">
                <a:solidFill>
                  <a:srgbClr val="3A4A61"/>
                </a:solidFill>
                <a:latin typeface="Arial" pitchFamily="34" charset="0"/>
                <a:ea typeface="Arial" pitchFamily="34" charset="-122"/>
                <a:cs typeface="Arial" pitchFamily="34" charset="-120"/>
              </a:rPr>
              <a:t>広告を出す</a:t>
            </a:r>
            <a:endParaRPr lang="en-US" sz="1450" dirty="0"/>
          </a:p>
        </p:txBody>
      </p:sp>
      <p:sp>
        <p:nvSpPr>
          <p:cNvPr id="14" name="Shape 11"/>
          <p:cNvSpPr/>
          <p:nvPr/>
        </p:nvSpPr>
        <p:spPr>
          <a:xfrm rot="10800000">
            <a:off x="3182112" y="3675888"/>
            <a:ext cx="182880" cy="146304"/>
          </a:xfrm>
          <a:prstGeom prst="triangle">
            <a:avLst/>
          </a:prstGeom>
          <a:solidFill>
            <a:srgbClr val="AFC6E8"/>
          </a:solidFill>
          <a:ln/>
        </p:spPr>
      </p:sp>
      <p:sp>
        <p:nvSpPr>
          <p:cNvPr id="15" name="Shape 12"/>
          <p:cNvSpPr/>
          <p:nvPr/>
        </p:nvSpPr>
        <p:spPr>
          <a:xfrm>
            <a:off x="960120" y="3858768"/>
            <a:ext cx="4617720" cy="548640"/>
          </a:xfrm>
          <a:prstGeom prst="roundRect">
            <a:avLst>
              <a:gd name="adj" fmla="val 10000"/>
            </a:avLst>
          </a:prstGeom>
          <a:solidFill>
            <a:srgbClr val="FFFFFF"/>
          </a:solidFill>
          <a:ln/>
        </p:spPr>
      </p:sp>
      <p:sp>
        <p:nvSpPr>
          <p:cNvPr id="16" name="Text 13"/>
          <p:cNvSpPr txBox="1"/>
          <p:nvPr/>
        </p:nvSpPr>
        <p:spPr>
          <a:xfrm>
            <a:off x="1234440" y="3858768"/>
            <a:ext cx="4114800" cy="548640"/>
          </a:xfrm>
          <a:prstGeom prst="rect">
            <a:avLst/>
          </a:prstGeom>
          <a:noFill/>
          <a:ln/>
        </p:spPr>
        <p:txBody>
          <a:bodyPr wrap="square" lIns="0" tIns="0" rIns="0" bIns="0" rtlCol="0" anchor="ctr"/>
          <a:lstStyle/>
          <a:p>
            <a:pPr indent="0" marL="0">
              <a:buNone/>
            </a:pPr>
            <a:r>
              <a:rPr lang="en-US" sz="1450" dirty="0">
                <a:solidFill>
                  <a:srgbClr val="3A4A61"/>
                </a:solidFill>
                <a:latin typeface="Arial" pitchFamily="34" charset="0"/>
                <a:ea typeface="Arial" pitchFamily="34" charset="-122"/>
                <a:cs typeface="Arial" pitchFamily="34" charset="-120"/>
              </a:rPr>
              <a:t>LPを改善する</a:t>
            </a:r>
            <a:endParaRPr lang="en-US" sz="1450" dirty="0"/>
          </a:p>
        </p:txBody>
      </p:sp>
      <p:sp>
        <p:nvSpPr>
          <p:cNvPr id="17" name="Shape 14"/>
          <p:cNvSpPr/>
          <p:nvPr/>
        </p:nvSpPr>
        <p:spPr>
          <a:xfrm rot="10800000">
            <a:off x="3182112" y="4462272"/>
            <a:ext cx="182880" cy="146304"/>
          </a:xfrm>
          <a:prstGeom prst="triangle">
            <a:avLst/>
          </a:prstGeom>
          <a:solidFill>
            <a:srgbClr val="AFC6E8"/>
          </a:solidFill>
          <a:ln/>
        </p:spPr>
      </p:sp>
      <p:sp>
        <p:nvSpPr>
          <p:cNvPr id="18" name="Shape 15"/>
          <p:cNvSpPr/>
          <p:nvPr/>
        </p:nvSpPr>
        <p:spPr>
          <a:xfrm>
            <a:off x="960120" y="4645152"/>
            <a:ext cx="4617720" cy="548640"/>
          </a:xfrm>
          <a:prstGeom prst="roundRect">
            <a:avLst>
              <a:gd name="adj" fmla="val 10000"/>
            </a:avLst>
          </a:prstGeom>
          <a:solidFill>
            <a:srgbClr val="FFFFFF"/>
          </a:solidFill>
          <a:ln/>
        </p:spPr>
      </p:sp>
      <p:sp>
        <p:nvSpPr>
          <p:cNvPr id="19" name="Text 16"/>
          <p:cNvSpPr txBox="1"/>
          <p:nvPr/>
        </p:nvSpPr>
        <p:spPr>
          <a:xfrm>
            <a:off x="1234440" y="4645152"/>
            <a:ext cx="4114800" cy="548640"/>
          </a:xfrm>
          <a:prstGeom prst="rect">
            <a:avLst/>
          </a:prstGeom>
          <a:noFill/>
          <a:ln/>
        </p:spPr>
        <p:txBody>
          <a:bodyPr wrap="square" lIns="0" tIns="0" rIns="0" bIns="0" rtlCol="0" anchor="ctr"/>
          <a:lstStyle/>
          <a:p>
            <a:pPr indent="0" marL="0">
              <a:buNone/>
            </a:pPr>
            <a:r>
              <a:rPr lang="en-US" sz="1450" b="1" dirty="0">
                <a:solidFill>
                  <a:srgbClr val="0E1B2C"/>
                </a:solidFill>
                <a:latin typeface="Arial" pitchFamily="34" charset="0"/>
                <a:ea typeface="Arial" pitchFamily="34" charset="-122"/>
                <a:cs typeface="Arial" pitchFamily="34" charset="-120"/>
              </a:rPr>
              <a:t>売上が伸びる</a:t>
            </a:r>
            <a:endParaRPr lang="en-US" sz="1450" dirty="0"/>
          </a:p>
        </p:txBody>
      </p:sp>
      <p:sp>
        <p:nvSpPr>
          <p:cNvPr id="20" name="Shape 17"/>
          <p:cNvSpPr/>
          <p:nvPr/>
        </p:nvSpPr>
        <p:spPr>
          <a:xfrm>
            <a:off x="6245352" y="1572768"/>
            <a:ext cx="5349240" cy="3977640"/>
          </a:xfrm>
          <a:prstGeom prst="roundRect">
            <a:avLst>
              <a:gd name="adj" fmla="val 1839"/>
            </a:avLst>
          </a:prstGeom>
          <a:solidFill>
            <a:srgbClr val="FCE9EB"/>
          </a:solidFill>
          <a:ln/>
        </p:spPr>
      </p:sp>
      <p:sp>
        <p:nvSpPr>
          <p:cNvPr id="21" name="Text 18"/>
          <p:cNvSpPr txBox="1"/>
          <p:nvPr/>
        </p:nvSpPr>
        <p:spPr>
          <a:xfrm>
            <a:off x="6611112" y="1783080"/>
            <a:ext cx="1828800" cy="365760"/>
          </a:xfrm>
          <a:prstGeom prst="rect">
            <a:avLst/>
          </a:prstGeom>
          <a:noFill/>
          <a:ln/>
        </p:spPr>
        <p:txBody>
          <a:bodyPr wrap="square" lIns="0" tIns="0" rIns="0" bIns="0" rtlCol="0" anchor="ctr"/>
          <a:lstStyle/>
          <a:p>
            <a:pPr indent="0" marL="0">
              <a:buNone/>
            </a:pPr>
            <a:r>
              <a:rPr lang="en-US" sz="1500" b="1" dirty="0">
                <a:solidFill>
                  <a:srgbClr val="BF0000"/>
                </a:solidFill>
                <a:latin typeface="Arial" pitchFamily="34" charset="0"/>
                <a:ea typeface="Arial" pitchFamily="34" charset="-122"/>
                <a:cs typeface="Arial" pitchFamily="34" charset="-120"/>
              </a:rPr>
              <a:t>現在</a:t>
            </a:r>
            <a:endParaRPr lang="en-US" sz="1500" dirty="0"/>
          </a:p>
        </p:txBody>
      </p:sp>
      <p:sp>
        <p:nvSpPr>
          <p:cNvPr id="22" name="Shape 19"/>
          <p:cNvSpPr/>
          <p:nvPr/>
        </p:nvSpPr>
        <p:spPr>
          <a:xfrm>
            <a:off x="6629400" y="2432304"/>
            <a:ext cx="128016" cy="128016"/>
          </a:xfrm>
          <a:prstGeom prst="ellipse">
            <a:avLst/>
          </a:prstGeom>
          <a:solidFill>
            <a:srgbClr val="BF0000"/>
          </a:solidFill>
          <a:ln/>
        </p:spPr>
      </p:sp>
      <p:sp>
        <p:nvSpPr>
          <p:cNvPr id="23" name="Text 20"/>
          <p:cNvSpPr txBox="1"/>
          <p:nvPr/>
        </p:nvSpPr>
        <p:spPr>
          <a:xfrm>
            <a:off x="6903720" y="2286000"/>
            <a:ext cx="4480560" cy="438912"/>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競合商品が増えた</a:t>
            </a:r>
            <a:endParaRPr lang="en-US" sz="1400" dirty="0"/>
          </a:p>
        </p:txBody>
      </p:sp>
      <p:sp>
        <p:nvSpPr>
          <p:cNvPr id="24" name="Shape 21"/>
          <p:cNvSpPr/>
          <p:nvPr/>
        </p:nvSpPr>
        <p:spPr>
          <a:xfrm>
            <a:off x="6629400" y="2962656"/>
            <a:ext cx="128016" cy="128016"/>
          </a:xfrm>
          <a:prstGeom prst="ellipse">
            <a:avLst/>
          </a:prstGeom>
          <a:solidFill>
            <a:srgbClr val="BF0000"/>
          </a:solidFill>
          <a:ln/>
        </p:spPr>
      </p:sp>
      <p:sp>
        <p:nvSpPr>
          <p:cNvPr id="25" name="Text 22"/>
          <p:cNvSpPr txBox="1"/>
          <p:nvPr/>
        </p:nvSpPr>
        <p:spPr>
          <a:xfrm>
            <a:off x="6903720" y="2816352"/>
            <a:ext cx="4480560" cy="438912"/>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広告費が上がった</a:t>
            </a:r>
            <a:endParaRPr lang="en-US" sz="1400" dirty="0"/>
          </a:p>
        </p:txBody>
      </p:sp>
      <p:sp>
        <p:nvSpPr>
          <p:cNvPr id="26" name="Shape 23"/>
          <p:cNvSpPr/>
          <p:nvPr/>
        </p:nvSpPr>
        <p:spPr>
          <a:xfrm>
            <a:off x="6629400" y="3493008"/>
            <a:ext cx="128016" cy="128016"/>
          </a:xfrm>
          <a:prstGeom prst="ellipse">
            <a:avLst/>
          </a:prstGeom>
          <a:solidFill>
            <a:srgbClr val="BF0000"/>
          </a:solidFill>
          <a:ln/>
        </p:spPr>
      </p:sp>
      <p:sp>
        <p:nvSpPr>
          <p:cNvPr id="27" name="Text 24"/>
          <p:cNvSpPr txBox="1"/>
          <p:nvPr/>
        </p:nvSpPr>
        <p:spPr>
          <a:xfrm>
            <a:off x="6903720" y="3346704"/>
            <a:ext cx="4480560" cy="438912"/>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似た商品が大量に存在する</a:t>
            </a:r>
            <a:endParaRPr lang="en-US" sz="1400" dirty="0"/>
          </a:p>
        </p:txBody>
      </p:sp>
      <p:sp>
        <p:nvSpPr>
          <p:cNvPr id="28" name="Shape 25"/>
          <p:cNvSpPr/>
          <p:nvPr/>
        </p:nvSpPr>
        <p:spPr>
          <a:xfrm>
            <a:off x="6629400" y="4023360"/>
            <a:ext cx="128016" cy="128016"/>
          </a:xfrm>
          <a:prstGeom prst="ellipse">
            <a:avLst/>
          </a:prstGeom>
          <a:solidFill>
            <a:srgbClr val="BF0000"/>
          </a:solidFill>
          <a:ln/>
        </p:spPr>
      </p:sp>
      <p:sp>
        <p:nvSpPr>
          <p:cNvPr id="29" name="Text 26"/>
          <p:cNvSpPr txBox="1"/>
          <p:nvPr/>
        </p:nvSpPr>
        <p:spPr>
          <a:xfrm>
            <a:off x="6903720" y="3877056"/>
            <a:ext cx="4480560" cy="438912"/>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ユーザーが広告に慣れている</a:t>
            </a:r>
            <a:endParaRPr lang="en-US" sz="1400" dirty="0"/>
          </a:p>
        </p:txBody>
      </p:sp>
      <p:sp>
        <p:nvSpPr>
          <p:cNvPr id="30" name="Shape 27"/>
          <p:cNvSpPr/>
          <p:nvPr/>
        </p:nvSpPr>
        <p:spPr>
          <a:xfrm>
            <a:off x="6629400" y="4553712"/>
            <a:ext cx="128016" cy="128016"/>
          </a:xfrm>
          <a:prstGeom prst="ellipse">
            <a:avLst/>
          </a:prstGeom>
          <a:solidFill>
            <a:srgbClr val="BF0000"/>
          </a:solidFill>
          <a:ln/>
        </p:spPr>
      </p:sp>
      <p:sp>
        <p:nvSpPr>
          <p:cNvPr id="31" name="Text 28"/>
          <p:cNvSpPr txBox="1"/>
          <p:nvPr/>
        </p:nvSpPr>
        <p:spPr>
          <a:xfrm>
            <a:off x="6903720" y="4407408"/>
            <a:ext cx="4480560" cy="438912"/>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商品比較が簡単になった</a:t>
            </a:r>
            <a:endParaRPr lang="en-US" sz="1400" dirty="0"/>
          </a:p>
        </p:txBody>
      </p:sp>
      <p:sp>
        <p:nvSpPr>
          <p:cNvPr id="32" name="Shape 29"/>
          <p:cNvSpPr/>
          <p:nvPr/>
        </p:nvSpPr>
        <p:spPr>
          <a:xfrm>
            <a:off x="6629400" y="5084064"/>
            <a:ext cx="128016" cy="128016"/>
          </a:xfrm>
          <a:prstGeom prst="ellipse">
            <a:avLst/>
          </a:prstGeom>
          <a:solidFill>
            <a:srgbClr val="BF0000"/>
          </a:solidFill>
          <a:ln/>
        </p:spPr>
      </p:sp>
      <p:sp>
        <p:nvSpPr>
          <p:cNvPr id="33" name="Text 30"/>
          <p:cNvSpPr txBox="1"/>
          <p:nvPr/>
        </p:nvSpPr>
        <p:spPr>
          <a:xfrm>
            <a:off x="6903720" y="4937760"/>
            <a:ext cx="4480560" cy="438912"/>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AIで施策もすぐ模倣される</a:t>
            </a:r>
            <a:endParaRPr lang="en-US" sz="1400" dirty="0"/>
          </a:p>
        </p:txBody>
      </p:sp>
      <p:sp>
        <p:nvSpPr>
          <p:cNvPr id="34" name="Shape 31"/>
          <p:cNvSpPr/>
          <p:nvPr/>
        </p:nvSpPr>
        <p:spPr>
          <a:xfrm>
            <a:off x="594360" y="5715000"/>
            <a:ext cx="11000232" cy="621792"/>
          </a:xfrm>
          <a:prstGeom prst="roundRect">
            <a:avLst>
              <a:gd name="adj" fmla="val 13235"/>
            </a:avLst>
          </a:prstGeom>
          <a:solidFill>
            <a:srgbClr val="E8F0FC"/>
          </a:solidFill>
          <a:ln/>
        </p:spPr>
      </p:sp>
      <p:sp>
        <p:nvSpPr>
          <p:cNvPr id="35" name="Text 32"/>
          <p:cNvSpPr txBox="1"/>
          <p:nvPr/>
        </p:nvSpPr>
        <p:spPr>
          <a:xfrm>
            <a:off x="960120" y="5715000"/>
            <a:ext cx="10268712" cy="621792"/>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つまり　</a:t>
            </a:r>
            <a:pPr algn="l" indent="0" marL="0">
              <a:buNone/>
            </a:pPr>
            <a:r>
              <a:rPr lang="en-US" sz="1700" b="1" dirty="0">
                <a:solidFill>
                  <a:srgbClr val="0E1B2C"/>
                </a:solidFill>
                <a:latin typeface="Arial" pitchFamily="34" charset="0"/>
                <a:ea typeface="Arial" pitchFamily="34" charset="-122"/>
                <a:cs typeface="Arial" pitchFamily="34" charset="-120"/>
              </a:rPr>
              <a:t>「売り方」だけで作れる差は、どんどん小さくなっている。</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06</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THE SHIFT</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「商品起点」から「課題起点」へ</a:t>
            </a:r>
            <a:endParaRPr lang="en-US" sz="2600" dirty="0"/>
          </a:p>
        </p:txBody>
      </p:sp>
      <p:sp>
        <p:nvSpPr>
          <p:cNvPr id="7" name="Shape 4"/>
          <p:cNvSpPr/>
          <p:nvPr/>
        </p:nvSpPr>
        <p:spPr>
          <a:xfrm>
            <a:off x="594360" y="1572768"/>
            <a:ext cx="5349240" cy="3977640"/>
          </a:xfrm>
          <a:prstGeom prst="roundRect">
            <a:avLst>
              <a:gd name="adj" fmla="val 1839"/>
            </a:avLst>
          </a:prstGeom>
          <a:solidFill>
            <a:srgbClr val="F2F6FD"/>
          </a:solidFill>
          <a:ln/>
        </p:spPr>
      </p:sp>
      <p:sp>
        <p:nvSpPr>
          <p:cNvPr id="8" name="Text 5"/>
          <p:cNvSpPr txBox="1"/>
          <p:nvPr/>
        </p:nvSpPr>
        <p:spPr>
          <a:xfrm>
            <a:off x="960120" y="1783080"/>
            <a:ext cx="4572000" cy="365760"/>
          </a:xfrm>
          <a:prstGeom prst="rect">
            <a:avLst/>
          </a:prstGeom>
          <a:noFill/>
          <a:ln/>
        </p:spPr>
        <p:txBody>
          <a:bodyPr wrap="square" lIns="0" tIns="0" rIns="0" bIns="0" rtlCol="0" anchor="ctr"/>
          <a:lstStyle/>
          <a:p>
            <a:pPr indent="0" marL="0">
              <a:buNone/>
            </a:pPr>
            <a:r>
              <a:rPr lang="en-US" sz="1500" b="1" dirty="0">
                <a:solidFill>
                  <a:srgbClr val="7A8AA3"/>
                </a:solidFill>
                <a:latin typeface="Arial" pitchFamily="34" charset="0"/>
                <a:ea typeface="Arial" pitchFamily="34" charset="-122"/>
                <a:cs typeface="Arial" pitchFamily="34" charset="-120"/>
              </a:rPr>
              <a:t>商品起点（これまで）</a:t>
            </a:r>
            <a:endParaRPr lang="en-US" sz="1500" dirty="0"/>
          </a:p>
        </p:txBody>
      </p:sp>
      <p:sp>
        <p:nvSpPr>
          <p:cNvPr id="9" name="Shape 6"/>
          <p:cNvSpPr/>
          <p:nvPr/>
        </p:nvSpPr>
        <p:spPr>
          <a:xfrm>
            <a:off x="960120" y="2286000"/>
            <a:ext cx="4617720" cy="512064"/>
          </a:xfrm>
          <a:prstGeom prst="roundRect">
            <a:avLst>
              <a:gd name="adj" fmla="val 10714"/>
            </a:avLst>
          </a:prstGeom>
          <a:solidFill>
            <a:srgbClr val="FFFFFF"/>
          </a:solidFill>
          <a:ln/>
        </p:spPr>
      </p:sp>
      <p:sp>
        <p:nvSpPr>
          <p:cNvPr id="10" name="Text 7"/>
          <p:cNvSpPr txBox="1"/>
          <p:nvPr/>
        </p:nvSpPr>
        <p:spPr>
          <a:xfrm>
            <a:off x="1234440" y="2286000"/>
            <a:ext cx="4114800" cy="512064"/>
          </a:xfrm>
          <a:prstGeom prst="rect">
            <a:avLst/>
          </a:prstGeom>
          <a:noFill/>
          <a:ln/>
        </p:spPr>
        <p:txBody>
          <a:bodyPr wrap="square" lIns="0" tIns="0" rIns="0" bIns="0" rtlCol="0" anchor="ctr"/>
          <a:lstStyle/>
          <a:p>
            <a:pPr indent="0" marL="0">
              <a:buNone/>
            </a:pPr>
            <a:r>
              <a:rPr lang="en-US" sz="1400" dirty="0">
                <a:solidFill>
                  <a:srgbClr val="3A4A61"/>
                </a:solidFill>
                <a:latin typeface="Arial" pitchFamily="34" charset="0"/>
                <a:ea typeface="Arial" pitchFamily="34" charset="-122"/>
                <a:cs typeface="Arial" pitchFamily="34" charset="-120"/>
              </a:rPr>
              <a:t>商品を作る</a:t>
            </a:r>
            <a:endParaRPr lang="en-US" sz="1400" dirty="0"/>
          </a:p>
        </p:txBody>
      </p:sp>
      <p:sp>
        <p:nvSpPr>
          <p:cNvPr id="11" name="Shape 8"/>
          <p:cNvSpPr/>
          <p:nvPr/>
        </p:nvSpPr>
        <p:spPr>
          <a:xfrm rot="10800000">
            <a:off x="3182112" y="2834640"/>
            <a:ext cx="182880" cy="146304"/>
          </a:xfrm>
          <a:prstGeom prst="triangle">
            <a:avLst/>
          </a:prstGeom>
          <a:solidFill>
            <a:srgbClr val="AFC6E8"/>
          </a:solidFill>
          <a:ln/>
        </p:spPr>
      </p:sp>
      <p:sp>
        <p:nvSpPr>
          <p:cNvPr id="12" name="Shape 9"/>
          <p:cNvSpPr/>
          <p:nvPr/>
        </p:nvSpPr>
        <p:spPr>
          <a:xfrm>
            <a:off x="960120" y="2999232"/>
            <a:ext cx="4617720" cy="512064"/>
          </a:xfrm>
          <a:prstGeom prst="roundRect">
            <a:avLst>
              <a:gd name="adj" fmla="val 10714"/>
            </a:avLst>
          </a:prstGeom>
          <a:solidFill>
            <a:srgbClr val="FFFFFF"/>
          </a:solidFill>
          <a:ln/>
        </p:spPr>
      </p:sp>
      <p:sp>
        <p:nvSpPr>
          <p:cNvPr id="13" name="Text 10"/>
          <p:cNvSpPr txBox="1"/>
          <p:nvPr/>
        </p:nvSpPr>
        <p:spPr>
          <a:xfrm>
            <a:off x="1234440" y="2999232"/>
            <a:ext cx="4114800" cy="512064"/>
          </a:xfrm>
          <a:prstGeom prst="rect">
            <a:avLst/>
          </a:prstGeom>
          <a:noFill/>
          <a:ln/>
        </p:spPr>
        <p:txBody>
          <a:bodyPr wrap="square" lIns="0" tIns="0" rIns="0" bIns="0" rtlCol="0" anchor="ctr"/>
          <a:lstStyle/>
          <a:p>
            <a:pPr indent="0" marL="0">
              <a:buNone/>
            </a:pPr>
            <a:r>
              <a:rPr lang="en-US" sz="1400" dirty="0">
                <a:solidFill>
                  <a:srgbClr val="3A4A61"/>
                </a:solidFill>
                <a:latin typeface="Arial" pitchFamily="34" charset="0"/>
                <a:ea typeface="Arial" pitchFamily="34" charset="-122"/>
                <a:cs typeface="Arial" pitchFamily="34" charset="-120"/>
              </a:rPr>
              <a:t>特徴・スペックを伝える</a:t>
            </a:r>
            <a:endParaRPr lang="en-US" sz="1400" dirty="0"/>
          </a:p>
        </p:txBody>
      </p:sp>
      <p:sp>
        <p:nvSpPr>
          <p:cNvPr id="14" name="Shape 11"/>
          <p:cNvSpPr/>
          <p:nvPr/>
        </p:nvSpPr>
        <p:spPr>
          <a:xfrm rot="10800000">
            <a:off x="3182112" y="3547872"/>
            <a:ext cx="182880" cy="146304"/>
          </a:xfrm>
          <a:prstGeom prst="triangle">
            <a:avLst/>
          </a:prstGeom>
          <a:solidFill>
            <a:srgbClr val="AFC6E8"/>
          </a:solidFill>
          <a:ln/>
        </p:spPr>
      </p:sp>
      <p:sp>
        <p:nvSpPr>
          <p:cNvPr id="15" name="Shape 12"/>
          <p:cNvSpPr/>
          <p:nvPr/>
        </p:nvSpPr>
        <p:spPr>
          <a:xfrm>
            <a:off x="960120" y="3712464"/>
            <a:ext cx="4617720" cy="512064"/>
          </a:xfrm>
          <a:prstGeom prst="roundRect">
            <a:avLst>
              <a:gd name="adj" fmla="val 10714"/>
            </a:avLst>
          </a:prstGeom>
          <a:solidFill>
            <a:srgbClr val="FFFFFF"/>
          </a:solidFill>
          <a:ln/>
        </p:spPr>
      </p:sp>
      <p:sp>
        <p:nvSpPr>
          <p:cNvPr id="16" name="Text 13"/>
          <p:cNvSpPr txBox="1"/>
          <p:nvPr/>
        </p:nvSpPr>
        <p:spPr>
          <a:xfrm>
            <a:off x="1234440" y="3712464"/>
            <a:ext cx="4114800" cy="512064"/>
          </a:xfrm>
          <a:prstGeom prst="rect">
            <a:avLst/>
          </a:prstGeom>
          <a:noFill/>
          <a:ln/>
        </p:spPr>
        <p:txBody>
          <a:bodyPr wrap="square" lIns="0" tIns="0" rIns="0" bIns="0" rtlCol="0" anchor="ctr"/>
          <a:lstStyle/>
          <a:p>
            <a:pPr indent="0" marL="0">
              <a:buNone/>
            </a:pPr>
            <a:r>
              <a:rPr lang="en-US" sz="1400" dirty="0">
                <a:solidFill>
                  <a:srgbClr val="3A4A61"/>
                </a:solidFill>
                <a:latin typeface="Arial" pitchFamily="34" charset="0"/>
                <a:ea typeface="Arial" pitchFamily="34" charset="-122"/>
                <a:cs typeface="Arial" pitchFamily="34" charset="-120"/>
              </a:rPr>
              <a:t>広告で説得する</a:t>
            </a:r>
            <a:endParaRPr lang="en-US" sz="1400" dirty="0"/>
          </a:p>
        </p:txBody>
      </p:sp>
      <p:sp>
        <p:nvSpPr>
          <p:cNvPr id="17" name="Shape 14"/>
          <p:cNvSpPr/>
          <p:nvPr/>
        </p:nvSpPr>
        <p:spPr>
          <a:xfrm rot="10800000">
            <a:off x="3182112" y="4261104"/>
            <a:ext cx="182880" cy="146304"/>
          </a:xfrm>
          <a:prstGeom prst="triangle">
            <a:avLst/>
          </a:prstGeom>
          <a:solidFill>
            <a:srgbClr val="AFC6E8"/>
          </a:solidFill>
          <a:ln/>
        </p:spPr>
      </p:sp>
      <p:sp>
        <p:nvSpPr>
          <p:cNvPr id="18" name="Shape 15"/>
          <p:cNvSpPr/>
          <p:nvPr/>
        </p:nvSpPr>
        <p:spPr>
          <a:xfrm>
            <a:off x="960120" y="4425696"/>
            <a:ext cx="4617720" cy="512064"/>
          </a:xfrm>
          <a:prstGeom prst="roundRect">
            <a:avLst>
              <a:gd name="adj" fmla="val 10714"/>
            </a:avLst>
          </a:prstGeom>
          <a:solidFill>
            <a:srgbClr val="FFFFFF"/>
          </a:solidFill>
          <a:ln/>
        </p:spPr>
      </p:sp>
      <p:sp>
        <p:nvSpPr>
          <p:cNvPr id="19" name="Text 16"/>
          <p:cNvSpPr txBox="1"/>
          <p:nvPr/>
        </p:nvSpPr>
        <p:spPr>
          <a:xfrm>
            <a:off x="1234440" y="4425696"/>
            <a:ext cx="4114800" cy="512064"/>
          </a:xfrm>
          <a:prstGeom prst="rect">
            <a:avLst/>
          </a:prstGeom>
          <a:noFill/>
          <a:ln/>
        </p:spPr>
        <p:txBody>
          <a:bodyPr wrap="square" lIns="0" tIns="0" rIns="0" bIns="0" rtlCol="0" anchor="ctr"/>
          <a:lstStyle/>
          <a:p>
            <a:pPr indent="0" marL="0">
              <a:buNone/>
            </a:pPr>
            <a:r>
              <a:rPr lang="en-US" sz="1400" dirty="0">
                <a:solidFill>
                  <a:srgbClr val="3A4A61"/>
                </a:solidFill>
                <a:latin typeface="Arial" pitchFamily="34" charset="0"/>
                <a:ea typeface="Arial" pitchFamily="34" charset="-122"/>
                <a:cs typeface="Arial" pitchFamily="34" charset="-120"/>
              </a:rPr>
              <a:t>他社と比較される</a:t>
            </a:r>
            <a:endParaRPr lang="en-US" sz="1400" dirty="0"/>
          </a:p>
        </p:txBody>
      </p:sp>
      <p:sp>
        <p:nvSpPr>
          <p:cNvPr id="20" name="Text 17"/>
          <p:cNvSpPr txBox="1"/>
          <p:nvPr/>
        </p:nvSpPr>
        <p:spPr>
          <a:xfrm>
            <a:off x="960120" y="5074920"/>
            <a:ext cx="4617720" cy="365760"/>
          </a:xfrm>
          <a:prstGeom prst="rect">
            <a:avLst/>
          </a:prstGeom>
          <a:noFill/>
          <a:ln/>
        </p:spPr>
        <p:txBody>
          <a:bodyPr wrap="square" lIns="0" tIns="0" rIns="0" bIns="0" rtlCol="0" anchor="ctr"/>
          <a:lstStyle/>
          <a:p>
            <a:pPr indent="0" marL="0">
              <a:buNone/>
            </a:pPr>
            <a:r>
              <a:rPr lang="en-US" sz="1350" b="1" dirty="0">
                <a:solidFill>
                  <a:srgbClr val="BF0000"/>
                </a:solidFill>
                <a:latin typeface="Arial" pitchFamily="34" charset="0"/>
                <a:ea typeface="Arial" pitchFamily="34" charset="-122"/>
                <a:cs typeface="Arial" pitchFamily="34" charset="-120"/>
              </a:rPr>
              <a:t>価格と広告費の勝負になる</a:t>
            </a:r>
            <a:endParaRPr lang="en-US" sz="1350" dirty="0"/>
          </a:p>
        </p:txBody>
      </p:sp>
      <p:sp>
        <p:nvSpPr>
          <p:cNvPr id="21" name="Shape 18"/>
          <p:cNvSpPr/>
          <p:nvPr/>
        </p:nvSpPr>
        <p:spPr>
          <a:xfrm>
            <a:off x="6245352" y="1572768"/>
            <a:ext cx="5349240" cy="3977640"/>
          </a:xfrm>
          <a:prstGeom prst="roundRect">
            <a:avLst>
              <a:gd name="adj" fmla="val 1839"/>
            </a:avLst>
          </a:prstGeom>
          <a:solidFill>
            <a:srgbClr val="E8F0FC"/>
          </a:solidFill>
          <a:ln/>
        </p:spPr>
      </p:sp>
      <p:sp>
        <p:nvSpPr>
          <p:cNvPr id="22" name="Text 19"/>
          <p:cNvSpPr txBox="1"/>
          <p:nvPr/>
        </p:nvSpPr>
        <p:spPr>
          <a:xfrm>
            <a:off x="6611112" y="1783080"/>
            <a:ext cx="4572000" cy="365760"/>
          </a:xfrm>
          <a:prstGeom prst="rect">
            <a:avLst/>
          </a:prstGeom>
          <a:noFill/>
          <a:ln/>
        </p:spPr>
        <p:txBody>
          <a:bodyPr wrap="square" lIns="0" tIns="0" rIns="0" bIns="0" rtlCol="0" anchor="ctr"/>
          <a:lstStyle/>
          <a:p>
            <a:pPr indent="0" marL="0">
              <a:buNone/>
            </a:pPr>
            <a:r>
              <a:rPr lang="en-US" sz="1500" b="1" dirty="0">
                <a:solidFill>
                  <a:srgbClr val="1E6FE8"/>
                </a:solidFill>
                <a:latin typeface="Arial" pitchFamily="34" charset="0"/>
                <a:ea typeface="Arial" pitchFamily="34" charset="-122"/>
                <a:cs typeface="Arial" pitchFamily="34" charset="-120"/>
              </a:rPr>
              <a:t>課題起点（これから）</a:t>
            </a:r>
            <a:endParaRPr lang="en-US" sz="1500" dirty="0"/>
          </a:p>
        </p:txBody>
      </p:sp>
      <p:sp>
        <p:nvSpPr>
          <p:cNvPr id="23" name="Shape 20"/>
          <p:cNvSpPr/>
          <p:nvPr/>
        </p:nvSpPr>
        <p:spPr>
          <a:xfrm>
            <a:off x="6611112" y="2286000"/>
            <a:ext cx="4617720" cy="512064"/>
          </a:xfrm>
          <a:prstGeom prst="roundRect">
            <a:avLst>
              <a:gd name="adj" fmla="val 10714"/>
            </a:avLst>
          </a:prstGeom>
          <a:solidFill>
            <a:srgbClr val="FFFFFF"/>
          </a:solidFill>
          <a:ln/>
        </p:spPr>
      </p:sp>
      <p:sp>
        <p:nvSpPr>
          <p:cNvPr id="24" name="Text 21"/>
          <p:cNvSpPr txBox="1"/>
          <p:nvPr/>
        </p:nvSpPr>
        <p:spPr>
          <a:xfrm>
            <a:off x="6885432" y="2286000"/>
            <a:ext cx="4114800" cy="512064"/>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課題を見つける</a:t>
            </a:r>
            <a:endParaRPr lang="en-US" sz="1400" dirty="0"/>
          </a:p>
        </p:txBody>
      </p:sp>
      <p:sp>
        <p:nvSpPr>
          <p:cNvPr id="25" name="Shape 22"/>
          <p:cNvSpPr/>
          <p:nvPr/>
        </p:nvSpPr>
        <p:spPr>
          <a:xfrm rot="10800000">
            <a:off x="8833104" y="2834640"/>
            <a:ext cx="182880" cy="146304"/>
          </a:xfrm>
          <a:prstGeom prst="triangle">
            <a:avLst/>
          </a:prstGeom>
          <a:solidFill>
            <a:srgbClr val="1E6FE8"/>
          </a:solidFill>
          <a:ln/>
        </p:spPr>
      </p:sp>
      <p:sp>
        <p:nvSpPr>
          <p:cNvPr id="26" name="Shape 23"/>
          <p:cNvSpPr/>
          <p:nvPr/>
        </p:nvSpPr>
        <p:spPr>
          <a:xfrm>
            <a:off x="6611112" y="2999232"/>
            <a:ext cx="4617720" cy="512064"/>
          </a:xfrm>
          <a:prstGeom prst="roundRect">
            <a:avLst>
              <a:gd name="adj" fmla="val 10714"/>
            </a:avLst>
          </a:prstGeom>
          <a:solidFill>
            <a:srgbClr val="FFFFFF"/>
          </a:solidFill>
          <a:ln/>
        </p:spPr>
      </p:sp>
      <p:sp>
        <p:nvSpPr>
          <p:cNvPr id="27" name="Text 24"/>
          <p:cNvSpPr txBox="1"/>
          <p:nvPr/>
        </p:nvSpPr>
        <p:spPr>
          <a:xfrm>
            <a:off x="6885432" y="2999232"/>
            <a:ext cx="4114800" cy="512064"/>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課題から商品を設計する</a:t>
            </a:r>
            <a:endParaRPr lang="en-US" sz="1400" dirty="0"/>
          </a:p>
        </p:txBody>
      </p:sp>
      <p:sp>
        <p:nvSpPr>
          <p:cNvPr id="28" name="Shape 25"/>
          <p:cNvSpPr/>
          <p:nvPr/>
        </p:nvSpPr>
        <p:spPr>
          <a:xfrm rot="10800000">
            <a:off x="8833104" y="3547872"/>
            <a:ext cx="182880" cy="146304"/>
          </a:xfrm>
          <a:prstGeom prst="triangle">
            <a:avLst/>
          </a:prstGeom>
          <a:solidFill>
            <a:srgbClr val="1E6FE8"/>
          </a:solidFill>
          <a:ln/>
        </p:spPr>
      </p:sp>
      <p:sp>
        <p:nvSpPr>
          <p:cNvPr id="29" name="Shape 26"/>
          <p:cNvSpPr/>
          <p:nvPr/>
        </p:nvSpPr>
        <p:spPr>
          <a:xfrm>
            <a:off x="6611112" y="3712464"/>
            <a:ext cx="4617720" cy="512064"/>
          </a:xfrm>
          <a:prstGeom prst="roundRect">
            <a:avLst>
              <a:gd name="adj" fmla="val 10714"/>
            </a:avLst>
          </a:prstGeom>
          <a:solidFill>
            <a:srgbClr val="FFFFFF"/>
          </a:solidFill>
          <a:ln/>
        </p:spPr>
      </p:sp>
      <p:sp>
        <p:nvSpPr>
          <p:cNvPr id="30" name="Text 27"/>
          <p:cNvSpPr txBox="1"/>
          <p:nvPr/>
        </p:nvSpPr>
        <p:spPr>
          <a:xfrm>
            <a:off x="6885432" y="3712464"/>
            <a:ext cx="4114800" cy="512064"/>
          </a:xfrm>
          <a:prstGeom prst="rect">
            <a:avLst/>
          </a:prstGeom>
          <a:noFill/>
          <a:ln/>
        </p:spPr>
        <p:txBody>
          <a:bodyPr wrap="square" lIns="0" tIns="0" rIns="0" bIns="0" rtlCol="0" anchor="ctr"/>
          <a:lstStyle/>
          <a:p>
            <a:pPr indent="0" marL="0">
              <a:buNone/>
            </a:pPr>
            <a:r>
              <a:rPr lang="en-US" sz="1400" b="1" dirty="0">
                <a:solidFill>
                  <a:srgbClr val="0E1B2C"/>
                </a:solidFill>
                <a:latin typeface="Arial" pitchFamily="34" charset="0"/>
                <a:ea typeface="Arial" pitchFamily="34" charset="-122"/>
                <a:cs typeface="Arial" pitchFamily="34" charset="-120"/>
              </a:rPr>
              <a:t>「これが欲しかった」と言われる</a:t>
            </a:r>
            <a:endParaRPr lang="en-US" sz="1400" dirty="0"/>
          </a:p>
        </p:txBody>
      </p:sp>
      <p:sp>
        <p:nvSpPr>
          <p:cNvPr id="31" name="Shape 28"/>
          <p:cNvSpPr/>
          <p:nvPr/>
        </p:nvSpPr>
        <p:spPr>
          <a:xfrm rot="10800000">
            <a:off x="8833104" y="4261104"/>
            <a:ext cx="182880" cy="146304"/>
          </a:xfrm>
          <a:prstGeom prst="triangle">
            <a:avLst/>
          </a:prstGeom>
          <a:solidFill>
            <a:srgbClr val="1E6FE8"/>
          </a:solidFill>
          <a:ln/>
        </p:spPr>
      </p:sp>
      <p:sp>
        <p:nvSpPr>
          <p:cNvPr id="32" name="Shape 29"/>
          <p:cNvSpPr/>
          <p:nvPr/>
        </p:nvSpPr>
        <p:spPr>
          <a:xfrm>
            <a:off x="6611112" y="4425696"/>
            <a:ext cx="4617720" cy="512064"/>
          </a:xfrm>
          <a:prstGeom prst="roundRect">
            <a:avLst>
              <a:gd name="adj" fmla="val 10714"/>
            </a:avLst>
          </a:prstGeom>
          <a:solidFill>
            <a:srgbClr val="FFFFFF"/>
          </a:solidFill>
          <a:ln/>
        </p:spPr>
      </p:sp>
      <p:sp>
        <p:nvSpPr>
          <p:cNvPr id="33" name="Text 30"/>
          <p:cNvSpPr txBox="1"/>
          <p:nvPr/>
        </p:nvSpPr>
        <p:spPr>
          <a:xfrm>
            <a:off x="6885432" y="4425696"/>
            <a:ext cx="4114800" cy="512064"/>
          </a:xfrm>
          <a:prstGeom prst="rect">
            <a:avLst/>
          </a:prstGeom>
          <a:noFill/>
          <a:ln/>
        </p:spPr>
        <p:txBody>
          <a:bodyPr wrap="square" lIns="0" tIns="0" rIns="0" bIns="0" rtlCol="0" anchor="ctr"/>
          <a:lstStyle/>
          <a:p>
            <a:pPr indent="0" marL="0">
              <a:buNone/>
            </a:pPr>
            <a:r>
              <a:rPr lang="en-US" sz="1400" dirty="0">
                <a:solidFill>
                  <a:srgbClr val="0E1B2C"/>
                </a:solidFill>
                <a:latin typeface="Arial" pitchFamily="34" charset="0"/>
                <a:ea typeface="Arial" pitchFamily="34" charset="-122"/>
                <a:cs typeface="Arial" pitchFamily="34" charset="-120"/>
              </a:rPr>
              <a:t>指名で選ばれる</a:t>
            </a:r>
            <a:endParaRPr lang="en-US" sz="1400" dirty="0"/>
          </a:p>
        </p:txBody>
      </p:sp>
      <p:sp>
        <p:nvSpPr>
          <p:cNvPr id="34" name="Text 31"/>
          <p:cNvSpPr txBox="1"/>
          <p:nvPr/>
        </p:nvSpPr>
        <p:spPr>
          <a:xfrm>
            <a:off x="6611112" y="5074920"/>
            <a:ext cx="4617720" cy="365760"/>
          </a:xfrm>
          <a:prstGeom prst="rect">
            <a:avLst/>
          </a:prstGeom>
          <a:noFill/>
          <a:ln/>
        </p:spPr>
        <p:txBody>
          <a:bodyPr wrap="square" lIns="0" tIns="0" rIns="0" bIns="0" rtlCol="0" anchor="ctr"/>
          <a:lstStyle/>
          <a:p>
            <a:pPr indent="0" marL="0">
              <a:buNone/>
            </a:pPr>
            <a:r>
              <a:rPr lang="en-US" sz="1350" b="1" dirty="0">
                <a:solidFill>
                  <a:srgbClr val="1E6FE8"/>
                </a:solidFill>
                <a:latin typeface="Arial" pitchFamily="34" charset="0"/>
                <a:ea typeface="Arial" pitchFamily="34" charset="-122"/>
                <a:cs typeface="Arial" pitchFamily="34" charset="-120"/>
              </a:rPr>
              <a:t>説得コストが下がり、利益が残る</a:t>
            </a:r>
            <a:endParaRPr lang="en-US" sz="1350" dirty="0"/>
          </a:p>
        </p:txBody>
      </p:sp>
      <p:sp>
        <p:nvSpPr>
          <p:cNvPr id="35" name="Shape 32"/>
          <p:cNvSpPr/>
          <p:nvPr/>
        </p:nvSpPr>
        <p:spPr>
          <a:xfrm>
            <a:off x="594360" y="5715000"/>
            <a:ext cx="11000232" cy="621792"/>
          </a:xfrm>
          <a:prstGeom prst="roundRect">
            <a:avLst>
              <a:gd name="adj" fmla="val 13235"/>
            </a:avLst>
          </a:prstGeom>
          <a:solidFill>
            <a:srgbClr val="E8F0FC"/>
          </a:solidFill>
          <a:ln/>
        </p:spPr>
      </p:sp>
      <p:sp>
        <p:nvSpPr>
          <p:cNvPr id="36" name="Text 33"/>
          <p:cNvSpPr txBox="1"/>
          <p:nvPr/>
        </p:nvSpPr>
        <p:spPr>
          <a:xfrm>
            <a:off x="960120" y="5715000"/>
            <a:ext cx="10268712" cy="621792"/>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要は　</a:t>
            </a:r>
            <a:pPr algn="l" indent="0" marL="0">
              <a:buNone/>
            </a:pPr>
            <a:r>
              <a:rPr lang="en-US" sz="1700" b="1" dirty="0">
                <a:solidFill>
                  <a:srgbClr val="0E1B2C"/>
                </a:solidFill>
                <a:latin typeface="Arial" pitchFamily="34" charset="0"/>
                <a:ea typeface="Arial" pitchFamily="34" charset="-122"/>
                <a:cs typeface="Arial" pitchFamily="34" charset="-120"/>
              </a:rPr>
              <a:t>マーケティングは「商品を作った後」ではなく、「商品を作る前」から始まる。</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07</a:t>
            </a:r>
            <a:endParaRPr lang="en-US" sz="850" dirty="0"/>
          </a:p>
        </p:txBody>
      </p:sp>
      <p:sp>
        <p:nvSpPr>
          <p:cNvPr id="5" name="Text 2"/>
          <p:cNvSpPr txBox="1"/>
          <p:nvPr/>
        </p:nvSpPr>
        <p:spPr>
          <a:xfrm>
            <a:off x="594360" y="1828800"/>
            <a:ext cx="3200400" cy="1463040"/>
          </a:xfrm>
          <a:prstGeom prst="rect">
            <a:avLst/>
          </a:prstGeom>
          <a:noFill/>
          <a:ln/>
        </p:spPr>
        <p:txBody>
          <a:bodyPr wrap="square" lIns="0" tIns="0" rIns="0" bIns="0" rtlCol="0" anchor="ctr"/>
          <a:lstStyle/>
          <a:p>
            <a:pPr indent="0" marL="0">
              <a:buNone/>
            </a:pPr>
            <a:r>
              <a:rPr lang="en-US" sz="9600" b="1" dirty="0">
                <a:solidFill>
                  <a:srgbClr val="1E6FE8"/>
                </a:solidFill>
                <a:latin typeface="Arial" pitchFamily="34" charset="0"/>
                <a:ea typeface="Arial" pitchFamily="34" charset="-122"/>
                <a:cs typeface="Arial" pitchFamily="34" charset="-120"/>
              </a:rPr>
              <a:t>02</a:t>
            </a:r>
            <a:endParaRPr lang="en-US" sz="9600" dirty="0"/>
          </a:p>
        </p:txBody>
      </p:sp>
      <p:sp>
        <p:nvSpPr>
          <p:cNvPr id="6" name="Text 3"/>
          <p:cNvSpPr txBox="1"/>
          <p:nvPr/>
        </p:nvSpPr>
        <p:spPr>
          <a:xfrm>
            <a:off x="594360" y="3383280"/>
            <a:ext cx="1078992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「これが欲しかった」の正体</a:t>
            </a:r>
            <a:endParaRPr lang="en-US" sz="3400" dirty="0"/>
          </a:p>
        </p:txBody>
      </p:sp>
      <p:sp>
        <p:nvSpPr>
          <p:cNvPr id="7" name="Text 4"/>
          <p:cNvSpPr txBox="1"/>
          <p:nvPr/>
        </p:nvSpPr>
        <p:spPr>
          <a:xfrm>
            <a:off x="594360" y="4206240"/>
            <a:ext cx="10515600" cy="411480"/>
          </a:xfrm>
          <a:prstGeom prst="rect">
            <a:avLst/>
          </a:prstGeom>
          <a:noFill/>
          <a:ln/>
        </p:spPr>
        <p:txBody>
          <a:bodyPr wrap="square" lIns="0" tIns="0" rIns="0" bIns="0" rtlCol="0" anchor="ctr"/>
          <a:lstStyle/>
          <a:p>
            <a:pPr indent="0" marL="0">
              <a:buNone/>
            </a:pPr>
            <a:r>
              <a:rPr lang="en-US" sz="1500" dirty="0">
                <a:solidFill>
                  <a:srgbClr val="AFC6E8"/>
                </a:solidFill>
                <a:latin typeface="Arial" pitchFamily="34" charset="0"/>
                <a:ea typeface="Arial" pitchFamily="34" charset="-122"/>
                <a:cs typeface="Arial" pitchFamily="34" charset="-120"/>
              </a:rPr>
              <a:t>狙うのは、大きな市場ではありません。</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08</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THE DIFFERENCE</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「良い商品」と「欲しかった商品」は違う</a:t>
            </a:r>
            <a:endParaRPr lang="en-US" sz="2600" dirty="0"/>
          </a:p>
        </p:txBody>
      </p:sp>
      <p:sp>
        <p:nvSpPr>
          <p:cNvPr id="7" name="Shape 4"/>
          <p:cNvSpPr/>
          <p:nvPr/>
        </p:nvSpPr>
        <p:spPr>
          <a:xfrm>
            <a:off x="594360" y="1572768"/>
            <a:ext cx="5349240" cy="3977640"/>
          </a:xfrm>
          <a:prstGeom prst="roundRect">
            <a:avLst>
              <a:gd name="adj" fmla="val 1839"/>
            </a:avLst>
          </a:prstGeom>
          <a:solidFill>
            <a:srgbClr val="F2F6FD"/>
          </a:solidFill>
          <a:ln/>
        </p:spPr>
      </p:sp>
      <p:sp>
        <p:nvSpPr>
          <p:cNvPr id="8" name="Shape 5"/>
          <p:cNvSpPr/>
          <p:nvPr/>
        </p:nvSpPr>
        <p:spPr>
          <a:xfrm>
            <a:off x="960120" y="1810512"/>
            <a:ext cx="1874520" cy="384048"/>
          </a:xfrm>
          <a:prstGeom prst="roundRect">
            <a:avLst>
              <a:gd name="adj" fmla="val 21429"/>
            </a:avLst>
          </a:prstGeom>
          <a:solidFill>
            <a:srgbClr val="7A8AA3"/>
          </a:solidFill>
          <a:ln/>
        </p:spPr>
      </p:sp>
      <p:sp>
        <p:nvSpPr>
          <p:cNvPr id="9" name="Text 6"/>
          <p:cNvSpPr txBox="1"/>
          <p:nvPr/>
        </p:nvSpPr>
        <p:spPr>
          <a:xfrm>
            <a:off x="960120" y="1810512"/>
            <a:ext cx="18745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良い商品</a:t>
            </a:r>
            <a:endParaRPr lang="en-US" sz="1250" dirty="0"/>
          </a:p>
        </p:txBody>
      </p:sp>
      <p:sp>
        <p:nvSpPr>
          <p:cNvPr id="10" name="Shape 7"/>
          <p:cNvSpPr/>
          <p:nvPr/>
        </p:nvSpPr>
        <p:spPr>
          <a:xfrm>
            <a:off x="960120" y="2395728"/>
            <a:ext cx="4617720" cy="1417320"/>
          </a:xfrm>
          <a:prstGeom prst="roundRect">
            <a:avLst>
              <a:gd name="adj" fmla="val 3871"/>
            </a:avLst>
          </a:prstGeom>
          <a:solidFill>
            <a:srgbClr val="FFFFFF"/>
          </a:solidFill>
          <a:ln/>
        </p:spPr>
      </p:sp>
      <p:sp>
        <p:nvSpPr>
          <p:cNvPr id="11" name="Text 8"/>
          <p:cNvSpPr txBox="1"/>
          <p:nvPr/>
        </p:nvSpPr>
        <p:spPr>
          <a:xfrm>
            <a:off x="1188720" y="2395728"/>
            <a:ext cx="4160520" cy="1417320"/>
          </a:xfrm>
          <a:prstGeom prst="rect">
            <a:avLst/>
          </a:prstGeom>
          <a:noFill/>
          <a:ln/>
        </p:spPr>
        <p:txBody>
          <a:bodyPr wrap="square" lIns="0" tIns="0" rIns="0" bIns="0" rtlCol="0" anchor="ctr"/>
          <a:lstStyle/>
          <a:p>
            <a:pPr indent="0" marL="0">
              <a:lnSpc>
                <a:spcPts val="3900"/>
              </a:lnSpc>
              <a:buNone/>
            </a:pPr>
            <a:r>
              <a:rPr lang="en-US" sz="2600" b="1" dirty="0">
                <a:solidFill>
                  <a:srgbClr val="7A8AA3"/>
                </a:solidFill>
                <a:latin typeface="Arial" pitchFamily="34" charset="0"/>
                <a:ea typeface="Arial" pitchFamily="34" charset="-122"/>
                <a:cs typeface="Arial" pitchFamily="34" charset="-120"/>
              </a:rPr>
              <a:t>高品質な化粧水</a:t>
            </a:r>
            <a:endParaRPr lang="en-US" sz="2600" dirty="0"/>
          </a:p>
        </p:txBody>
      </p:sp>
      <p:sp>
        <p:nvSpPr>
          <p:cNvPr id="12" name="Text 9"/>
          <p:cNvSpPr txBox="1"/>
          <p:nvPr/>
        </p:nvSpPr>
        <p:spPr>
          <a:xfrm>
            <a:off x="960120" y="3977640"/>
            <a:ext cx="4617720" cy="274320"/>
          </a:xfrm>
          <a:prstGeom prst="rect">
            <a:avLst/>
          </a:prstGeom>
          <a:noFill/>
          <a:ln/>
        </p:spPr>
        <p:txBody>
          <a:bodyPr wrap="square" lIns="0" tIns="0" rIns="0" bIns="0" rtlCol="0" anchor="ctr"/>
          <a:lstStyle/>
          <a:p>
            <a:pPr indent="0" marL="0">
              <a:buNone/>
            </a:pPr>
            <a:r>
              <a:rPr lang="en-US" sz="1100" dirty="0">
                <a:solidFill>
                  <a:srgbClr val="7A8AA3"/>
                </a:solidFill>
                <a:latin typeface="Arial" pitchFamily="34" charset="0"/>
                <a:ea typeface="Arial" pitchFamily="34" charset="-122"/>
                <a:cs typeface="Arial" pitchFamily="34" charset="-120"/>
              </a:rPr>
              <a:t>ユーザーの反応</a:t>
            </a:r>
            <a:endParaRPr lang="en-US" sz="1100" dirty="0"/>
          </a:p>
        </p:txBody>
      </p:sp>
      <p:sp>
        <p:nvSpPr>
          <p:cNvPr id="13" name="Text 10"/>
          <p:cNvSpPr txBox="1"/>
          <p:nvPr/>
        </p:nvSpPr>
        <p:spPr>
          <a:xfrm>
            <a:off x="960120" y="4279392"/>
            <a:ext cx="4617720" cy="502920"/>
          </a:xfrm>
          <a:prstGeom prst="rect">
            <a:avLst/>
          </a:prstGeom>
          <a:noFill/>
          <a:ln/>
        </p:spPr>
        <p:txBody>
          <a:bodyPr wrap="square" lIns="0" tIns="0" rIns="0" bIns="0" rtlCol="0" anchor="ctr"/>
          <a:lstStyle/>
          <a:p>
            <a:pPr indent="0" marL="0">
              <a:buNone/>
            </a:pPr>
            <a:r>
              <a:rPr lang="en-US" sz="1900" b="1" dirty="0">
                <a:solidFill>
                  <a:srgbClr val="7A8AA3"/>
                </a:solidFill>
                <a:latin typeface="Arial" pitchFamily="34" charset="0"/>
                <a:ea typeface="Arial" pitchFamily="34" charset="-122"/>
                <a:cs typeface="Arial" pitchFamily="34" charset="-120"/>
              </a:rPr>
              <a:t>「良さそう」</a:t>
            </a:r>
            <a:endParaRPr lang="en-US" sz="1900" dirty="0"/>
          </a:p>
        </p:txBody>
      </p:sp>
      <p:sp>
        <p:nvSpPr>
          <p:cNvPr id="14" name="Text 11"/>
          <p:cNvSpPr txBox="1"/>
          <p:nvPr/>
        </p:nvSpPr>
        <p:spPr>
          <a:xfrm>
            <a:off x="960120" y="4892040"/>
            <a:ext cx="4617720" cy="41148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同じことを言う商品が、市場に大量にある。</a:t>
            </a:r>
            <a:endParaRPr lang="en-US" sz="1200" dirty="0"/>
          </a:p>
        </p:txBody>
      </p:sp>
      <p:sp>
        <p:nvSpPr>
          <p:cNvPr id="15" name="Shape 12"/>
          <p:cNvSpPr/>
          <p:nvPr/>
        </p:nvSpPr>
        <p:spPr>
          <a:xfrm>
            <a:off x="6245352" y="1572768"/>
            <a:ext cx="5349240" cy="3977640"/>
          </a:xfrm>
          <a:prstGeom prst="roundRect">
            <a:avLst>
              <a:gd name="adj" fmla="val 1839"/>
            </a:avLst>
          </a:prstGeom>
          <a:solidFill>
            <a:srgbClr val="E8F0FC"/>
          </a:solidFill>
          <a:ln/>
        </p:spPr>
      </p:sp>
      <p:sp>
        <p:nvSpPr>
          <p:cNvPr id="16" name="Shape 13"/>
          <p:cNvSpPr/>
          <p:nvPr/>
        </p:nvSpPr>
        <p:spPr>
          <a:xfrm>
            <a:off x="6611112" y="1810512"/>
            <a:ext cx="1874520" cy="384048"/>
          </a:xfrm>
          <a:prstGeom prst="roundRect">
            <a:avLst>
              <a:gd name="adj" fmla="val 21429"/>
            </a:avLst>
          </a:prstGeom>
          <a:solidFill>
            <a:srgbClr val="1E6FE8"/>
          </a:solidFill>
          <a:ln/>
        </p:spPr>
      </p:sp>
      <p:sp>
        <p:nvSpPr>
          <p:cNvPr id="17" name="Text 14"/>
          <p:cNvSpPr txBox="1"/>
          <p:nvPr/>
        </p:nvSpPr>
        <p:spPr>
          <a:xfrm>
            <a:off x="6611112" y="1810512"/>
            <a:ext cx="18745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欲しかった商品</a:t>
            </a:r>
            <a:endParaRPr lang="en-US" sz="1250" dirty="0"/>
          </a:p>
        </p:txBody>
      </p:sp>
      <p:sp>
        <p:nvSpPr>
          <p:cNvPr id="18" name="Shape 15"/>
          <p:cNvSpPr/>
          <p:nvPr/>
        </p:nvSpPr>
        <p:spPr>
          <a:xfrm>
            <a:off x="6611112" y="2395728"/>
            <a:ext cx="4617720" cy="1417320"/>
          </a:xfrm>
          <a:prstGeom prst="roundRect">
            <a:avLst>
              <a:gd name="adj" fmla="val 3871"/>
            </a:avLst>
          </a:prstGeom>
          <a:solidFill>
            <a:srgbClr val="FFFFFF"/>
          </a:solidFill>
          <a:ln/>
        </p:spPr>
      </p:sp>
      <p:sp>
        <p:nvSpPr>
          <p:cNvPr id="19" name="Text 16"/>
          <p:cNvSpPr txBox="1"/>
          <p:nvPr/>
        </p:nvSpPr>
        <p:spPr>
          <a:xfrm>
            <a:off x="6839712" y="2395728"/>
            <a:ext cx="4160520" cy="1417320"/>
          </a:xfrm>
          <a:prstGeom prst="rect">
            <a:avLst/>
          </a:prstGeom>
          <a:noFill/>
          <a:ln/>
        </p:spPr>
        <p:txBody>
          <a:bodyPr wrap="square" lIns="0" tIns="0" rIns="0" bIns="0" rtlCol="0" anchor="ctr"/>
          <a:lstStyle/>
          <a:p>
            <a:pPr indent="0" marL="0">
              <a:lnSpc>
                <a:spcPts val="2550"/>
              </a:lnSpc>
              <a:buNone/>
            </a:pPr>
            <a:r>
              <a:rPr lang="en-US" sz="1700" b="1" dirty="0">
                <a:solidFill>
                  <a:srgbClr val="0E1B2C"/>
                </a:solidFill>
                <a:latin typeface="Arial" pitchFamily="34" charset="0"/>
                <a:ea typeface="Arial" pitchFamily="34" charset="-122"/>
                <a:cs typeface="Arial" pitchFamily="34" charset="-120"/>
              </a:rPr>
              <a:t>肌が弱くて何を使ってもヒリヒリし、</a:t>
            </a:r>
            <a:endParaRPr lang="en-US" sz="1700" dirty="0"/>
          </a:p>
          <a:p>
            <a:pPr indent="0" marL="0">
              <a:lnSpc>
                <a:spcPts val="2550"/>
              </a:lnSpc>
              <a:buNone/>
            </a:pPr>
            <a:r>
              <a:rPr lang="en-US" sz="1700" b="1" dirty="0">
                <a:solidFill>
                  <a:srgbClr val="0E1B2C"/>
                </a:solidFill>
                <a:latin typeface="Arial" pitchFamily="34" charset="0"/>
                <a:ea typeface="Arial" pitchFamily="34" charset="-122"/>
                <a:cs typeface="Arial" pitchFamily="34" charset="-120"/>
              </a:rPr>
              <a:t>スキンケア選びを諦めていた人のための化粧水</a:t>
            </a:r>
            <a:endParaRPr lang="en-US" sz="1700" dirty="0"/>
          </a:p>
        </p:txBody>
      </p:sp>
      <p:sp>
        <p:nvSpPr>
          <p:cNvPr id="20" name="Text 17"/>
          <p:cNvSpPr txBox="1"/>
          <p:nvPr/>
        </p:nvSpPr>
        <p:spPr>
          <a:xfrm>
            <a:off x="6611112" y="3977640"/>
            <a:ext cx="4617720" cy="274320"/>
          </a:xfrm>
          <a:prstGeom prst="rect">
            <a:avLst/>
          </a:prstGeom>
          <a:noFill/>
          <a:ln/>
        </p:spPr>
        <p:txBody>
          <a:bodyPr wrap="square" lIns="0" tIns="0" rIns="0" bIns="0" rtlCol="0" anchor="ctr"/>
          <a:lstStyle/>
          <a:p>
            <a:pPr indent="0" marL="0">
              <a:buNone/>
            </a:pPr>
            <a:r>
              <a:rPr lang="en-US" sz="1100" dirty="0">
                <a:solidFill>
                  <a:srgbClr val="7A8AA3"/>
                </a:solidFill>
                <a:latin typeface="Arial" pitchFamily="34" charset="0"/>
                <a:ea typeface="Arial" pitchFamily="34" charset="-122"/>
                <a:cs typeface="Arial" pitchFamily="34" charset="-120"/>
              </a:rPr>
              <a:t>ユーザーの反応</a:t>
            </a:r>
            <a:endParaRPr lang="en-US" sz="1100" dirty="0"/>
          </a:p>
        </p:txBody>
      </p:sp>
      <p:sp>
        <p:nvSpPr>
          <p:cNvPr id="21" name="Text 18"/>
          <p:cNvSpPr txBox="1"/>
          <p:nvPr/>
        </p:nvSpPr>
        <p:spPr>
          <a:xfrm>
            <a:off x="6611112" y="4279392"/>
            <a:ext cx="4617720" cy="502920"/>
          </a:xfrm>
          <a:prstGeom prst="rect">
            <a:avLst/>
          </a:prstGeom>
          <a:noFill/>
          <a:ln/>
        </p:spPr>
        <p:txBody>
          <a:bodyPr wrap="square" lIns="0" tIns="0" rIns="0" bIns="0" rtlCol="0" anchor="ctr"/>
          <a:lstStyle/>
          <a:p>
            <a:pPr indent="0" marL="0">
              <a:buNone/>
            </a:pPr>
            <a:r>
              <a:rPr lang="en-US" sz="1900" b="1" dirty="0">
                <a:solidFill>
                  <a:srgbClr val="1E6FE8"/>
                </a:solidFill>
                <a:latin typeface="Arial" pitchFamily="34" charset="0"/>
                <a:ea typeface="Arial" pitchFamily="34" charset="-122"/>
                <a:cs typeface="Arial" pitchFamily="34" charset="-120"/>
              </a:rPr>
              <a:t>「これ、私のための商品じゃん」</a:t>
            </a:r>
            <a:endParaRPr lang="en-US" sz="1900" dirty="0"/>
          </a:p>
        </p:txBody>
      </p:sp>
      <p:sp>
        <p:nvSpPr>
          <p:cNvPr id="22" name="Text 19"/>
          <p:cNvSpPr txBox="1"/>
          <p:nvPr/>
        </p:nvSpPr>
        <p:spPr>
          <a:xfrm>
            <a:off x="6611112" y="4892040"/>
            <a:ext cx="4617720" cy="41148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同じことを言っている商品が、他にない。</a:t>
            </a:r>
            <a:endParaRPr lang="en-US" sz="1200" dirty="0"/>
          </a:p>
        </p:txBody>
      </p:sp>
      <p:sp>
        <p:nvSpPr>
          <p:cNvPr id="23" name="Shape 20"/>
          <p:cNvSpPr/>
          <p:nvPr/>
        </p:nvSpPr>
        <p:spPr>
          <a:xfrm>
            <a:off x="594360" y="5715000"/>
            <a:ext cx="11000232" cy="621792"/>
          </a:xfrm>
          <a:prstGeom prst="roundRect">
            <a:avLst>
              <a:gd name="adj" fmla="val 13235"/>
            </a:avLst>
          </a:prstGeom>
          <a:solidFill>
            <a:srgbClr val="E8F0FC"/>
          </a:solidFill>
          <a:ln/>
        </p:spPr>
      </p:sp>
      <p:sp>
        <p:nvSpPr>
          <p:cNvPr id="24" name="Text 21"/>
          <p:cNvSpPr txBox="1"/>
          <p:nvPr/>
        </p:nvSpPr>
        <p:spPr>
          <a:xfrm>
            <a:off x="960120" y="5715000"/>
            <a:ext cx="10268712" cy="621792"/>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違いは　</a:t>
            </a:r>
            <a:pPr algn="l" indent="0" marL="0">
              <a:buNone/>
            </a:pPr>
            <a:r>
              <a:rPr lang="en-US" sz="1700" b="1" dirty="0">
                <a:solidFill>
                  <a:srgbClr val="0E1B2C"/>
                </a:solidFill>
                <a:latin typeface="Arial" pitchFamily="34" charset="0"/>
                <a:ea typeface="Arial" pitchFamily="34" charset="-122"/>
                <a:cs typeface="Arial" pitchFamily="34" charset="-120"/>
              </a:rPr>
              <a:t>スペックではなく「誰の、どんな未解決課題を解決するのか」。</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09</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NARROW DOWN</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最初から大きな市場を狙わない</a:t>
            </a:r>
            <a:endParaRPr lang="en-US" sz="2600" dirty="0"/>
          </a:p>
        </p:txBody>
      </p:sp>
      <p:sp>
        <p:nvSpPr>
          <p:cNvPr id="7" name="Text 4"/>
          <p:cNvSpPr txBox="1"/>
          <p:nvPr/>
        </p:nvSpPr>
        <p:spPr>
          <a:xfrm>
            <a:off x="594360" y="1463040"/>
            <a:ext cx="10972800" cy="365760"/>
          </a:xfrm>
          <a:prstGeom prst="rect">
            <a:avLst/>
          </a:prstGeom>
          <a:noFill/>
          <a:ln/>
        </p:spPr>
        <p:txBody>
          <a:bodyPr wrap="square" lIns="0" tIns="0" rIns="0" bIns="0" rtlCol="0" anchor="ctr"/>
          <a:lstStyle/>
          <a:p>
            <a:pPr indent="0" marL="0">
              <a:buNone/>
            </a:pPr>
            <a:r>
              <a:rPr lang="en-US" sz="1350" dirty="0">
                <a:solidFill>
                  <a:srgbClr val="3A4A61"/>
                </a:solidFill>
                <a:latin typeface="Arial" pitchFamily="34" charset="0"/>
                <a:ea typeface="Arial" pitchFamily="34" charset="-122"/>
                <a:cs typeface="Arial" pitchFamily="34" charset="-120"/>
              </a:rPr>
              <a:t>多くの商品開発は「市場規模はどのくらい？」から考える。しかし大きな市場ほど競合も多い。だから逆に、市場を意図的に小さくする。</a:t>
            </a:r>
            <a:endParaRPr lang="en-US" sz="1350" dirty="0"/>
          </a:p>
        </p:txBody>
      </p:sp>
      <p:sp>
        <p:nvSpPr>
          <p:cNvPr id="8" name="Shape 5"/>
          <p:cNvSpPr/>
          <p:nvPr/>
        </p:nvSpPr>
        <p:spPr>
          <a:xfrm>
            <a:off x="594360" y="2011680"/>
            <a:ext cx="7589520" cy="640080"/>
          </a:xfrm>
          <a:prstGeom prst="roundRect">
            <a:avLst>
              <a:gd name="adj" fmla="val 10000"/>
            </a:avLst>
          </a:prstGeom>
          <a:solidFill>
            <a:srgbClr val="DDE6F5"/>
          </a:solidFill>
          <a:ln/>
        </p:spPr>
      </p:sp>
      <p:sp>
        <p:nvSpPr>
          <p:cNvPr id="9" name="Text 6"/>
          <p:cNvSpPr txBox="1"/>
          <p:nvPr/>
        </p:nvSpPr>
        <p:spPr>
          <a:xfrm>
            <a:off x="731520" y="2011680"/>
            <a:ext cx="7315200" cy="640080"/>
          </a:xfrm>
          <a:prstGeom prst="rect">
            <a:avLst/>
          </a:prstGeom>
          <a:noFill/>
          <a:ln/>
        </p:spPr>
        <p:txBody>
          <a:bodyPr wrap="square" lIns="0" tIns="0" rIns="0" bIns="0" rtlCol="0" anchor="ctr"/>
          <a:lstStyle/>
          <a:p>
            <a:pPr algn="ctr" indent="0" marL="0">
              <a:buNone/>
            </a:pPr>
            <a:r>
              <a:rPr lang="en-US" sz="1600" b="1" dirty="0">
                <a:solidFill>
                  <a:srgbClr val="7A8AA3"/>
                </a:solidFill>
                <a:latin typeface="Arial" pitchFamily="34" charset="0"/>
                <a:ea typeface="Arial" pitchFamily="34" charset="-122"/>
                <a:cs typeface="Arial" pitchFamily="34" charset="-120"/>
              </a:rPr>
              <a:t>スキンケア</a:t>
            </a:r>
            <a:endParaRPr lang="en-US" sz="1600" dirty="0"/>
          </a:p>
        </p:txBody>
      </p:sp>
      <p:sp>
        <p:nvSpPr>
          <p:cNvPr id="10" name="Shape 7"/>
          <p:cNvSpPr/>
          <p:nvPr/>
        </p:nvSpPr>
        <p:spPr>
          <a:xfrm rot="10800000">
            <a:off x="4297680" y="2688336"/>
            <a:ext cx="201168" cy="128016"/>
          </a:xfrm>
          <a:prstGeom prst="triangle">
            <a:avLst/>
          </a:prstGeom>
          <a:solidFill>
            <a:srgbClr val="AFC6E8"/>
          </a:solidFill>
          <a:ln/>
        </p:spPr>
      </p:sp>
      <p:sp>
        <p:nvSpPr>
          <p:cNvPr id="11" name="Shape 8"/>
          <p:cNvSpPr/>
          <p:nvPr/>
        </p:nvSpPr>
        <p:spPr>
          <a:xfrm>
            <a:off x="1234440" y="2852928"/>
            <a:ext cx="6309360" cy="640080"/>
          </a:xfrm>
          <a:prstGeom prst="roundRect">
            <a:avLst>
              <a:gd name="adj" fmla="val 10000"/>
            </a:avLst>
          </a:prstGeom>
          <a:solidFill>
            <a:srgbClr val="C9DAF5"/>
          </a:solidFill>
          <a:ln/>
        </p:spPr>
      </p:sp>
      <p:sp>
        <p:nvSpPr>
          <p:cNvPr id="12" name="Text 9"/>
          <p:cNvSpPr txBox="1"/>
          <p:nvPr/>
        </p:nvSpPr>
        <p:spPr>
          <a:xfrm>
            <a:off x="1371600" y="2852928"/>
            <a:ext cx="6035040" cy="640080"/>
          </a:xfrm>
          <a:prstGeom prst="rect">
            <a:avLst/>
          </a:prstGeom>
          <a:noFill/>
          <a:ln/>
        </p:spPr>
        <p:txBody>
          <a:bodyPr wrap="square" lIns="0" tIns="0" rIns="0" bIns="0" rtlCol="0" anchor="ctr"/>
          <a:lstStyle/>
          <a:p>
            <a:pPr algn="ctr" indent="0" marL="0">
              <a:buNone/>
            </a:pPr>
            <a:r>
              <a:rPr lang="en-US" sz="1600" b="1" dirty="0">
                <a:solidFill>
                  <a:srgbClr val="3A4A61"/>
                </a:solidFill>
                <a:latin typeface="Arial" pitchFamily="34" charset="0"/>
                <a:ea typeface="Arial" pitchFamily="34" charset="-122"/>
                <a:cs typeface="Arial" pitchFamily="34" charset="-120"/>
              </a:rPr>
              <a:t>乾燥肌</a:t>
            </a:r>
            <a:endParaRPr lang="en-US" sz="1600" dirty="0"/>
          </a:p>
        </p:txBody>
      </p:sp>
      <p:sp>
        <p:nvSpPr>
          <p:cNvPr id="13" name="Shape 10"/>
          <p:cNvSpPr/>
          <p:nvPr/>
        </p:nvSpPr>
        <p:spPr>
          <a:xfrm rot="10800000">
            <a:off x="4297680" y="3529584"/>
            <a:ext cx="201168" cy="128016"/>
          </a:xfrm>
          <a:prstGeom prst="triangle">
            <a:avLst/>
          </a:prstGeom>
          <a:solidFill>
            <a:srgbClr val="AFC6E8"/>
          </a:solidFill>
          <a:ln/>
        </p:spPr>
      </p:sp>
      <p:sp>
        <p:nvSpPr>
          <p:cNvPr id="14" name="Shape 11"/>
          <p:cNvSpPr/>
          <p:nvPr/>
        </p:nvSpPr>
        <p:spPr>
          <a:xfrm>
            <a:off x="1874520" y="3694176"/>
            <a:ext cx="5029200" cy="640080"/>
          </a:xfrm>
          <a:prstGeom prst="roundRect">
            <a:avLst>
              <a:gd name="adj" fmla="val 10000"/>
            </a:avLst>
          </a:prstGeom>
          <a:solidFill>
            <a:srgbClr val="8FBCFF"/>
          </a:solidFill>
          <a:ln/>
        </p:spPr>
      </p:sp>
      <p:sp>
        <p:nvSpPr>
          <p:cNvPr id="15" name="Text 12"/>
          <p:cNvSpPr txBox="1"/>
          <p:nvPr/>
        </p:nvSpPr>
        <p:spPr>
          <a:xfrm>
            <a:off x="2011680" y="3694176"/>
            <a:ext cx="4754880" cy="640080"/>
          </a:xfrm>
          <a:prstGeom prst="rect">
            <a:avLst/>
          </a:prstGeom>
          <a:noFill/>
          <a:ln/>
        </p:spPr>
        <p:txBody>
          <a:bodyPr wrap="square" lIns="0" tIns="0" rIns="0" bIns="0" rtlCol="0" anchor="ctr"/>
          <a:lstStyle/>
          <a:p>
            <a:pPr algn="ctr" indent="0" marL="0">
              <a:buNone/>
            </a:pPr>
            <a:r>
              <a:rPr lang="en-US" sz="1600" b="1" dirty="0">
                <a:solidFill>
                  <a:srgbClr val="0E1B2C"/>
                </a:solidFill>
                <a:latin typeface="Arial" pitchFamily="34" charset="0"/>
                <a:ea typeface="Arial" pitchFamily="34" charset="-122"/>
                <a:cs typeface="Arial" pitchFamily="34" charset="-120"/>
              </a:rPr>
              <a:t>子育て中の乾燥肌</a:t>
            </a:r>
            <a:endParaRPr lang="en-US" sz="1600" dirty="0"/>
          </a:p>
        </p:txBody>
      </p:sp>
      <p:sp>
        <p:nvSpPr>
          <p:cNvPr id="16" name="Shape 13"/>
          <p:cNvSpPr/>
          <p:nvPr/>
        </p:nvSpPr>
        <p:spPr>
          <a:xfrm rot="10800000">
            <a:off x="4297680" y="4370832"/>
            <a:ext cx="201168" cy="128016"/>
          </a:xfrm>
          <a:prstGeom prst="triangle">
            <a:avLst/>
          </a:prstGeom>
          <a:solidFill>
            <a:srgbClr val="AFC6E8"/>
          </a:solidFill>
          <a:ln/>
        </p:spPr>
      </p:sp>
      <p:sp>
        <p:nvSpPr>
          <p:cNvPr id="17" name="Shape 14"/>
          <p:cNvSpPr/>
          <p:nvPr/>
        </p:nvSpPr>
        <p:spPr>
          <a:xfrm>
            <a:off x="2514600" y="4535424"/>
            <a:ext cx="3749040" cy="640080"/>
          </a:xfrm>
          <a:prstGeom prst="roundRect">
            <a:avLst>
              <a:gd name="adj" fmla="val 10000"/>
            </a:avLst>
          </a:prstGeom>
          <a:solidFill>
            <a:srgbClr val="1E6FE8"/>
          </a:solidFill>
          <a:ln/>
        </p:spPr>
      </p:sp>
      <p:sp>
        <p:nvSpPr>
          <p:cNvPr id="18" name="Text 15"/>
          <p:cNvSpPr txBox="1"/>
          <p:nvPr/>
        </p:nvSpPr>
        <p:spPr>
          <a:xfrm>
            <a:off x="2651760" y="4535424"/>
            <a:ext cx="347472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お風呂上がりに子どもの世話で、自分のスキンケアができない人</a:t>
            </a:r>
            <a:endParaRPr lang="en-US" sz="1250" dirty="0"/>
          </a:p>
        </p:txBody>
      </p:sp>
      <p:sp>
        <p:nvSpPr>
          <p:cNvPr id="19" name="Shape 16"/>
          <p:cNvSpPr/>
          <p:nvPr/>
        </p:nvSpPr>
        <p:spPr>
          <a:xfrm>
            <a:off x="8549640" y="2011680"/>
            <a:ext cx="3044952" cy="3310128"/>
          </a:xfrm>
          <a:prstGeom prst="roundRect">
            <a:avLst>
              <a:gd name="adj" fmla="val 2402"/>
            </a:avLst>
          </a:prstGeom>
          <a:solidFill>
            <a:srgbClr val="F2F6FD"/>
          </a:solidFill>
          <a:ln/>
        </p:spPr>
      </p:sp>
      <p:sp>
        <p:nvSpPr>
          <p:cNvPr id="20" name="Text 17"/>
          <p:cNvSpPr txBox="1"/>
          <p:nvPr/>
        </p:nvSpPr>
        <p:spPr>
          <a:xfrm>
            <a:off x="8823960" y="2240280"/>
            <a:ext cx="2560320" cy="320040"/>
          </a:xfrm>
          <a:prstGeom prst="rect">
            <a:avLst/>
          </a:prstGeom>
          <a:noFill/>
          <a:ln/>
        </p:spPr>
        <p:txBody>
          <a:bodyPr wrap="square" lIns="0" tIns="0" rIns="0" bIns="0" rtlCol="0" anchor="ctr"/>
          <a:lstStyle/>
          <a:p>
            <a:pPr indent="0" marL="0">
              <a:buNone/>
            </a:pPr>
            <a:r>
              <a:rPr lang="en-US" sz="1250" b="1" dirty="0">
                <a:solidFill>
                  <a:srgbClr val="0E1B2C"/>
                </a:solidFill>
                <a:latin typeface="Arial" pitchFamily="34" charset="0"/>
                <a:ea typeface="Arial" pitchFamily="34" charset="-122"/>
                <a:cs typeface="Arial" pitchFamily="34" charset="-120"/>
              </a:rPr>
              <a:t>絞り込むと、何が起きるか</a:t>
            </a:r>
            <a:endParaRPr lang="en-US" sz="1250" dirty="0"/>
          </a:p>
        </p:txBody>
      </p:sp>
      <p:sp>
        <p:nvSpPr>
          <p:cNvPr id="21" name="Shape 18"/>
          <p:cNvSpPr/>
          <p:nvPr/>
        </p:nvSpPr>
        <p:spPr>
          <a:xfrm>
            <a:off x="8823960" y="2743200"/>
            <a:ext cx="2496312" cy="1051560"/>
          </a:xfrm>
          <a:prstGeom prst="roundRect">
            <a:avLst>
              <a:gd name="adj" fmla="val 5217"/>
            </a:avLst>
          </a:prstGeom>
          <a:solidFill>
            <a:srgbClr val="FFFFFF"/>
          </a:solidFill>
          <a:ln/>
        </p:spPr>
      </p:sp>
      <p:sp>
        <p:nvSpPr>
          <p:cNvPr id="22" name="Text 19"/>
          <p:cNvSpPr txBox="1"/>
          <p:nvPr/>
        </p:nvSpPr>
        <p:spPr>
          <a:xfrm>
            <a:off x="9052560" y="2880360"/>
            <a:ext cx="2057400" cy="274320"/>
          </a:xfrm>
          <a:prstGeom prst="rect">
            <a:avLst/>
          </a:prstGeom>
          <a:noFill/>
          <a:ln/>
        </p:spPr>
        <p:txBody>
          <a:bodyPr wrap="square" lIns="0" tIns="0" rIns="0" bIns="0" rtlCol="0" anchor="ctr"/>
          <a:lstStyle/>
          <a:p>
            <a:pPr indent="0" marL="0">
              <a:buNone/>
            </a:pPr>
            <a:r>
              <a:rPr lang="en-US" sz="1150" dirty="0">
                <a:solidFill>
                  <a:srgbClr val="3A4A61"/>
                </a:solidFill>
                <a:latin typeface="Arial" pitchFamily="34" charset="0"/>
                <a:ea typeface="Arial" pitchFamily="34" charset="-122"/>
                <a:cs typeface="Arial" pitchFamily="34" charset="-120"/>
              </a:rPr>
              <a:t>市場規模</a:t>
            </a:r>
            <a:endParaRPr lang="en-US" sz="1150" dirty="0"/>
          </a:p>
        </p:txBody>
      </p:sp>
      <p:sp>
        <p:nvSpPr>
          <p:cNvPr id="23" name="Text 20"/>
          <p:cNvSpPr txBox="1"/>
          <p:nvPr/>
        </p:nvSpPr>
        <p:spPr>
          <a:xfrm>
            <a:off x="9052560" y="3200400"/>
            <a:ext cx="2057400" cy="411480"/>
          </a:xfrm>
          <a:prstGeom prst="rect">
            <a:avLst/>
          </a:prstGeom>
          <a:noFill/>
          <a:ln/>
        </p:spPr>
        <p:txBody>
          <a:bodyPr wrap="square" lIns="0" tIns="0" rIns="0" bIns="0" rtlCol="0" anchor="ctr"/>
          <a:lstStyle/>
          <a:p>
            <a:pPr indent="0" marL="0">
              <a:buNone/>
            </a:pPr>
            <a:r>
              <a:rPr lang="en-US" sz="1500" b="1" dirty="0">
                <a:solidFill>
                  <a:srgbClr val="7A8AA3"/>
                </a:solidFill>
                <a:latin typeface="Arial" pitchFamily="34" charset="0"/>
                <a:ea typeface="Arial" pitchFamily="34" charset="-122"/>
                <a:cs typeface="Arial" pitchFamily="34" charset="-120"/>
              </a:rPr>
              <a:t>▼ 小さくなる</a:t>
            </a:r>
            <a:endParaRPr lang="en-US" sz="1500" dirty="0"/>
          </a:p>
        </p:txBody>
      </p:sp>
      <p:sp>
        <p:nvSpPr>
          <p:cNvPr id="24" name="Shape 21"/>
          <p:cNvSpPr/>
          <p:nvPr/>
        </p:nvSpPr>
        <p:spPr>
          <a:xfrm>
            <a:off x="8823960" y="3977640"/>
            <a:ext cx="2496312" cy="1051560"/>
          </a:xfrm>
          <a:prstGeom prst="roundRect">
            <a:avLst>
              <a:gd name="adj" fmla="val 5217"/>
            </a:avLst>
          </a:prstGeom>
          <a:solidFill>
            <a:srgbClr val="FFFFFF"/>
          </a:solidFill>
          <a:ln/>
        </p:spPr>
      </p:sp>
      <p:sp>
        <p:nvSpPr>
          <p:cNvPr id="25" name="Text 22"/>
          <p:cNvSpPr txBox="1"/>
          <p:nvPr/>
        </p:nvSpPr>
        <p:spPr>
          <a:xfrm>
            <a:off x="9052560" y="4114800"/>
            <a:ext cx="2057400" cy="274320"/>
          </a:xfrm>
          <a:prstGeom prst="rect">
            <a:avLst/>
          </a:prstGeom>
          <a:noFill/>
          <a:ln/>
        </p:spPr>
        <p:txBody>
          <a:bodyPr wrap="square" lIns="0" tIns="0" rIns="0" bIns="0" rtlCol="0" anchor="ctr"/>
          <a:lstStyle/>
          <a:p>
            <a:pPr indent="0" marL="0">
              <a:buNone/>
            </a:pPr>
            <a:r>
              <a:rPr lang="en-US" sz="1150" dirty="0">
                <a:solidFill>
                  <a:srgbClr val="3A4A61"/>
                </a:solidFill>
                <a:latin typeface="Arial" pitchFamily="34" charset="0"/>
                <a:ea typeface="Arial" pitchFamily="34" charset="-122"/>
                <a:cs typeface="Arial" pitchFamily="34" charset="-120"/>
              </a:rPr>
              <a:t>課題の解像度</a:t>
            </a:r>
            <a:endParaRPr lang="en-US" sz="1150" dirty="0"/>
          </a:p>
        </p:txBody>
      </p:sp>
      <p:sp>
        <p:nvSpPr>
          <p:cNvPr id="26" name="Text 23"/>
          <p:cNvSpPr txBox="1"/>
          <p:nvPr/>
        </p:nvSpPr>
        <p:spPr>
          <a:xfrm>
            <a:off x="9052560" y="4434840"/>
            <a:ext cx="2057400" cy="411480"/>
          </a:xfrm>
          <a:prstGeom prst="rect">
            <a:avLst/>
          </a:prstGeom>
          <a:noFill/>
          <a:ln/>
        </p:spPr>
        <p:txBody>
          <a:bodyPr wrap="square" lIns="0" tIns="0" rIns="0" bIns="0" rtlCol="0" anchor="ctr"/>
          <a:lstStyle/>
          <a:p>
            <a:pPr indent="0" marL="0">
              <a:buNone/>
            </a:pPr>
            <a:r>
              <a:rPr lang="en-US" sz="1500" b="1" dirty="0">
                <a:solidFill>
                  <a:srgbClr val="1E6FE8"/>
                </a:solidFill>
                <a:latin typeface="Arial" pitchFamily="34" charset="0"/>
                <a:ea typeface="Arial" pitchFamily="34" charset="-122"/>
                <a:cs typeface="Arial" pitchFamily="34" charset="-120"/>
              </a:rPr>
              <a:t>▲ 一気に高くなる</a:t>
            </a:r>
            <a:endParaRPr lang="en-US" sz="1500" dirty="0"/>
          </a:p>
        </p:txBody>
      </p:sp>
      <p:sp>
        <p:nvSpPr>
          <p:cNvPr id="27" name="Shape 24"/>
          <p:cNvSpPr/>
          <p:nvPr/>
        </p:nvSpPr>
        <p:spPr>
          <a:xfrm>
            <a:off x="594360" y="5715000"/>
            <a:ext cx="11000232" cy="621792"/>
          </a:xfrm>
          <a:prstGeom prst="roundRect">
            <a:avLst>
              <a:gd name="adj" fmla="val 13235"/>
            </a:avLst>
          </a:prstGeom>
          <a:solidFill>
            <a:srgbClr val="E8F0FC"/>
          </a:solidFill>
          <a:ln/>
        </p:spPr>
      </p:sp>
      <p:sp>
        <p:nvSpPr>
          <p:cNvPr id="28" name="Text 25"/>
          <p:cNvSpPr txBox="1"/>
          <p:nvPr/>
        </p:nvSpPr>
        <p:spPr>
          <a:xfrm>
            <a:off x="960120" y="5715000"/>
            <a:ext cx="10268712" cy="621792"/>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狙いは　</a:t>
            </a:r>
            <a:pPr algn="l" indent="0" marL="0">
              <a:buNone/>
            </a:pPr>
            <a:r>
              <a:rPr lang="en-US" sz="1700" b="1" dirty="0">
                <a:solidFill>
                  <a:srgbClr val="0E1B2C"/>
                </a:solidFill>
                <a:latin typeface="Arial" pitchFamily="34" charset="0"/>
                <a:ea typeface="Arial" pitchFamily="34" charset="-122"/>
                <a:cs typeface="Arial" pitchFamily="34" charset="-120"/>
              </a:rPr>
              <a:t>「市場を捨てること」ではなく、「課題をはっきり見えるようにすること」。</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10</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THE MATRIX</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狙うべきは「人口」ではなく「課題の深さ」</a:t>
            </a:r>
            <a:endParaRPr lang="en-US" sz="2600" dirty="0"/>
          </a:p>
        </p:txBody>
      </p:sp>
      <p:sp>
        <p:nvSpPr>
          <p:cNvPr id="7" name="Shape 4"/>
          <p:cNvSpPr/>
          <p:nvPr/>
        </p:nvSpPr>
        <p:spPr>
          <a:xfrm>
            <a:off x="1325880" y="1691640"/>
            <a:ext cx="3017520" cy="1805940"/>
          </a:xfrm>
          <a:prstGeom prst="rect">
            <a:avLst/>
          </a:prstGeom>
          <a:solidFill>
            <a:srgbClr val="1E6FE8"/>
          </a:solidFill>
          <a:ln w="25400">
            <a:solidFill>
              <a:srgbClr val="FFFFFF"/>
            </a:solidFill>
            <a:prstDash val="solid"/>
          </a:ln>
        </p:spPr>
      </p:sp>
      <p:sp>
        <p:nvSpPr>
          <p:cNvPr id="8" name="Text 5"/>
          <p:cNvSpPr txBox="1"/>
          <p:nvPr/>
        </p:nvSpPr>
        <p:spPr>
          <a:xfrm>
            <a:off x="1554480" y="1965960"/>
            <a:ext cx="2560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 ここから始める</a:t>
            </a:r>
            <a:endParaRPr lang="en-US" sz="1700" dirty="0"/>
          </a:p>
        </p:txBody>
      </p:sp>
      <p:sp>
        <p:nvSpPr>
          <p:cNvPr id="9" name="Text 6"/>
          <p:cNvSpPr txBox="1"/>
          <p:nvPr/>
        </p:nvSpPr>
        <p:spPr>
          <a:xfrm>
            <a:off x="1554480" y="2468880"/>
            <a:ext cx="2560320" cy="731520"/>
          </a:xfrm>
          <a:prstGeom prst="rect">
            <a:avLst/>
          </a:prstGeom>
          <a:noFill/>
          <a:ln/>
        </p:spPr>
        <p:txBody>
          <a:bodyPr wrap="square" lIns="0" tIns="0" rIns="0" bIns="0" rtlCol="0" anchor="t"/>
          <a:lstStyle/>
          <a:p>
            <a:pPr indent="0" marL="0">
              <a:lnSpc>
                <a:spcPts val="1700"/>
              </a:lnSpc>
              <a:buNone/>
            </a:pPr>
            <a:r>
              <a:rPr lang="en-US" sz="1150" dirty="0">
                <a:solidFill>
                  <a:srgbClr val="EAF2FF"/>
                </a:solidFill>
                <a:latin typeface="Arial" pitchFamily="34" charset="0"/>
                <a:ea typeface="Arial" pitchFamily="34" charset="-122"/>
                <a:cs typeface="Arial" pitchFamily="34" charset="-120"/>
              </a:rPr>
              <a:t>人数は少ないが、</a:t>
            </a:r>
            <a:endParaRPr lang="en-US" sz="1150" dirty="0"/>
          </a:p>
          <a:p>
            <a:pPr indent="0" marL="0">
              <a:lnSpc>
                <a:spcPts val="1700"/>
              </a:lnSpc>
              <a:buNone/>
            </a:pPr>
            <a:r>
              <a:rPr lang="en-US" sz="1150" dirty="0">
                <a:solidFill>
                  <a:srgbClr val="EAF2FF"/>
                </a:solidFill>
                <a:latin typeface="Arial" pitchFamily="34" charset="0"/>
                <a:ea typeface="Arial" pitchFamily="34" charset="-122"/>
                <a:cs typeface="Arial" pitchFamily="34" charset="-120"/>
              </a:rPr>
              <a:t>課題が深い</a:t>
            </a:r>
            <a:endParaRPr lang="en-US" sz="1150" dirty="0"/>
          </a:p>
        </p:txBody>
      </p:sp>
      <p:sp>
        <p:nvSpPr>
          <p:cNvPr id="10" name="Shape 7"/>
          <p:cNvSpPr/>
          <p:nvPr/>
        </p:nvSpPr>
        <p:spPr>
          <a:xfrm>
            <a:off x="4343400" y="1691640"/>
            <a:ext cx="3017520" cy="1805940"/>
          </a:xfrm>
          <a:prstGeom prst="rect">
            <a:avLst/>
          </a:prstGeom>
          <a:solidFill>
            <a:srgbClr val="DDE6F5"/>
          </a:solidFill>
          <a:ln w="25400">
            <a:solidFill>
              <a:srgbClr val="FFFFFF"/>
            </a:solidFill>
            <a:prstDash val="solid"/>
          </a:ln>
        </p:spPr>
      </p:sp>
      <p:sp>
        <p:nvSpPr>
          <p:cNvPr id="11" name="Text 8"/>
          <p:cNvSpPr txBox="1"/>
          <p:nvPr/>
        </p:nvSpPr>
        <p:spPr>
          <a:xfrm>
            <a:off x="4572000" y="1965960"/>
            <a:ext cx="2560320" cy="411480"/>
          </a:xfrm>
          <a:prstGeom prst="rect">
            <a:avLst/>
          </a:prstGeom>
          <a:noFill/>
          <a:ln/>
        </p:spPr>
        <p:txBody>
          <a:bodyPr wrap="square" lIns="0" tIns="0" rIns="0" bIns="0" rtlCol="0" anchor="ctr"/>
          <a:lstStyle/>
          <a:p>
            <a:pPr indent="0" marL="0">
              <a:buNone/>
            </a:pPr>
            <a:r>
              <a:rPr lang="en-US" sz="1500" b="1" dirty="0">
                <a:solidFill>
                  <a:srgbClr val="3A4A61"/>
                </a:solidFill>
                <a:latin typeface="Arial" pitchFamily="34" charset="0"/>
                <a:ea typeface="Arial" pitchFamily="34" charset="-122"/>
                <a:cs typeface="Arial" pitchFamily="34" charset="-120"/>
              </a:rPr>
              <a:t>激戦区</a:t>
            </a:r>
            <a:endParaRPr lang="en-US" sz="1500" dirty="0"/>
          </a:p>
        </p:txBody>
      </p:sp>
      <p:sp>
        <p:nvSpPr>
          <p:cNvPr id="12" name="Text 9"/>
          <p:cNvSpPr txBox="1"/>
          <p:nvPr/>
        </p:nvSpPr>
        <p:spPr>
          <a:xfrm>
            <a:off x="4572000" y="2468880"/>
            <a:ext cx="2560320" cy="731520"/>
          </a:xfrm>
          <a:prstGeom prst="rect">
            <a:avLst/>
          </a:prstGeom>
          <a:noFill/>
          <a:ln/>
        </p:spPr>
        <p:txBody>
          <a:bodyPr wrap="square" lIns="0" tIns="0" rIns="0" bIns="0" rtlCol="0" anchor="t"/>
          <a:lstStyle/>
          <a:p>
            <a:pPr indent="0" marL="0">
              <a:lnSpc>
                <a:spcPts val="1700"/>
              </a:lnSpc>
              <a:buNone/>
            </a:pPr>
            <a:r>
              <a:rPr lang="en-US" sz="1150" dirty="0">
                <a:solidFill>
                  <a:srgbClr val="7A8AA3"/>
                </a:solidFill>
                <a:latin typeface="Arial" pitchFamily="34" charset="0"/>
                <a:ea typeface="Arial" pitchFamily="34" charset="-122"/>
                <a:cs typeface="Arial" pitchFamily="34" charset="-120"/>
              </a:rPr>
              <a:t>大手が既に</a:t>
            </a:r>
            <a:endParaRPr lang="en-US" sz="1150" dirty="0"/>
          </a:p>
          <a:p>
            <a:pPr indent="0" marL="0">
              <a:lnSpc>
                <a:spcPts val="1700"/>
              </a:lnSpc>
              <a:buNone/>
            </a:pPr>
            <a:r>
              <a:rPr lang="en-US" sz="1150" dirty="0">
                <a:solidFill>
                  <a:srgbClr val="7A8AA3"/>
                </a:solidFill>
                <a:latin typeface="Arial" pitchFamily="34" charset="0"/>
                <a:ea typeface="Arial" pitchFamily="34" charset="-122"/>
                <a:cs typeface="Arial" pitchFamily="34" charset="-120"/>
              </a:rPr>
              <a:t>参入している</a:t>
            </a:r>
            <a:endParaRPr lang="en-US" sz="1150" dirty="0"/>
          </a:p>
        </p:txBody>
      </p:sp>
      <p:sp>
        <p:nvSpPr>
          <p:cNvPr id="13" name="Shape 10"/>
          <p:cNvSpPr/>
          <p:nvPr/>
        </p:nvSpPr>
        <p:spPr>
          <a:xfrm>
            <a:off x="1325880" y="3497580"/>
            <a:ext cx="3017520" cy="1805940"/>
          </a:xfrm>
          <a:prstGeom prst="rect">
            <a:avLst/>
          </a:prstGeom>
          <a:solidFill>
            <a:srgbClr val="F4F6F9"/>
          </a:solidFill>
          <a:ln w="25400">
            <a:solidFill>
              <a:srgbClr val="FFFFFF"/>
            </a:solidFill>
            <a:prstDash val="solid"/>
          </a:ln>
        </p:spPr>
      </p:sp>
      <p:sp>
        <p:nvSpPr>
          <p:cNvPr id="14" name="Text 11"/>
          <p:cNvSpPr txBox="1"/>
          <p:nvPr/>
        </p:nvSpPr>
        <p:spPr>
          <a:xfrm>
            <a:off x="1554480" y="3771900"/>
            <a:ext cx="2560320" cy="411480"/>
          </a:xfrm>
          <a:prstGeom prst="rect">
            <a:avLst/>
          </a:prstGeom>
          <a:noFill/>
          <a:ln/>
        </p:spPr>
        <p:txBody>
          <a:bodyPr wrap="square" lIns="0" tIns="0" rIns="0" bIns="0" rtlCol="0" anchor="ctr"/>
          <a:lstStyle/>
          <a:p>
            <a:pPr indent="0" marL="0">
              <a:buNone/>
            </a:pPr>
            <a:r>
              <a:rPr lang="en-US" sz="1500" b="1" dirty="0">
                <a:solidFill>
                  <a:srgbClr val="7A8AA3"/>
                </a:solidFill>
                <a:latin typeface="Arial" pitchFamily="34" charset="0"/>
                <a:ea typeface="Arial" pitchFamily="34" charset="-122"/>
                <a:cs typeface="Arial" pitchFamily="34" charset="-120"/>
              </a:rPr>
              <a:t>市場にならない</a:t>
            </a:r>
            <a:endParaRPr lang="en-US" sz="1500" dirty="0"/>
          </a:p>
        </p:txBody>
      </p:sp>
      <p:sp>
        <p:nvSpPr>
          <p:cNvPr id="15" name="Text 12"/>
          <p:cNvSpPr txBox="1"/>
          <p:nvPr/>
        </p:nvSpPr>
        <p:spPr>
          <a:xfrm>
            <a:off x="1554480" y="4274820"/>
            <a:ext cx="2560320" cy="731520"/>
          </a:xfrm>
          <a:prstGeom prst="rect">
            <a:avLst/>
          </a:prstGeom>
          <a:noFill/>
          <a:ln/>
        </p:spPr>
        <p:txBody>
          <a:bodyPr wrap="square" lIns="0" tIns="0" rIns="0" bIns="0" rtlCol="0" anchor="t"/>
          <a:lstStyle/>
          <a:p>
            <a:pPr indent="0" marL="0">
              <a:lnSpc>
                <a:spcPts val="1700"/>
              </a:lnSpc>
              <a:buNone/>
            </a:pPr>
            <a:r>
              <a:rPr lang="en-US" sz="1150" dirty="0">
                <a:solidFill>
                  <a:srgbClr val="7A8AA3"/>
                </a:solidFill>
                <a:latin typeface="Arial" pitchFamily="34" charset="0"/>
                <a:ea typeface="Arial" pitchFamily="34" charset="-122"/>
                <a:cs typeface="Arial" pitchFamily="34" charset="-120"/>
              </a:rPr>
              <a:t>人数も少なく</a:t>
            </a:r>
            <a:endParaRPr lang="en-US" sz="1150" dirty="0"/>
          </a:p>
          <a:p>
            <a:pPr indent="0" marL="0">
              <a:lnSpc>
                <a:spcPts val="1700"/>
              </a:lnSpc>
              <a:buNone/>
            </a:pPr>
            <a:r>
              <a:rPr lang="en-US" sz="1150" dirty="0">
                <a:solidFill>
                  <a:srgbClr val="7A8AA3"/>
                </a:solidFill>
                <a:latin typeface="Arial" pitchFamily="34" charset="0"/>
                <a:ea typeface="Arial" pitchFamily="34" charset="-122"/>
                <a:cs typeface="Arial" pitchFamily="34" charset="-120"/>
              </a:rPr>
              <a:t>困ってもいない</a:t>
            </a:r>
            <a:endParaRPr lang="en-US" sz="1150" dirty="0"/>
          </a:p>
        </p:txBody>
      </p:sp>
      <p:sp>
        <p:nvSpPr>
          <p:cNvPr id="16" name="Shape 13"/>
          <p:cNvSpPr/>
          <p:nvPr/>
        </p:nvSpPr>
        <p:spPr>
          <a:xfrm>
            <a:off x="4343400" y="3497580"/>
            <a:ext cx="3017520" cy="1805940"/>
          </a:xfrm>
          <a:prstGeom prst="rect">
            <a:avLst/>
          </a:prstGeom>
          <a:solidFill>
            <a:srgbClr val="FBECEC"/>
          </a:solidFill>
          <a:ln w="25400">
            <a:solidFill>
              <a:srgbClr val="FFFFFF"/>
            </a:solidFill>
            <a:prstDash val="solid"/>
          </a:ln>
        </p:spPr>
      </p:sp>
      <p:sp>
        <p:nvSpPr>
          <p:cNvPr id="17" name="Text 14"/>
          <p:cNvSpPr txBox="1"/>
          <p:nvPr/>
        </p:nvSpPr>
        <p:spPr>
          <a:xfrm>
            <a:off x="4572000" y="3771900"/>
            <a:ext cx="2560320" cy="411480"/>
          </a:xfrm>
          <a:prstGeom prst="rect">
            <a:avLst/>
          </a:prstGeom>
          <a:noFill/>
          <a:ln/>
        </p:spPr>
        <p:txBody>
          <a:bodyPr wrap="square" lIns="0" tIns="0" rIns="0" bIns="0" rtlCol="0" anchor="ctr"/>
          <a:lstStyle/>
          <a:p>
            <a:pPr indent="0" marL="0">
              <a:buNone/>
            </a:pPr>
            <a:r>
              <a:rPr lang="en-US" sz="1500" b="1" dirty="0">
                <a:solidFill>
                  <a:srgbClr val="BF0000"/>
                </a:solidFill>
                <a:latin typeface="Arial" pitchFamily="34" charset="0"/>
                <a:ea typeface="Arial" pitchFamily="34" charset="-122"/>
                <a:cs typeface="Arial" pitchFamily="34" charset="-120"/>
              </a:rPr>
              <a:t>価格競争</a:t>
            </a:r>
            <a:endParaRPr lang="en-US" sz="1500" dirty="0"/>
          </a:p>
        </p:txBody>
      </p:sp>
      <p:sp>
        <p:nvSpPr>
          <p:cNvPr id="18" name="Text 15"/>
          <p:cNvSpPr txBox="1"/>
          <p:nvPr/>
        </p:nvSpPr>
        <p:spPr>
          <a:xfrm>
            <a:off x="4572000" y="4274820"/>
            <a:ext cx="2560320" cy="731520"/>
          </a:xfrm>
          <a:prstGeom prst="rect">
            <a:avLst/>
          </a:prstGeom>
          <a:noFill/>
          <a:ln/>
        </p:spPr>
        <p:txBody>
          <a:bodyPr wrap="square" lIns="0" tIns="0" rIns="0" bIns="0" rtlCol="0" anchor="t"/>
          <a:lstStyle/>
          <a:p>
            <a:pPr indent="0" marL="0">
              <a:lnSpc>
                <a:spcPts val="1700"/>
              </a:lnSpc>
              <a:buNone/>
            </a:pPr>
            <a:r>
              <a:rPr lang="en-US" sz="1150" dirty="0">
                <a:solidFill>
                  <a:srgbClr val="7A8AA3"/>
                </a:solidFill>
                <a:latin typeface="Arial" pitchFamily="34" charset="0"/>
                <a:ea typeface="Arial" pitchFamily="34" charset="-122"/>
                <a:cs typeface="Arial" pitchFamily="34" charset="-120"/>
              </a:rPr>
              <a:t>困り度が浅く</a:t>
            </a:r>
            <a:endParaRPr lang="en-US" sz="1150" dirty="0"/>
          </a:p>
          <a:p>
            <a:pPr indent="0" marL="0">
              <a:lnSpc>
                <a:spcPts val="1700"/>
              </a:lnSpc>
              <a:buNone/>
            </a:pPr>
            <a:r>
              <a:rPr lang="en-US" sz="1150" dirty="0">
                <a:solidFill>
                  <a:srgbClr val="7A8AA3"/>
                </a:solidFill>
                <a:latin typeface="Arial" pitchFamily="34" charset="0"/>
                <a:ea typeface="Arial" pitchFamily="34" charset="-122"/>
                <a:cs typeface="Arial" pitchFamily="34" charset="-120"/>
              </a:rPr>
              <a:t>安さで選ばれる</a:t>
            </a:r>
            <a:endParaRPr lang="en-US" sz="1150" dirty="0"/>
          </a:p>
        </p:txBody>
      </p:sp>
      <p:sp>
        <p:nvSpPr>
          <p:cNvPr id="19" name="Text 16"/>
          <p:cNvSpPr txBox="1"/>
          <p:nvPr/>
        </p:nvSpPr>
        <p:spPr>
          <a:xfrm rot="16200000">
            <a:off x="228600" y="3319272"/>
            <a:ext cx="1280160" cy="365760"/>
          </a:xfrm>
          <a:prstGeom prst="rect">
            <a:avLst/>
          </a:prstGeom>
          <a:noFill/>
          <a:ln/>
        </p:spPr>
        <p:txBody>
          <a:bodyPr wrap="square" lIns="0" tIns="0" rIns="0" bIns="0" rtlCol="0" anchor="ctr"/>
          <a:lstStyle/>
          <a:p>
            <a:pPr algn="ctr" indent="0" marL="0">
              <a:buNone/>
            </a:pPr>
            <a:r>
              <a:rPr lang="en-US" sz="1250" b="1" dirty="0">
                <a:solidFill>
                  <a:srgbClr val="0E1B2C"/>
                </a:solidFill>
                <a:latin typeface="Arial" pitchFamily="34" charset="0"/>
                <a:ea typeface="Arial" pitchFamily="34" charset="-122"/>
                <a:cs typeface="Arial" pitchFamily="34" charset="-120"/>
              </a:rPr>
              <a:t>課題の深さ</a:t>
            </a:r>
            <a:endParaRPr lang="en-US" sz="1250" dirty="0"/>
          </a:p>
        </p:txBody>
      </p:sp>
      <p:sp>
        <p:nvSpPr>
          <p:cNvPr id="20" name="Text 17"/>
          <p:cNvSpPr txBox="1"/>
          <p:nvPr/>
        </p:nvSpPr>
        <p:spPr>
          <a:xfrm>
            <a:off x="713232" y="1737360"/>
            <a:ext cx="548640" cy="274320"/>
          </a:xfrm>
          <a:prstGeom prst="rect">
            <a:avLst/>
          </a:prstGeom>
          <a:noFill/>
          <a:ln/>
        </p:spPr>
        <p:txBody>
          <a:bodyPr wrap="square" lIns="0" tIns="0" rIns="0" bIns="0" rtlCol="0" anchor="ctr"/>
          <a:lstStyle/>
          <a:p>
            <a:pPr algn="r" indent="0" marL="0">
              <a:buNone/>
            </a:pPr>
            <a:r>
              <a:rPr lang="en-US" sz="1050" dirty="0">
                <a:solidFill>
                  <a:srgbClr val="7A8AA3"/>
                </a:solidFill>
                <a:latin typeface="Arial" pitchFamily="34" charset="0"/>
                <a:ea typeface="Arial" pitchFamily="34" charset="-122"/>
                <a:cs typeface="Arial" pitchFamily="34" charset="-120"/>
              </a:rPr>
              <a:t>深い</a:t>
            </a:r>
            <a:endParaRPr lang="en-US" sz="1050" dirty="0"/>
          </a:p>
        </p:txBody>
      </p:sp>
      <p:sp>
        <p:nvSpPr>
          <p:cNvPr id="21" name="Text 18"/>
          <p:cNvSpPr txBox="1"/>
          <p:nvPr/>
        </p:nvSpPr>
        <p:spPr>
          <a:xfrm>
            <a:off x="713232" y="4983480"/>
            <a:ext cx="548640" cy="274320"/>
          </a:xfrm>
          <a:prstGeom prst="rect">
            <a:avLst/>
          </a:prstGeom>
          <a:noFill/>
          <a:ln/>
        </p:spPr>
        <p:txBody>
          <a:bodyPr wrap="square" lIns="0" tIns="0" rIns="0" bIns="0" rtlCol="0" anchor="ctr"/>
          <a:lstStyle/>
          <a:p>
            <a:pPr algn="r" indent="0" marL="0">
              <a:buNone/>
            </a:pPr>
            <a:r>
              <a:rPr lang="en-US" sz="1050" dirty="0">
                <a:solidFill>
                  <a:srgbClr val="7A8AA3"/>
                </a:solidFill>
                <a:latin typeface="Arial" pitchFamily="34" charset="0"/>
                <a:ea typeface="Arial" pitchFamily="34" charset="-122"/>
                <a:cs typeface="Arial" pitchFamily="34" charset="-120"/>
              </a:rPr>
              <a:t>浅い</a:t>
            </a:r>
            <a:endParaRPr lang="en-US" sz="1050" dirty="0"/>
          </a:p>
        </p:txBody>
      </p:sp>
      <p:sp>
        <p:nvSpPr>
          <p:cNvPr id="22" name="Text 19"/>
          <p:cNvSpPr txBox="1"/>
          <p:nvPr/>
        </p:nvSpPr>
        <p:spPr>
          <a:xfrm>
            <a:off x="1325880" y="5367528"/>
            <a:ext cx="822960" cy="274320"/>
          </a:xfrm>
          <a:prstGeom prst="rect">
            <a:avLst/>
          </a:prstGeom>
          <a:noFill/>
          <a:ln/>
        </p:spPr>
        <p:txBody>
          <a:bodyPr wrap="square" lIns="0" tIns="0" rIns="0" bIns="0" rtlCol="0" anchor="ctr"/>
          <a:lstStyle/>
          <a:p>
            <a:pPr indent="0" marL="0">
              <a:buNone/>
            </a:pPr>
            <a:r>
              <a:rPr lang="en-US" sz="1050" dirty="0">
                <a:solidFill>
                  <a:srgbClr val="7A8AA3"/>
                </a:solidFill>
                <a:latin typeface="Arial" pitchFamily="34" charset="0"/>
                <a:ea typeface="Arial" pitchFamily="34" charset="-122"/>
                <a:cs typeface="Arial" pitchFamily="34" charset="-120"/>
              </a:rPr>
              <a:t>少ない</a:t>
            </a:r>
            <a:endParaRPr lang="en-US" sz="1050" dirty="0"/>
          </a:p>
        </p:txBody>
      </p:sp>
      <p:sp>
        <p:nvSpPr>
          <p:cNvPr id="23" name="Text 20"/>
          <p:cNvSpPr txBox="1"/>
          <p:nvPr/>
        </p:nvSpPr>
        <p:spPr>
          <a:xfrm>
            <a:off x="6537960" y="5367528"/>
            <a:ext cx="822960" cy="274320"/>
          </a:xfrm>
          <a:prstGeom prst="rect">
            <a:avLst/>
          </a:prstGeom>
          <a:noFill/>
          <a:ln/>
        </p:spPr>
        <p:txBody>
          <a:bodyPr wrap="square" lIns="0" tIns="0" rIns="0" bIns="0" rtlCol="0" anchor="ctr"/>
          <a:lstStyle/>
          <a:p>
            <a:pPr algn="r" indent="0" marL="0">
              <a:buNone/>
            </a:pPr>
            <a:r>
              <a:rPr lang="en-US" sz="1050" dirty="0">
                <a:solidFill>
                  <a:srgbClr val="7A8AA3"/>
                </a:solidFill>
                <a:latin typeface="Arial" pitchFamily="34" charset="0"/>
                <a:ea typeface="Arial" pitchFamily="34" charset="-122"/>
                <a:cs typeface="Arial" pitchFamily="34" charset="-120"/>
              </a:rPr>
              <a:t>多い</a:t>
            </a:r>
            <a:endParaRPr lang="en-US" sz="1050" dirty="0"/>
          </a:p>
        </p:txBody>
      </p:sp>
      <p:sp>
        <p:nvSpPr>
          <p:cNvPr id="24" name="Text 21"/>
          <p:cNvSpPr txBox="1"/>
          <p:nvPr/>
        </p:nvSpPr>
        <p:spPr>
          <a:xfrm>
            <a:off x="1325880" y="5367528"/>
            <a:ext cx="6035040" cy="274320"/>
          </a:xfrm>
          <a:prstGeom prst="rect">
            <a:avLst/>
          </a:prstGeom>
          <a:noFill/>
          <a:ln/>
        </p:spPr>
        <p:txBody>
          <a:bodyPr wrap="square" lIns="0" tIns="0" rIns="0" bIns="0" rtlCol="0" anchor="ctr"/>
          <a:lstStyle/>
          <a:p>
            <a:pPr algn="ctr" indent="0" marL="0">
              <a:buNone/>
            </a:pPr>
            <a:r>
              <a:rPr lang="en-US" sz="1250" b="1" dirty="0">
                <a:solidFill>
                  <a:srgbClr val="0E1B2C"/>
                </a:solidFill>
                <a:latin typeface="Arial" pitchFamily="34" charset="0"/>
                <a:ea typeface="Arial" pitchFamily="34" charset="-122"/>
                <a:cs typeface="Arial" pitchFamily="34" charset="-120"/>
              </a:rPr>
              <a:t>人数</a:t>
            </a:r>
            <a:endParaRPr lang="en-US" sz="1250" dirty="0"/>
          </a:p>
        </p:txBody>
      </p:sp>
      <p:sp>
        <p:nvSpPr>
          <p:cNvPr id="25" name="Shape 22"/>
          <p:cNvSpPr/>
          <p:nvPr/>
        </p:nvSpPr>
        <p:spPr>
          <a:xfrm>
            <a:off x="7726680" y="1691640"/>
            <a:ext cx="3867912" cy="1481328"/>
          </a:xfrm>
          <a:prstGeom prst="roundRect">
            <a:avLst>
              <a:gd name="adj" fmla="val 4938"/>
            </a:avLst>
          </a:prstGeom>
          <a:solidFill>
            <a:srgbClr val="E8F0FC"/>
          </a:solidFill>
          <a:ln/>
        </p:spPr>
      </p:sp>
      <p:sp>
        <p:nvSpPr>
          <p:cNvPr id="26" name="Text 23"/>
          <p:cNvSpPr txBox="1"/>
          <p:nvPr/>
        </p:nvSpPr>
        <p:spPr>
          <a:xfrm>
            <a:off x="8046720" y="1874520"/>
            <a:ext cx="3291840" cy="274320"/>
          </a:xfrm>
          <a:prstGeom prst="rect">
            <a:avLst/>
          </a:prstGeom>
          <a:noFill/>
          <a:ln/>
        </p:spPr>
        <p:txBody>
          <a:bodyPr wrap="square" lIns="0" tIns="0" rIns="0" bIns="0" rtlCol="0" anchor="ctr"/>
          <a:lstStyle/>
          <a:p>
            <a:pPr indent="0" marL="0">
              <a:buNone/>
            </a:pPr>
            <a:r>
              <a:rPr lang="en-US" sz="1150" dirty="0">
                <a:solidFill>
                  <a:srgbClr val="3A4A61"/>
                </a:solidFill>
                <a:latin typeface="Arial" pitchFamily="34" charset="0"/>
                <a:ea typeface="Arial" pitchFamily="34" charset="-122"/>
                <a:cs typeface="Arial" pitchFamily="34" charset="-120"/>
              </a:rPr>
              <a:t>見るのは人数ではなく</a:t>
            </a:r>
            <a:endParaRPr lang="en-US" sz="1150" dirty="0"/>
          </a:p>
        </p:txBody>
      </p:sp>
      <p:sp>
        <p:nvSpPr>
          <p:cNvPr id="27" name="Text 24"/>
          <p:cNvSpPr txBox="1"/>
          <p:nvPr/>
        </p:nvSpPr>
        <p:spPr>
          <a:xfrm>
            <a:off x="8046720" y="2194560"/>
            <a:ext cx="3291840" cy="457200"/>
          </a:xfrm>
          <a:prstGeom prst="rect">
            <a:avLst/>
          </a:prstGeom>
          <a:noFill/>
          <a:ln/>
        </p:spPr>
        <p:txBody>
          <a:bodyPr wrap="square" lIns="0" tIns="0" rIns="0" bIns="0" rtlCol="0" anchor="ctr"/>
          <a:lstStyle/>
          <a:p>
            <a:pPr indent="0" marL="0">
              <a:buNone/>
            </a:pPr>
            <a:r>
              <a:rPr lang="en-US" sz="2100" b="1" dirty="0">
                <a:solidFill>
                  <a:srgbClr val="1E6FE8"/>
                </a:solidFill>
                <a:latin typeface="Arial" pitchFamily="34" charset="0"/>
                <a:ea typeface="Arial" pitchFamily="34" charset="-122"/>
                <a:cs typeface="Arial" pitchFamily="34" charset="-120"/>
              </a:rPr>
              <a:t>課題の深さ × 人数</a:t>
            </a:r>
            <a:endParaRPr lang="en-US" sz="2100" dirty="0"/>
          </a:p>
        </p:txBody>
      </p:sp>
      <p:sp>
        <p:nvSpPr>
          <p:cNvPr id="28" name="Text 25"/>
          <p:cNvSpPr txBox="1"/>
          <p:nvPr/>
        </p:nvSpPr>
        <p:spPr>
          <a:xfrm>
            <a:off x="8046720" y="2697480"/>
            <a:ext cx="3291840" cy="320040"/>
          </a:xfrm>
          <a:prstGeom prst="rect">
            <a:avLst/>
          </a:prstGeom>
          <a:noFill/>
          <a:ln/>
        </p:spPr>
        <p:txBody>
          <a:bodyPr wrap="square" lIns="0" tIns="0" rIns="0" bIns="0" rtlCol="0" anchor="ctr"/>
          <a:lstStyle/>
          <a:p>
            <a:pPr indent="0" marL="0">
              <a:buNone/>
            </a:pPr>
            <a:r>
              <a:rPr lang="en-US" sz="1150" b="1" dirty="0">
                <a:solidFill>
                  <a:srgbClr val="0E1B2C"/>
                </a:solidFill>
                <a:latin typeface="Arial" pitchFamily="34" charset="0"/>
                <a:ea typeface="Arial" pitchFamily="34" charset="-122"/>
                <a:cs typeface="Arial" pitchFamily="34" charset="-120"/>
              </a:rPr>
              <a:t>100万人 × 困り度10  ＜  3万人 × 困り度100</a:t>
            </a:r>
            <a:endParaRPr lang="en-US" sz="1150" dirty="0"/>
          </a:p>
        </p:txBody>
      </p:sp>
      <p:sp>
        <p:nvSpPr>
          <p:cNvPr id="29" name="Shape 26"/>
          <p:cNvSpPr/>
          <p:nvPr/>
        </p:nvSpPr>
        <p:spPr>
          <a:xfrm>
            <a:off x="7726680" y="3337560"/>
            <a:ext cx="3867912" cy="2148840"/>
          </a:xfrm>
          <a:prstGeom prst="roundRect">
            <a:avLst>
              <a:gd name="adj" fmla="val 3404"/>
            </a:avLst>
          </a:prstGeom>
          <a:solidFill>
            <a:srgbClr val="F2F6FD"/>
          </a:solidFill>
          <a:ln/>
        </p:spPr>
      </p:sp>
      <p:sp>
        <p:nvSpPr>
          <p:cNvPr id="30" name="Text 27"/>
          <p:cNvSpPr txBox="1"/>
          <p:nvPr/>
        </p:nvSpPr>
        <p:spPr>
          <a:xfrm>
            <a:off x="8046720" y="3520440"/>
            <a:ext cx="3291840" cy="292608"/>
          </a:xfrm>
          <a:prstGeom prst="rect">
            <a:avLst/>
          </a:prstGeom>
          <a:noFill/>
          <a:ln/>
        </p:spPr>
        <p:txBody>
          <a:bodyPr wrap="square" lIns="0" tIns="0" rIns="0" bIns="0" rtlCol="0" anchor="ctr"/>
          <a:lstStyle/>
          <a:p>
            <a:pPr indent="0" marL="0">
              <a:buNone/>
            </a:pPr>
            <a:r>
              <a:rPr lang="en-US" sz="1250" b="1" dirty="0">
                <a:solidFill>
                  <a:srgbClr val="0E1B2C"/>
                </a:solidFill>
                <a:latin typeface="Arial" pitchFamily="34" charset="0"/>
                <a:ea typeface="Arial" pitchFamily="34" charset="-122"/>
                <a:cs typeface="Arial" pitchFamily="34" charset="-120"/>
              </a:rPr>
              <a:t>課題が深い人は、こう動く</a:t>
            </a:r>
            <a:endParaRPr lang="en-US" sz="1250" dirty="0"/>
          </a:p>
        </p:txBody>
      </p:sp>
      <p:sp>
        <p:nvSpPr>
          <p:cNvPr id="31" name="Shape 28"/>
          <p:cNvSpPr/>
          <p:nvPr/>
        </p:nvSpPr>
        <p:spPr>
          <a:xfrm>
            <a:off x="8065008" y="3968496"/>
            <a:ext cx="118872" cy="118872"/>
          </a:xfrm>
          <a:prstGeom prst="ellipse">
            <a:avLst/>
          </a:prstGeom>
          <a:solidFill>
            <a:srgbClr val="1E6FE8"/>
          </a:solidFill>
          <a:ln/>
        </p:spPr>
      </p:sp>
      <p:sp>
        <p:nvSpPr>
          <p:cNvPr id="32" name="Text 29"/>
          <p:cNvSpPr txBox="1"/>
          <p:nvPr/>
        </p:nvSpPr>
        <p:spPr>
          <a:xfrm>
            <a:off x="8302752" y="3886200"/>
            <a:ext cx="3063240" cy="27432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自分から検索する</a:t>
            </a:r>
            <a:endParaRPr lang="en-US" sz="1200" dirty="0"/>
          </a:p>
        </p:txBody>
      </p:sp>
      <p:sp>
        <p:nvSpPr>
          <p:cNvPr id="33" name="Shape 30"/>
          <p:cNvSpPr/>
          <p:nvPr/>
        </p:nvSpPr>
        <p:spPr>
          <a:xfrm>
            <a:off x="8065008" y="4270248"/>
            <a:ext cx="118872" cy="118872"/>
          </a:xfrm>
          <a:prstGeom prst="ellipse">
            <a:avLst/>
          </a:prstGeom>
          <a:solidFill>
            <a:srgbClr val="1E6FE8"/>
          </a:solidFill>
          <a:ln/>
        </p:spPr>
      </p:sp>
      <p:sp>
        <p:nvSpPr>
          <p:cNvPr id="34" name="Text 31"/>
          <p:cNvSpPr txBox="1"/>
          <p:nvPr/>
        </p:nvSpPr>
        <p:spPr>
          <a:xfrm>
            <a:off x="8302752" y="4187952"/>
            <a:ext cx="3063240" cy="27432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比較して調べる</a:t>
            </a:r>
            <a:endParaRPr lang="en-US" sz="1200" dirty="0"/>
          </a:p>
        </p:txBody>
      </p:sp>
      <p:sp>
        <p:nvSpPr>
          <p:cNvPr id="35" name="Shape 32"/>
          <p:cNvSpPr/>
          <p:nvPr/>
        </p:nvSpPr>
        <p:spPr>
          <a:xfrm>
            <a:off x="8065008" y="4572000"/>
            <a:ext cx="118872" cy="118872"/>
          </a:xfrm>
          <a:prstGeom prst="ellipse">
            <a:avLst/>
          </a:prstGeom>
          <a:solidFill>
            <a:srgbClr val="1E6FE8"/>
          </a:solidFill>
          <a:ln/>
        </p:spPr>
      </p:sp>
      <p:sp>
        <p:nvSpPr>
          <p:cNvPr id="36" name="Text 33"/>
          <p:cNvSpPr txBox="1"/>
          <p:nvPr/>
        </p:nvSpPr>
        <p:spPr>
          <a:xfrm>
            <a:off x="8302752" y="4489704"/>
            <a:ext cx="3063240" cy="27432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多少高くても買う</a:t>
            </a:r>
            <a:endParaRPr lang="en-US" sz="1200" dirty="0"/>
          </a:p>
        </p:txBody>
      </p:sp>
      <p:sp>
        <p:nvSpPr>
          <p:cNvPr id="37" name="Shape 34"/>
          <p:cNvSpPr/>
          <p:nvPr/>
        </p:nvSpPr>
        <p:spPr>
          <a:xfrm>
            <a:off x="8065008" y="4873752"/>
            <a:ext cx="118872" cy="118872"/>
          </a:xfrm>
          <a:prstGeom prst="ellipse">
            <a:avLst/>
          </a:prstGeom>
          <a:solidFill>
            <a:srgbClr val="1E6FE8"/>
          </a:solidFill>
          <a:ln/>
        </p:spPr>
      </p:sp>
      <p:sp>
        <p:nvSpPr>
          <p:cNvPr id="38" name="Text 35"/>
          <p:cNvSpPr txBox="1"/>
          <p:nvPr/>
        </p:nvSpPr>
        <p:spPr>
          <a:xfrm>
            <a:off x="8302752" y="4791456"/>
            <a:ext cx="3063240" cy="27432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満足すれば口コミする</a:t>
            </a:r>
            <a:endParaRPr lang="en-US" sz="1200" dirty="0"/>
          </a:p>
        </p:txBody>
      </p:sp>
      <p:sp>
        <p:nvSpPr>
          <p:cNvPr id="39" name="Shape 36"/>
          <p:cNvSpPr/>
          <p:nvPr/>
        </p:nvSpPr>
        <p:spPr>
          <a:xfrm>
            <a:off x="8065008" y="5175504"/>
            <a:ext cx="118872" cy="118872"/>
          </a:xfrm>
          <a:prstGeom prst="ellipse">
            <a:avLst/>
          </a:prstGeom>
          <a:solidFill>
            <a:srgbClr val="1E6FE8"/>
          </a:solidFill>
          <a:ln/>
        </p:spPr>
      </p:sp>
      <p:sp>
        <p:nvSpPr>
          <p:cNvPr id="40" name="Text 37"/>
          <p:cNvSpPr txBox="1"/>
          <p:nvPr/>
        </p:nvSpPr>
        <p:spPr>
          <a:xfrm>
            <a:off x="8302752" y="5093208"/>
            <a:ext cx="3063240" cy="27432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リピートする</a:t>
            </a:r>
            <a:endParaRPr lang="en-US" sz="1200" dirty="0"/>
          </a:p>
        </p:txBody>
      </p:sp>
      <p:sp>
        <p:nvSpPr>
          <p:cNvPr id="41" name="Shape 38"/>
          <p:cNvSpPr/>
          <p:nvPr/>
        </p:nvSpPr>
        <p:spPr>
          <a:xfrm>
            <a:off x="594360" y="5760720"/>
            <a:ext cx="11000232" cy="566928"/>
          </a:xfrm>
          <a:prstGeom prst="roundRect">
            <a:avLst>
              <a:gd name="adj" fmla="val 14516"/>
            </a:avLst>
          </a:prstGeom>
          <a:solidFill>
            <a:srgbClr val="E8F0FC"/>
          </a:solidFill>
          <a:ln/>
        </p:spPr>
      </p:sp>
      <p:sp>
        <p:nvSpPr>
          <p:cNvPr id="42" name="Text 39"/>
          <p:cNvSpPr txBox="1"/>
          <p:nvPr/>
        </p:nvSpPr>
        <p:spPr>
          <a:xfrm>
            <a:off x="960120" y="5760720"/>
            <a:ext cx="10268712" cy="566928"/>
          </a:xfrm>
          <a:prstGeom prst="rect">
            <a:avLst/>
          </a:prstGeom>
          <a:noFill/>
          <a:ln/>
        </p:spPr>
        <p:txBody>
          <a:bodyPr wrap="square" lIns="0" tIns="0" rIns="0" bIns="0" rtlCol="0" anchor="ctr"/>
          <a:lstStyle/>
          <a:p>
            <a:pPr algn="l" indent="0" marL="0">
              <a:buNone/>
            </a:pPr>
            <a:r>
              <a:rPr lang="en-US" sz="1600" b="1" dirty="0">
                <a:solidFill>
                  <a:srgbClr val="1E6FE8"/>
                </a:solidFill>
                <a:latin typeface="Arial" pitchFamily="34" charset="0"/>
                <a:ea typeface="Arial" pitchFamily="34" charset="-122"/>
                <a:cs typeface="Arial" pitchFamily="34" charset="-120"/>
              </a:rPr>
              <a:t>探すべきは　</a:t>
            </a:r>
            <a:pPr algn="l" indent="0" marL="0">
              <a:buNone/>
            </a:pPr>
            <a:r>
              <a:rPr lang="en-US" sz="1600" b="1" dirty="0">
                <a:solidFill>
                  <a:srgbClr val="0E1B2C"/>
                </a:solidFill>
                <a:latin typeface="Arial" pitchFamily="34" charset="0"/>
                <a:ea typeface="Arial" pitchFamily="34" charset="-122"/>
                <a:cs typeface="Arial" pitchFamily="34" charset="-120"/>
              </a:rPr>
              <a:t>「人数の多い市場」ではなく「困っている人が密集している市場」。</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11</a:t>
            </a:r>
            <a:endParaRPr lang="en-US" sz="850" dirty="0"/>
          </a:p>
        </p:txBody>
      </p:sp>
      <p:sp>
        <p:nvSpPr>
          <p:cNvPr id="5" name="Text 2"/>
          <p:cNvSpPr txBox="1"/>
          <p:nvPr/>
        </p:nvSpPr>
        <p:spPr>
          <a:xfrm>
            <a:off x="594360" y="1828800"/>
            <a:ext cx="3200400" cy="1463040"/>
          </a:xfrm>
          <a:prstGeom prst="rect">
            <a:avLst/>
          </a:prstGeom>
          <a:noFill/>
          <a:ln/>
        </p:spPr>
        <p:txBody>
          <a:bodyPr wrap="square" lIns="0" tIns="0" rIns="0" bIns="0" rtlCol="0" anchor="ctr"/>
          <a:lstStyle/>
          <a:p>
            <a:pPr indent="0" marL="0">
              <a:buNone/>
            </a:pPr>
            <a:r>
              <a:rPr lang="en-US" sz="9600" b="1" dirty="0">
                <a:solidFill>
                  <a:srgbClr val="1E6FE8"/>
                </a:solidFill>
                <a:latin typeface="Arial" pitchFamily="34" charset="0"/>
                <a:ea typeface="Arial" pitchFamily="34" charset="-122"/>
                <a:cs typeface="Arial" pitchFamily="34" charset="-120"/>
              </a:rPr>
              <a:t>03</a:t>
            </a:r>
            <a:endParaRPr lang="en-US" sz="9600" dirty="0"/>
          </a:p>
        </p:txBody>
      </p:sp>
      <p:sp>
        <p:nvSpPr>
          <p:cNvPr id="6" name="Text 3"/>
          <p:cNvSpPr txBox="1"/>
          <p:nvPr/>
        </p:nvSpPr>
        <p:spPr>
          <a:xfrm>
            <a:off x="594360" y="3383280"/>
            <a:ext cx="1078992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課題起点で、商品を設計する</a:t>
            </a:r>
            <a:endParaRPr lang="en-US" sz="3400" dirty="0"/>
          </a:p>
        </p:txBody>
      </p:sp>
      <p:sp>
        <p:nvSpPr>
          <p:cNvPr id="7" name="Text 4"/>
          <p:cNvSpPr txBox="1"/>
          <p:nvPr/>
        </p:nvSpPr>
        <p:spPr>
          <a:xfrm>
            <a:off x="594360" y="4206240"/>
            <a:ext cx="10515600" cy="411480"/>
          </a:xfrm>
          <a:prstGeom prst="rect">
            <a:avLst/>
          </a:prstGeom>
          <a:noFill/>
          <a:ln/>
        </p:spPr>
        <p:txBody>
          <a:bodyPr wrap="square" lIns="0" tIns="0" rIns="0" bIns="0" rtlCol="0" anchor="ctr"/>
          <a:lstStyle/>
          <a:p>
            <a:pPr indent="0" marL="0">
              <a:buNone/>
            </a:pPr>
            <a:r>
              <a:rPr lang="en-US" sz="1500" dirty="0">
                <a:solidFill>
                  <a:srgbClr val="AFC6E8"/>
                </a:solidFill>
                <a:latin typeface="Arial" pitchFamily="34" charset="0"/>
                <a:ea typeface="Arial" pitchFamily="34" charset="-122"/>
                <a:cs typeface="Arial" pitchFamily="34" charset="-120"/>
              </a:rPr>
              <a:t>ここからは、実際に手を動かすパートです。</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12</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5 QUESTIONS</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商品開発の最初に答える、5つの質問</a:t>
            </a:r>
            <a:endParaRPr lang="en-US" sz="2600" dirty="0"/>
          </a:p>
        </p:txBody>
      </p:sp>
      <p:sp>
        <p:nvSpPr>
          <p:cNvPr id="7" name="Shape 4"/>
          <p:cNvSpPr/>
          <p:nvPr/>
        </p:nvSpPr>
        <p:spPr>
          <a:xfrm>
            <a:off x="594360" y="1600200"/>
            <a:ext cx="2057400" cy="3611880"/>
          </a:xfrm>
          <a:prstGeom prst="roundRect">
            <a:avLst>
              <a:gd name="adj" fmla="val 3556"/>
            </a:avLst>
          </a:prstGeom>
          <a:solidFill>
            <a:srgbClr val="F2F6FD"/>
          </a:solidFill>
          <a:ln/>
        </p:spPr>
      </p:sp>
      <p:sp>
        <p:nvSpPr>
          <p:cNvPr id="8" name="Shape 5"/>
          <p:cNvSpPr/>
          <p:nvPr/>
        </p:nvSpPr>
        <p:spPr>
          <a:xfrm>
            <a:off x="850392" y="1847088"/>
            <a:ext cx="512064" cy="512064"/>
          </a:xfrm>
          <a:prstGeom prst="ellipse">
            <a:avLst/>
          </a:prstGeom>
          <a:solidFill>
            <a:srgbClr val="1E6FE8"/>
          </a:solidFill>
          <a:ln/>
        </p:spPr>
      </p:sp>
      <p:sp>
        <p:nvSpPr>
          <p:cNvPr id="9" name="Text 6"/>
          <p:cNvSpPr txBox="1"/>
          <p:nvPr/>
        </p:nvSpPr>
        <p:spPr>
          <a:xfrm>
            <a:off x="850392" y="18470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①</a:t>
            </a:r>
            <a:endParaRPr lang="en-US" sz="1700" dirty="0"/>
          </a:p>
        </p:txBody>
      </p:sp>
      <p:sp>
        <p:nvSpPr>
          <p:cNvPr id="10" name="Text 7"/>
          <p:cNvSpPr txBox="1"/>
          <p:nvPr/>
        </p:nvSpPr>
        <p:spPr>
          <a:xfrm>
            <a:off x="850392" y="2487168"/>
            <a:ext cx="1600200" cy="292608"/>
          </a:xfrm>
          <a:prstGeom prst="rect">
            <a:avLst/>
          </a:prstGeom>
          <a:noFill/>
          <a:ln/>
        </p:spPr>
        <p:txBody>
          <a:bodyPr wrap="square" lIns="0" tIns="0" rIns="0" bIns="0" rtlCol="0" anchor="ctr"/>
          <a:lstStyle/>
          <a:p>
            <a:pPr indent="0" marL="0">
              <a:buNone/>
            </a:pPr>
            <a:r>
              <a:rPr lang="en-US" sz="1250" b="1" spc="100" kern="0" dirty="0">
                <a:solidFill>
                  <a:srgbClr val="1E6FE8"/>
                </a:solidFill>
                <a:latin typeface="Arial" pitchFamily="34" charset="0"/>
                <a:ea typeface="Arial" pitchFamily="34" charset="-122"/>
                <a:cs typeface="Arial" pitchFamily="34" charset="-120"/>
              </a:rPr>
              <a:t>WHO</a:t>
            </a:r>
            <a:endParaRPr lang="en-US" sz="1250" dirty="0"/>
          </a:p>
        </p:txBody>
      </p:sp>
      <p:sp>
        <p:nvSpPr>
          <p:cNvPr id="11" name="Text 8"/>
          <p:cNvSpPr txBox="1"/>
          <p:nvPr/>
        </p:nvSpPr>
        <p:spPr>
          <a:xfrm>
            <a:off x="850392" y="2816352"/>
            <a:ext cx="1645920" cy="822960"/>
          </a:xfrm>
          <a:prstGeom prst="rect">
            <a:avLst/>
          </a:prstGeom>
          <a:noFill/>
          <a:ln/>
        </p:spPr>
        <p:txBody>
          <a:bodyPr wrap="square" lIns="0" tIns="0" rIns="0" bIns="0" rtlCol="0" anchor="t"/>
          <a:lstStyle/>
          <a:p>
            <a:pPr indent="0" marL="0">
              <a:lnSpc>
                <a:spcPts val="1900"/>
              </a:lnSpc>
              <a:buNone/>
            </a:pPr>
            <a:r>
              <a:rPr lang="en-US" sz="1350" b="1" dirty="0">
                <a:solidFill>
                  <a:srgbClr val="0E1B2C"/>
                </a:solidFill>
                <a:latin typeface="Arial" pitchFamily="34" charset="0"/>
                <a:ea typeface="Arial" pitchFamily="34" charset="-122"/>
                <a:cs typeface="Arial" pitchFamily="34" charset="-120"/>
              </a:rPr>
              <a:t>誰が</a:t>
            </a:r>
            <a:endParaRPr lang="en-US" sz="1350" dirty="0"/>
          </a:p>
          <a:p>
            <a:pPr indent="0" marL="0">
              <a:lnSpc>
                <a:spcPts val="1900"/>
              </a:lnSpc>
              <a:buNone/>
            </a:pPr>
            <a:r>
              <a:rPr lang="en-US" sz="1350" b="1" dirty="0">
                <a:solidFill>
                  <a:srgbClr val="0E1B2C"/>
                </a:solidFill>
                <a:latin typeface="Arial" pitchFamily="34" charset="0"/>
                <a:ea typeface="Arial" pitchFamily="34" charset="-122"/>
                <a:cs typeface="Arial" pitchFamily="34" charset="-120"/>
              </a:rPr>
              <a:t>困っているのか？</a:t>
            </a:r>
            <a:endParaRPr lang="en-US" sz="1350" dirty="0"/>
          </a:p>
        </p:txBody>
      </p:sp>
      <p:sp>
        <p:nvSpPr>
          <p:cNvPr id="12" name="Text 9"/>
          <p:cNvSpPr txBox="1"/>
          <p:nvPr/>
        </p:nvSpPr>
        <p:spPr>
          <a:xfrm>
            <a:off x="850392" y="3749040"/>
            <a:ext cx="1645920" cy="1600200"/>
          </a:xfrm>
          <a:prstGeom prst="rect">
            <a:avLst/>
          </a:prstGeom>
          <a:noFill/>
          <a:ln/>
        </p:spPr>
        <p:txBody>
          <a:bodyPr wrap="square" lIns="0" tIns="0" rIns="0" bIns="0" rtlCol="0" anchor="t"/>
          <a:lstStyle/>
          <a:p>
            <a:pPr indent="0" marL="0">
              <a:lnSpc>
                <a:spcPts val="1600"/>
              </a:lnSpc>
              <a:buNone/>
            </a:pPr>
            <a:r>
              <a:rPr lang="en-US" sz="1050" dirty="0">
                <a:solidFill>
                  <a:srgbClr val="3A4A61"/>
                </a:solidFill>
                <a:latin typeface="Arial" pitchFamily="34" charset="0"/>
                <a:ea typeface="Arial" pitchFamily="34" charset="-122"/>
                <a:cs typeface="Arial" pitchFamily="34" charset="-120"/>
              </a:rPr>
              <a:t>年齢・性別ではなく</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「どんな状況の人か」</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まで定義する</a:t>
            </a:r>
            <a:endParaRPr lang="en-US" sz="1050" dirty="0"/>
          </a:p>
        </p:txBody>
      </p:sp>
      <p:sp>
        <p:nvSpPr>
          <p:cNvPr id="13" name="Shape 10"/>
          <p:cNvSpPr/>
          <p:nvPr/>
        </p:nvSpPr>
        <p:spPr>
          <a:xfrm>
            <a:off x="2836926" y="1600200"/>
            <a:ext cx="2057400" cy="3611880"/>
          </a:xfrm>
          <a:prstGeom prst="roundRect">
            <a:avLst>
              <a:gd name="adj" fmla="val 3556"/>
            </a:avLst>
          </a:prstGeom>
          <a:solidFill>
            <a:srgbClr val="F2F6FD"/>
          </a:solidFill>
          <a:ln/>
        </p:spPr>
      </p:sp>
      <p:sp>
        <p:nvSpPr>
          <p:cNvPr id="14" name="Shape 11"/>
          <p:cNvSpPr/>
          <p:nvPr/>
        </p:nvSpPr>
        <p:spPr>
          <a:xfrm>
            <a:off x="3092958" y="1847088"/>
            <a:ext cx="512064" cy="512064"/>
          </a:xfrm>
          <a:prstGeom prst="ellipse">
            <a:avLst/>
          </a:prstGeom>
          <a:solidFill>
            <a:srgbClr val="1E6FE8"/>
          </a:solidFill>
          <a:ln/>
        </p:spPr>
      </p:sp>
      <p:sp>
        <p:nvSpPr>
          <p:cNvPr id="15" name="Text 12"/>
          <p:cNvSpPr txBox="1"/>
          <p:nvPr/>
        </p:nvSpPr>
        <p:spPr>
          <a:xfrm>
            <a:off x="3092958" y="18470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②</a:t>
            </a:r>
            <a:endParaRPr lang="en-US" sz="1700" dirty="0"/>
          </a:p>
        </p:txBody>
      </p:sp>
      <p:sp>
        <p:nvSpPr>
          <p:cNvPr id="16" name="Text 13"/>
          <p:cNvSpPr txBox="1"/>
          <p:nvPr/>
        </p:nvSpPr>
        <p:spPr>
          <a:xfrm>
            <a:off x="3092958" y="2487168"/>
            <a:ext cx="1600200" cy="292608"/>
          </a:xfrm>
          <a:prstGeom prst="rect">
            <a:avLst/>
          </a:prstGeom>
          <a:noFill/>
          <a:ln/>
        </p:spPr>
        <p:txBody>
          <a:bodyPr wrap="square" lIns="0" tIns="0" rIns="0" bIns="0" rtlCol="0" anchor="ctr"/>
          <a:lstStyle/>
          <a:p>
            <a:pPr indent="0" marL="0">
              <a:buNone/>
            </a:pPr>
            <a:r>
              <a:rPr lang="en-US" sz="1250" b="1" spc="100" kern="0" dirty="0">
                <a:solidFill>
                  <a:srgbClr val="1E6FE8"/>
                </a:solidFill>
                <a:latin typeface="Arial" pitchFamily="34" charset="0"/>
                <a:ea typeface="Arial" pitchFamily="34" charset="-122"/>
                <a:cs typeface="Arial" pitchFamily="34" charset="-120"/>
              </a:rPr>
              <a:t>PAIN</a:t>
            </a:r>
            <a:endParaRPr lang="en-US" sz="1250" dirty="0"/>
          </a:p>
        </p:txBody>
      </p:sp>
      <p:sp>
        <p:nvSpPr>
          <p:cNvPr id="17" name="Text 14"/>
          <p:cNvSpPr txBox="1"/>
          <p:nvPr/>
        </p:nvSpPr>
        <p:spPr>
          <a:xfrm>
            <a:off x="3092958" y="2816352"/>
            <a:ext cx="1645920" cy="822960"/>
          </a:xfrm>
          <a:prstGeom prst="rect">
            <a:avLst/>
          </a:prstGeom>
          <a:noFill/>
          <a:ln/>
        </p:spPr>
        <p:txBody>
          <a:bodyPr wrap="square" lIns="0" tIns="0" rIns="0" bIns="0" rtlCol="0" anchor="t"/>
          <a:lstStyle/>
          <a:p>
            <a:pPr indent="0" marL="0">
              <a:lnSpc>
                <a:spcPts val="1900"/>
              </a:lnSpc>
              <a:buNone/>
            </a:pPr>
            <a:r>
              <a:rPr lang="en-US" sz="1350" b="1" dirty="0">
                <a:solidFill>
                  <a:srgbClr val="0E1B2C"/>
                </a:solidFill>
                <a:latin typeface="Arial" pitchFamily="34" charset="0"/>
                <a:ea typeface="Arial" pitchFamily="34" charset="-122"/>
                <a:cs typeface="Arial" pitchFamily="34" charset="-120"/>
              </a:rPr>
              <a:t>何に</a:t>
            </a:r>
            <a:endParaRPr lang="en-US" sz="1350" dirty="0"/>
          </a:p>
          <a:p>
            <a:pPr indent="0" marL="0">
              <a:lnSpc>
                <a:spcPts val="1900"/>
              </a:lnSpc>
              <a:buNone/>
            </a:pPr>
            <a:r>
              <a:rPr lang="en-US" sz="1350" b="1" dirty="0">
                <a:solidFill>
                  <a:srgbClr val="0E1B2C"/>
                </a:solidFill>
                <a:latin typeface="Arial" pitchFamily="34" charset="0"/>
                <a:ea typeface="Arial" pitchFamily="34" charset="-122"/>
                <a:cs typeface="Arial" pitchFamily="34" charset="-120"/>
              </a:rPr>
              <a:t>困っているのか？</a:t>
            </a:r>
            <a:endParaRPr lang="en-US" sz="1350" dirty="0"/>
          </a:p>
        </p:txBody>
      </p:sp>
      <p:sp>
        <p:nvSpPr>
          <p:cNvPr id="18" name="Text 15"/>
          <p:cNvSpPr txBox="1"/>
          <p:nvPr/>
        </p:nvSpPr>
        <p:spPr>
          <a:xfrm>
            <a:off x="3092958" y="3749040"/>
            <a:ext cx="1645920" cy="1600200"/>
          </a:xfrm>
          <a:prstGeom prst="rect">
            <a:avLst/>
          </a:prstGeom>
          <a:noFill/>
          <a:ln/>
        </p:spPr>
        <p:txBody>
          <a:bodyPr wrap="square" lIns="0" tIns="0" rIns="0" bIns="0" rtlCol="0" anchor="t"/>
          <a:lstStyle/>
          <a:p>
            <a:pPr indent="0" marL="0">
              <a:lnSpc>
                <a:spcPts val="1600"/>
              </a:lnSpc>
              <a:buNone/>
            </a:pPr>
            <a:r>
              <a:rPr lang="en-US" sz="1050" dirty="0">
                <a:solidFill>
                  <a:srgbClr val="3A4A61"/>
                </a:solidFill>
                <a:latin typeface="Arial" pitchFamily="34" charset="0"/>
                <a:ea typeface="Arial" pitchFamily="34" charset="-122"/>
                <a:cs typeface="Arial" pitchFamily="34" charset="-120"/>
              </a:rPr>
              <a:t>面倒・不安・恥ずかしい</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時間がない</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失敗したくない</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諦めている、まで掘る</a:t>
            </a:r>
            <a:endParaRPr lang="en-US" sz="1050" dirty="0"/>
          </a:p>
        </p:txBody>
      </p:sp>
      <p:sp>
        <p:nvSpPr>
          <p:cNvPr id="19" name="Shape 16"/>
          <p:cNvSpPr/>
          <p:nvPr/>
        </p:nvSpPr>
        <p:spPr>
          <a:xfrm>
            <a:off x="5079492" y="1600200"/>
            <a:ext cx="2057400" cy="3611880"/>
          </a:xfrm>
          <a:prstGeom prst="roundRect">
            <a:avLst>
              <a:gd name="adj" fmla="val 3556"/>
            </a:avLst>
          </a:prstGeom>
          <a:solidFill>
            <a:srgbClr val="E8F0FC"/>
          </a:solidFill>
          <a:ln/>
        </p:spPr>
      </p:sp>
      <p:sp>
        <p:nvSpPr>
          <p:cNvPr id="20" name="Shape 17"/>
          <p:cNvSpPr/>
          <p:nvPr/>
        </p:nvSpPr>
        <p:spPr>
          <a:xfrm>
            <a:off x="5335524" y="1847088"/>
            <a:ext cx="512064" cy="512064"/>
          </a:xfrm>
          <a:prstGeom prst="ellipse">
            <a:avLst/>
          </a:prstGeom>
          <a:solidFill>
            <a:srgbClr val="1E6FE8"/>
          </a:solidFill>
          <a:ln/>
        </p:spPr>
      </p:sp>
      <p:sp>
        <p:nvSpPr>
          <p:cNvPr id="21" name="Text 18"/>
          <p:cNvSpPr txBox="1"/>
          <p:nvPr/>
        </p:nvSpPr>
        <p:spPr>
          <a:xfrm>
            <a:off x="5335524" y="18470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③</a:t>
            </a:r>
            <a:endParaRPr lang="en-US" sz="1700" dirty="0"/>
          </a:p>
        </p:txBody>
      </p:sp>
      <p:sp>
        <p:nvSpPr>
          <p:cNvPr id="22" name="Text 19"/>
          <p:cNvSpPr txBox="1"/>
          <p:nvPr/>
        </p:nvSpPr>
        <p:spPr>
          <a:xfrm>
            <a:off x="5335524" y="2487168"/>
            <a:ext cx="1600200" cy="292608"/>
          </a:xfrm>
          <a:prstGeom prst="rect">
            <a:avLst/>
          </a:prstGeom>
          <a:noFill/>
          <a:ln/>
        </p:spPr>
        <p:txBody>
          <a:bodyPr wrap="square" lIns="0" tIns="0" rIns="0" bIns="0" rtlCol="0" anchor="ctr"/>
          <a:lstStyle/>
          <a:p>
            <a:pPr indent="0" marL="0">
              <a:buNone/>
            </a:pPr>
            <a:r>
              <a:rPr lang="en-US" sz="1250" b="1" spc="100" kern="0" dirty="0">
                <a:solidFill>
                  <a:srgbClr val="1E6FE8"/>
                </a:solidFill>
                <a:latin typeface="Arial" pitchFamily="34" charset="0"/>
                <a:ea typeface="Arial" pitchFamily="34" charset="-122"/>
                <a:cs typeface="Arial" pitchFamily="34" charset="-120"/>
              </a:rPr>
              <a:t>WHY</a:t>
            </a:r>
            <a:endParaRPr lang="en-US" sz="1250" dirty="0"/>
          </a:p>
        </p:txBody>
      </p:sp>
      <p:sp>
        <p:nvSpPr>
          <p:cNvPr id="23" name="Text 20"/>
          <p:cNvSpPr txBox="1"/>
          <p:nvPr/>
        </p:nvSpPr>
        <p:spPr>
          <a:xfrm>
            <a:off x="5335524" y="2816352"/>
            <a:ext cx="1645920" cy="822960"/>
          </a:xfrm>
          <a:prstGeom prst="rect">
            <a:avLst/>
          </a:prstGeom>
          <a:noFill/>
          <a:ln/>
        </p:spPr>
        <p:txBody>
          <a:bodyPr wrap="square" lIns="0" tIns="0" rIns="0" bIns="0" rtlCol="0" anchor="t"/>
          <a:lstStyle/>
          <a:p>
            <a:pPr indent="0" marL="0">
              <a:lnSpc>
                <a:spcPts val="1900"/>
              </a:lnSpc>
              <a:buNone/>
            </a:pPr>
            <a:r>
              <a:rPr lang="en-US" sz="1350" b="1" dirty="0">
                <a:solidFill>
                  <a:srgbClr val="0E1B2C"/>
                </a:solidFill>
                <a:latin typeface="Arial" pitchFamily="34" charset="0"/>
                <a:ea typeface="Arial" pitchFamily="34" charset="-122"/>
                <a:cs typeface="Arial" pitchFamily="34" charset="-120"/>
              </a:rPr>
              <a:t>なぜ既存品では</a:t>
            </a:r>
            <a:endParaRPr lang="en-US" sz="1350" dirty="0"/>
          </a:p>
          <a:p>
            <a:pPr indent="0" marL="0">
              <a:lnSpc>
                <a:spcPts val="1900"/>
              </a:lnSpc>
              <a:buNone/>
            </a:pPr>
            <a:r>
              <a:rPr lang="en-US" sz="1350" b="1" dirty="0">
                <a:solidFill>
                  <a:srgbClr val="0E1B2C"/>
                </a:solidFill>
                <a:latin typeface="Arial" pitchFamily="34" charset="0"/>
                <a:ea typeface="Arial" pitchFamily="34" charset="-122"/>
                <a:cs typeface="Arial" pitchFamily="34" charset="-120"/>
              </a:rPr>
              <a:t>解決できないのか？</a:t>
            </a:r>
            <a:endParaRPr lang="en-US" sz="1350" dirty="0"/>
          </a:p>
        </p:txBody>
      </p:sp>
      <p:sp>
        <p:nvSpPr>
          <p:cNvPr id="24" name="Text 21"/>
          <p:cNvSpPr txBox="1"/>
          <p:nvPr/>
        </p:nvSpPr>
        <p:spPr>
          <a:xfrm>
            <a:off x="5335524" y="3749040"/>
            <a:ext cx="1645920" cy="1600200"/>
          </a:xfrm>
          <a:prstGeom prst="rect">
            <a:avLst/>
          </a:prstGeom>
          <a:noFill/>
          <a:ln/>
        </p:spPr>
        <p:txBody>
          <a:bodyPr wrap="square" lIns="0" tIns="0" rIns="0" bIns="0" rtlCol="0" anchor="t"/>
          <a:lstStyle/>
          <a:p>
            <a:pPr indent="0" marL="0">
              <a:lnSpc>
                <a:spcPts val="1600"/>
              </a:lnSpc>
              <a:buNone/>
            </a:pPr>
            <a:r>
              <a:rPr lang="en-US" sz="1050" dirty="0">
                <a:solidFill>
                  <a:srgbClr val="3A4A61"/>
                </a:solidFill>
                <a:latin typeface="Arial" pitchFamily="34" charset="0"/>
                <a:ea typeface="Arial" pitchFamily="34" charset="-122"/>
                <a:cs typeface="Arial" pitchFamily="34" charset="-120"/>
              </a:rPr>
              <a:t>ここが商品開発</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最大のヒントになる</a:t>
            </a:r>
            <a:endParaRPr lang="en-US" sz="1050" dirty="0"/>
          </a:p>
        </p:txBody>
      </p:sp>
      <p:sp>
        <p:nvSpPr>
          <p:cNvPr id="25" name="Shape 22"/>
          <p:cNvSpPr/>
          <p:nvPr/>
        </p:nvSpPr>
        <p:spPr>
          <a:xfrm>
            <a:off x="7322058" y="1600200"/>
            <a:ext cx="2057400" cy="3611880"/>
          </a:xfrm>
          <a:prstGeom prst="roundRect">
            <a:avLst>
              <a:gd name="adj" fmla="val 3556"/>
            </a:avLst>
          </a:prstGeom>
          <a:solidFill>
            <a:srgbClr val="F2F6FD"/>
          </a:solidFill>
          <a:ln/>
        </p:spPr>
      </p:sp>
      <p:sp>
        <p:nvSpPr>
          <p:cNvPr id="26" name="Shape 23"/>
          <p:cNvSpPr/>
          <p:nvPr/>
        </p:nvSpPr>
        <p:spPr>
          <a:xfrm>
            <a:off x="7578090" y="1847088"/>
            <a:ext cx="512064" cy="512064"/>
          </a:xfrm>
          <a:prstGeom prst="ellipse">
            <a:avLst/>
          </a:prstGeom>
          <a:solidFill>
            <a:srgbClr val="1E6FE8"/>
          </a:solidFill>
          <a:ln/>
        </p:spPr>
      </p:sp>
      <p:sp>
        <p:nvSpPr>
          <p:cNvPr id="27" name="Text 24"/>
          <p:cNvSpPr txBox="1"/>
          <p:nvPr/>
        </p:nvSpPr>
        <p:spPr>
          <a:xfrm>
            <a:off x="7578090" y="18470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④</a:t>
            </a:r>
            <a:endParaRPr lang="en-US" sz="1700" dirty="0"/>
          </a:p>
        </p:txBody>
      </p:sp>
      <p:sp>
        <p:nvSpPr>
          <p:cNvPr id="28" name="Text 25"/>
          <p:cNvSpPr txBox="1"/>
          <p:nvPr/>
        </p:nvSpPr>
        <p:spPr>
          <a:xfrm>
            <a:off x="7578090" y="2487168"/>
            <a:ext cx="1600200" cy="292608"/>
          </a:xfrm>
          <a:prstGeom prst="rect">
            <a:avLst/>
          </a:prstGeom>
          <a:noFill/>
          <a:ln/>
        </p:spPr>
        <p:txBody>
          <a:bodyPr wrap="square" lIns="0" tIns="0" rIns="0" bIns="0" rtlCol="0" anchor="ctr"/>
          <a:lstStyle/>
          <a:p>
            <a:pPr indent="0" marL="0">
              <a:buNone/>
            </a:pPr>
            <a:r>
              <a:rPr lang="en-US" sz="1250" b="1" spc="100" kern="0" dirty="0">
                <a:solidFill>
                  <a:srgbClr val="1E6FE8"/>
                </a:solidFill>
                <a:latin typeface="Arial" pitchFamily="34" charset="0"/>
                <a:ea typeface="Arial" pitchFamily="34" charset="-122"/>
                <a:cs typeface="Arial" pitchFamily="34" charset="-120"/>
              </a:rPr>
              <a:t>SOLUTION</a:t>
            </a:r>
            <a:endParaRPr lang="en-US" sz="1250" dirty="0"/>
          </a:p>
        </p:txBody>
      </p:sp>
      <p:sp>
        <p:nvSpPr>
          <p:cNvPr id="29" name="Text 26"/>
          <p:cNvSpPr txBox="1"/>
          <p:nvPr/>
        </p:nvSpPr>
        <p:spPr>
          <a:xfrm>
            <a:off x="7578090" y="2816352"/>
            <a:ext cx="1645920" cy="822960"/>
          </a:xfrm>
          <a:prstGeom prst="rect">
            <a:avLst/>
          </a:prstGeom>
          <a:noFill/>
          <a:ln/>
        </p:spPr>
        <p:txBody>
          <a:bodyPr wrap="square" lIns="0" tIns="0" rIns="0" bIns="0" rtlCol="0" anchor="t"/>
          <a:lstStyle/>
          <a:p>
            <a:pPr indent="0" marL="0">
              <a:lnSpc>
                <a:spcPts val="1900"/>
              </a:lnSpc>
              <a:buNone/>
            </a:pPr>
            <a:r>
              <a:rPr lang="en-US" sz="1350" b="1" dirty="0">
                <a:solidFill>
                  <a:srgbClr val="0E1B2C"/>
                </a:solidFill>
                <a:latin typeface="Arial" pitchFamily="34" charset="0"/>
                <a:ea typeface="Arial" pitchFamily="34" charset="-122"/>
                <a:cs typeface="Arial" pitchFamily="34" charset="-120"/>
              </a:rPr>
              <a:t>何を変えれば</a:t>
            </a:r>
            <a:endParaRPr lang="en-US" sz="1350" dirty="0"/>
          </a:p>
          <a:p>
            <a:pPr indent="0" marL="0">
              <a:lnSpc>
                <a:spcPts val="1900"/>
              </a:lnSpc>
              <a:buNone/>
            </a:pPr>
            <a:r>
              <a:rPr lang="en-US" sz="1350" b="1" dirty="0">
                <a:solidFill>
                  <a:srgbClr val="0E1B2C"/>
                </a:solidFill>
                <a:latin typeface="Arial" pitchFamily="34" charset="0"/>
                <a:ea typeface="Arial" pitchFamily="34" charset="-122"/>
                <a:cs typeface="Arial" pitchFamily="34" charset="-120"/>
              </a:rPr>
              <a:t>劇的に解決するか？</a:t>
            </a:r>
            <a:endParaRPr lang="en-US" sz="1350" dirty="0"/>
          </a:p>
        </p:txBody>
      </p:sp>
      <p:sp>
        <p:nvSpPr>
          <p:cNvPr id="30" name="Text 27"/>
          <p:cNvSpPr txBox="1"/>
          <p:nvPr/>
        </p:nvSpPr>
        <p:spPr>
          <a:xfrm>
            <a:off x="7578090" y="3749040"/>
            <a:ext cx="1645920" cy="1600200"/>
          </a:xfrm>
          <a:prstGeom prst="rect">
            <a:avLst/>
          </a:prstGeom>
          <a:noFill/>
          <a:ln/>
        </p:spPr>
        <p:txBody>
          <a:bodyPr wrap="square" lIns="0" tIns="0" rIns="0" bIns="0" rtlCol="0" anchor="t"/>
          <a:lstStyle/>
          <a:p>
            <a:pPr indent="0" marL="0">
              <a:lnSpc>
                <a:spcPts val="1600"/>
              </a:lnSpc>
              <a:buNone/>
            </a:pPr>
            <a:r>
              <a:rPr lang="en-US" sz="1050" dirty="0">
                <a:solidFill>
                  <a:srgbClr val="3A4A61"/>
                </a:solidFill>
                <a:latin typeface="Arial" pitchFamily="34" charset="0"/>
                <a:ea typeface="Arial" pitchFamily="34" charset="-122"/>
                <a:cs typeface="Arial" pitchFamily="34" charset="-120"/>
              </a:rPr>
              <a:t>機能だけでなく</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使い方・サイズ・価格</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購入方法・配送</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セット・サポートまで</a:t>
            </a:r>
            <a:endParaRPr lang="en-US" sz="1050" dirty="0"/>
          </a:p>
        </p:txBody>
      </p:sp>
      <p:sp>
        <p:nvSpPr>
          <p:cNvPr id="31" name="Shape 28"/>
          <p:cNvSpPr/>
          <p:nvPr/>
        </p:nvSpPr>
        <p:spPr>
          <a:xfrm>
            <a:off x="9564624" y="1600200"/>
            <a:ext cx="2057400" cy="3611880"/>
          </a:xfrm>
          <a:prstGeom prst="roundRect">
            <a:avLst>
              <a:gd name="adj" fmla="val 3556"/>
            </a:avLst>
          </a:prstGeom>
          <a:solidFill>
            <a:srgbClr val="F2F6FD"/>
          </a:solidFill>
          <a:ln/>
        </p:spPr>
      </p:sp>
      <p:sp>
        <p:nvSpPr>
          <p:cNvPr id="32" name="Shape 29"/>
          <p:cNvSpPr/>
          <p:nvPr/>
        </p:nvSpPr>
        <p:spPr>
          <a:xfrm>
            <a:off x="9820656" y="1847088"/>
            <a:ext cx="512064" cy="512064"/>
          </a:xfrm>
          <a:prstGeom prst="ellipse">
            <a:avLst/>
          </a:prstGeom>
          <a:solidFill>
            <a:srgbClr val="1E6FE8"/>
          </a:solidFill>
          <a:ln/>
        </p:spPr>
      </p:sp>
      <p:sp>
        <p:nvSpPr>
          <p:cNvPr id="33" name="Text 30"/>
          <p:cNvSpPr txBox="1"/>
          <p:nvPr/>
        </p:nvSpPr>
        <p:spPr>
          <a:xfrm>
            <a:off x="9820656" y="18470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⑤</a:t>
            </a:r>
            <a:endParaRPr lang="en-US" sz="1700" dirty="0"/>
          </a:p>
        </p:txBody>
      </p:sp>
      <p:sp>
        <p:nvSpPr>
          <p:cNvPr id="34" name="Text 31"/>
          <p:cNvSpPr txBox="1"/>
          <p:nvPr/>
        </p:nvSpPr>
        <p:spPr>
          <a:xfrm>
            <a:off x="9820656" y="2487168"/>
            <a:ext cx="1600200" cy="292608"/>
          </a:xfrm>
          <a:prstGeom prst="rect">
            <a:avLst/>
          </a:prstGeom>
          <a:noFill/>
          <a:ln/>
        </p:spPr>
        <p:txBody>
          <a:bodyPr wrap="square" lIns="0" tIns="0" rIns="0" bIns="0" rtlCol="0" anchor="ctr"/>
          <a:lstStyle/>
          <a:p>
            <a:pPr indent="0" marL="0">
              <a:buNone/>
            </a:pPr>
            <a:r>
              <a:rPr lang="en-US" sz="1250" b="1" spc="100" kern="0" dirty="0">
                <a:solidFill>
                  <a:srgbClr val="1E6FE8"/>
                </a:solidFill>
                <a:latin typeface="Arial" pitchFamily="34" charset="0"/>
                <a:ea typeface="Arial" pitchFamily="34" charset="-122"/>
                <a:cs typeface="Arial" pitchFamily="34" charset="-120"/>
              </a:rPr>
              <a:t>PROOF</a:t>
            </a:r>
            <a:endParaRPr lang="en-US" sz="1250" dirty="0"/>
          </a:p>
        </p:txBody>
      </p:sp>
      <p:sp>
        <p:nvSpPr>
          <p:cNvPr id="35" name="Text 32"/>
          <p:cNvSpPr txBox="1"/>
          <p:nvPr/>
        </p:nvSpPr>
        <p:spPr>
          <a:xfrm>
            <a:off x="9820656" y="2816352"/>
            <a:ext cx="1645920" cy="822960"/>
          </a:xfrm>
          <a:prstGeom prst="rect">
            <a:avLst/>
          </a:prstGeom>
          <a:noFill/>
          <a:ln/>
        </p:spPr>
        <p:txBody>
          <a:bodyPr wrap="square" lIns="0" tIns="0" rIns="0" bIns="0" rtlCol="0" anchor="t"/>
          <a:lstStyle/>
          <a:p>
            <a:pPr indent="0" marL="0">
              <a:lnSpc>
                <a:spcPts val="1900"/>
              </a:lnSpc>
              <a:buNone/>
            </a:pPr>
            <a:r>
              <a:rPr lang="en-US" sz="1350" b="1" dirty="0">
                <a:solidFill>
                  <a:srgbClr val="0E1B2C"/>
                </a:solidFill>
                <a:latin typeface="Arial" pitchFamily="34" charset="0"/>
                <a:ea typeface="Arial" pitchFamily="34" charset="-122"/>
                <a:cs typeface="Arial" pitchFamily="34" charset="-120"/>
              </a:rPr>
              <a:t>何を見たら</a:t>
            </a:r>
            <a:endParaRPr lang="en-US" sz="1350" dirty="0"/>
          </a:p>
          <a:p>
            <a:pPr indent="0" marL="0">
              <a:lnSpc>
                <a:spcPts val="1900"/>
              </a:lnSpc>
              <a:buNone/>
            </a:pPr>
            <a:r>
              <a:rPr lang="en-US" sz="1350" b="1" dirty="0">
                <a:solidFill>
                  <a:srgbClr val="0E1B2C"/>
                </a:solidFill>
                <a:latin typeface="Arial" pitchFamily="34" charset="0"/>
                <a:ea typeface="Arial" pitchFamily="34" charset="-122"/>
                <a:cs typeface="Arial" pitchFamily="34" charset="-120"/>
              </a:rPr>
              <a:t>信じてもらえるか？</a:t>
            </a:r>
            <a:endParaRPr lang="en-US" sz="1350" dirty="0"/>
          </a:p>
        </p:txBody>
      </p:sp>
      <p:sp>
        <p:nvSpPr>
          <p:cNvPr id="36" name="Text 33"/>
          <p:cNvSpPr txBox="1"/>
          <p:nvPr/>
        </p:nvSpPr>
        <p:spPr>
          <a:xfrm>
            <a:off x="9820656" y="3749040"/>
            <a:ext cx="1645920" cy="1600200"/>
          </a:xfrm>
          <a:prstGeom prst="rect">
            <a:avLst/>
          </a:prstGeom>
          <a:noFill/>
          <a:ln/>
        </p:spPr>
        <p:txBody>
          <a:bodyPr wrap="square" lIns="0" tIns="0" rIns="0" bIns="0" rtlCol="0" anchor="t"/>
          <a:lstStyle/>
          <a:p>
            <a:pPr indent="0" marL="0">
              <a:lnSpc>
                <a:spcPts val="1600"/>
              </a:lnSpc>
              <a:buNone/>
            </a:pPr>
            <a:r>
              <a:rPr lang="en-US" sz="1050" dirty="0">
                <a:solidFill>
                  <a:srgbClr val="3A4A61"/>
                </a:solidFill>
                <a:latin typeface="Arial" pitchFamily="34" charset="0"/>
                <a:ea typeface="Arial" pitchFamily="34" charset="-122"/>
                <a:cs typeface="Arial" pitchFamily="34" charset="-120"/>
              </a:rPr>
              <a:t>レビュー・実験・比較</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専門家・利用者数</a:t>
            </a:r>
            <a:endParaRPr lang="en-US" sz="1050" dirty="0"/>
          </a:p>
          <a:p>
            <a:pPr indent="0" marL="0">
              <a:lnSpc>
                <a:spcPts val="1600"/>
              </a:lnSpc>
              <a:buNone/>
            </a:pPr>
            <a:r>
              <a:rPr lang="en-US" sz="1050" dirty="0">
                <a:solidFill>
                  <a:srgbClr val="3A4A61"/>
                </a:solidFill>
                <a:latin typeface="Arial" pitchFamily="34" charset="0"/>
                <a:ea typeface="Arial" pitchFamily="34" charset="-122"/>
                <a:cs typeface="Arial" pitchFamily="34" charset="-120"/>
              </a:rPr>
              <a:t>ビフォーアフター</a:t>
            </a:r>
            <a:endParaRPr lang="en-US" sz="1050" dirty="0"/>
          </a:p>
        </p:txBody>
      </p:sp>
      <p:sp>
        <p:nvSpPr>
          <p:cNvPr id="37" name="Shape 34"/>
          <p:cNvSpPr/>
          <p:nvPr/>
        </p:nvSpPr>
        <p:spPr>
          <a:xfrm>
            <a:off x="594360" y="5532120"/>
            <a:ext cx="11000232" cy="658368"/>
          </a:xfrm>
          <a:prstGeom prst="roundRect">
            <a:avLst>
              <a:gd name="adj" fmla="val 12500"/>
            </a:avLst>
          </a:prstGeom>
          <a:solidFill>
            <a:srgbClr val="E8F0FC"/>
          </a:solidFill>
          <a:ln/>
        </p:spPr>
      </p:sp>
      <p:sp>
        <p:nvSpPr>
          <p:cNvPr id="38" name="Text 35"/>
          <p:cNvSpPr txBox="1"/>
          <p:nvPr/>
        </p:nvSpPr>
        <p:spPr>
          <a:xfrm>
            <a:off x="960120" y="5532120"/>
            <a:ext cx="10268712" cy="658368"/>
          </a:xfrm>
          <a:prstGeom prst="rect">
            <a:avLst/>
          </a:prstGeom>
          <a:noFill/>
          <a:ln/>
        </p:spPr>
        <p:txBody>
          <a:bodyPr wrap="square" lIns="0" tIns="0" rIns="0" bIns="0" rtlCol="0" anchor="ctr"/>
          <a:lstStyle/>
          <a:p>
            <a:pPr algn="l" indent="0" marL="0">
              <a:buNone/>
            </a:pPr>
            <a:r>
              <a:rPr lang="en-US" sz="1600" b="1" dirty="0">
                <a:solidFill>
                  <a:srgbClr val="1E6FE8"/>
                </a:solidFill>
                <a:latin typeface="Arial" pitchFamily="34" charset="0"/>
                <a:ea typeface="Arial" pitchFamily="34" charset="-122"/>
                <a:cs typeface="Arial" pitchFamily="34" charset="-120"/>
              </a:rPr>
              <a:t>特に重要なのは　</a:t>
            </a:r>
            <a:pPr algn="l" indent="0" marL="0">
              <a:buNone/>
            </a:pPr>
            <a:r>
              <a:rPr lang="en-US" sz="1600" b="1" dirty="0">
                <a:solidFill>
                  <a:srgbClr val="0E1B2C"/>
                </a:solidFill>
                <a:latin typeface="Arial" pitchFamily="34" charset="0"/>
                <a:ea typeface="Arial" pitchFamily="34" charset="-122"/>
                <a:cs typeface="Arial" pitchFamily="34" charset="-120"/>
              </a:rPr>
              <a:t>③ なぜ既存商品では解決できていないのか。ここに答えが埋まっている。</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13</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THE REAL COMPETITOR</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競合は「同じカテゴリーの商品」とは限らない</a:t>
            </a:r>
            <a:endParaRPr lang="en-US" sz="2600" dirty="0"/>
          </a:p>
        </p:txBody>
      </p:sp>
      <p:sp>
        <p:nvSpPr>
          <p:cNvPr id="7" name="Shape 4"/>
          <p:cNvSpPr/>
          <p:nvPr/>
        </p:nvSpPr>
        <p:spPr>
          <a:xfrm>
            <a:off x="594360" y="1645920"/>
            <a:ext cx="4572000" cy="3566160"/>
          </a:xfrm>
          <a:prstGeom prst="roundRect">
            <a:avLst>
              <a:gd name="adj" fmla="val 2051"/>
            </a:avLst>
          </a:prstGeom>
          <a:solidFill>
            <a:srgbClr val="F2F6FD"/>
          </a:solidFill>
          <a:ln/>
        </p:spPr>
      </p:sp>
      <p:sp>
        <p:nvSpPr>
          <p:cNvPr id="8" name="Text 5"/>
          <p:cNvSpPr txBox="1"/>
          <p:nvPr/>
        </p:nvSpPr>
        <p:spPr>
          <a:xfrm>
            <a:off x="914400" y="1874520"/>
            <a:ext cx="3931920" cy="320040"/>
          </a:xfrm>
          <a:prstGeom prst="rect">
            <a:avLst/>
          </a:prstGeom>
          <a:noFill/>
          <a:ln/>
        </p:spPr>
        <p:txBody>
          <a:bodyPr wrap="square" lIns="0" tIns="0" rIns="0" bIns="0" rtlCol="0" anchor="ctr"/>
          <a:lstStyle/>
          <a:p>
            <a:pPr indent="0" marL="0">
              <a:buNone/>
            </a:pPr>
            <a:r>
              <a:rPr lang="en-US" sz="1300" b="1" dirty="0">
                <a:solidFill>
                  <a:srgbClr val="7A8AA3"/>
                </a:solidFill>
                <a:latin typeface="Arial" pitchFamily="34" charset="0"/>
                <a:ea typeface="Arial" pitchFamily="34" charset="-122"/>
                <a:cs typeface="Arial" pitchFamily="34" charset="-120"/>
              </a:rPr>
              <a:t>つい見てしまう競合</a:t>
            </a:r>
            <a:endParaRPr lang="en-US" sz="1300" dirty="0"/>
          </a:p>
        </p:txBody>
      </p:sp>
      <p:sp>
        <p:nvSpPr>
          <p:cNvPr id="9" name="Text 6"/>
          <p:cNvSpPr txBox="1"/>
          <p:nvPr/>
        </p:nvSpPr>
        <p:spPr>
          <a:xfrm>
            <a:off x="914400" y="2240280"/>
            <a:ext cx="3931920" cy="457200"/>
          </a:xfrm>
          <a:prstGeom prst="rect">
            <a:avLst/>
          </a:prstGeom>
          <a:noFill/>
          <a:ln/>
        </p:spPr>
        <p:txBody>
          <a:bodyPr wrap="square" lIns="0" tIns="0" rIns="0" bIns="0" rtlCol="0" anchor="ctr"/>
          <a:lstStyle/>
          <a:p>
            <a:pPr indent="0" marL="0">
              <a:buNone/>
            </a:pPr>
            <a:r>
              <a:rPr lang="en-US" sz="2000" b="1" dirty="0">
                <a:solidFill>
                  <a:srgbClr val="0E1B2C"/>
                </a:solidFill>
                <a:latin typeface="Arial" pitchFamily="34" charset="0"/>
                <a:ea typeface="Arial" pitchFamily="34" charset="-122"/>
                <a:cs typeface="Arial" pitchFamily="34" charset="-120"/>
              </a:rPr>
              <a:t>同じカテゴリーの商品</a:t>
            </a:r>
            <a:endParaRPr lang="en-US" sz="2000" dirty="0"/>
          </a:p>
        </p:txBody>
      </p:sp>
      <p:sp>
        <p:nvSpPr>
          <p:cNvPr id="10" name="Shape 7"/>
          <p:cNvSpPr/>
          <p:nvPr/>
        </p:nvSpPr>
        <p:spPr>
          <a:xfrm>
            <a:off x="914400" y="2880360"/>
            <a:ext cx="3931920" cy="457200"/>
          </a:xfrm>
          <a:prstGeom prst="roundRect">
            <a:avLst>
              <a:gd name="adj" fmla="val 12000"/>
            </a:avLst>
          </a:prstGeom>
          <a:solidFill>
            <a:srgbClr val="FFFFFF"/>
          </a:solidFill>
          <a:ln/>
        </p:spPr>
      </p:sp>
      <p:sp>
        <p:nvSpPr>
          <p:cNvPr id="11" name="Text 8"/>
          <p:cNvSpPr txBox="1"/>
          <p:nvPr/>
        </p:nvSpPr>
        <p:spPr>
          <a:xfrm>
            <a:off x="1097280" y="2880360"/>
            <a:ext cx="3566160" cy="45720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Amazonの同カテゴリー上位商品</a:t>
            </a:r>
            <a:endParaRPr lang="en-US" sz="1250" dirty="0"/>
          </a:p>
        </p:txBody>
      </p:sp>
      <p:sp>
        <p:nvSpPr>
          <p:cNvPr id="12" name="Shape 9"/>
          <p:cNvSpPr/>
          <p:nvPr/>
        </p:nvSpPr>
        <p:spPr>
          <a:xfrm>
            <a:off x="914400" y="3447288"/>
            <a:ext cx="3931920" cy="457200"/>
          </a:xfrm>
          <a:prstGeom prst="roundRect">
            <a:avLst>
              <a:gd name="adj" fmla="val 12000"/>
            </a:avLst>
          </a:prstGeom>
          <a:solidFill>
            <a:srgbClr val="FFFFFF"/>
          </a:solidFill>
          <a:ln/>
        </p:spPr>
      </p:sp>
      <p:sp>
        <p:nvSpPr>
          <p:cNvPr id="13" name="Text 10"/>
          <p:cNvSpPr txBox="1"/>
          <p:nvPr/>
        </p:nvSpPr>
        <p:spPr>
          <a:xfrm>
            <a:off x="1097280" y="3447288"/>
            <a:ext cx="3566160" cy="45720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楽天の同ジャンルランキング</a:t>
            </a:r>
            <a:endParaRPr lang="en-US" sz="1250" dirty="0"/>
          </a:p>
        </p:txBody>
      </p:sp>
      <p:sp>
        <p:nvSpPr>
          <p:cNvPr id="14" name="Shape 11"/>
          <p:cNvSpPr/>
          <p:nvPr/>
        </p:nvSpPr>
        <p:spPr>
          <a:xfrm>
            <a:off x="914400" y="4014216"/>
            <a:ext cx="3931920" cy="457200"/>
          </a:xfrm>
          <a:prstGeom prst="roundRect">
            <a:avLst>
              <a:gd name="adj" fmla="val 12000"/>
            </a:avLst>
          </a:prstGeom>
          <a:solidFill>
            <a:srgbClr val="FFFFFF"/>
          </a:solidFill>
          <a:ln/>
        </p:spPr>
      </p:sp>
      <p:sp>
        <p:nvSpPr>
          <p:cNvPr id="15" name="Text 12"/>
          <p:cNvSpPr txBox="1"/>
          <p:nvPr/>
        </p:nvSpPr>
        <p:spPr>
          <a:xfrm>
            <a:off x="1097280" y="4014216"/>
            <a:ext cx="3566160" cy="45720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価格・成分・容量の比較表</a:t>
            </a:r>
            <a:endParaRPr lang="en-US" sz="1250" dirty="0"/>
          </a:p>
        </p:txBody>
      </p:sp>
      <p:sp>
        <p:nvSpPr>
          <p:cNvPr id="16" name="Text 13"/>
          <p:cNvSpPr txBox="1"/>
          <p:nvPr/>
        </p:nvSpPr>
        <p:spPr>
          <a:xfrm>
            <a:off x="914400" y="4617720"/>
            <a:ext cx="3931920" cy="365760"/>
          </a:xfrm>
          <a:prstGeom prst="rect">
            <a:avLst/>
          </a:prstGeom>
          <a:noFill/>
          <a:ln/>
        </p:spPr>
        <p:txBody>
          <a:bodyPr wrap="square" lIns="0" tIns="0" rIns="0" bIns="0" rtlCol="0" anchor="ctr"/>
          <a:lstStyle/>
          <a:p>
            <a:pPr indent="0" marL="0">
              <a:buNone/>
            </a:pPr>
            <a:r>
              <a:rPr lang="en-US" sz="1300" b="1" dirty="0">
                <a:solidFill>
                  <a:srgbClr val="BF0000"/>
                </a:solidFill>
                <a:latin typeface="Arial" pitchFamily="34" charset="0"/>
                <a:ea typeface="Arial" pitchFamily="34" charset="-122"/>
                <a:cs typeface="Arial" pitchFamily="34" charset="-120"/>
              </a:rPr>
              <a:t>→ これだけでは、不十分。</a:t>
            </a:r>
            <a:endParaRPr lang="en-US" sz="1300" dirty="0"/>
          </a:p>
        </p:txBody>
      </p:sp>
      <p:sp>
        <p:nvSpPr>
          <p:cNvPr id="17" name="Shape 14"/>
          <p:cNvSpPr/>
          <p:nvPr/>
        </p:nvSpPr>
        <p:spPr>
          <a:xfrm rot="5400000">
            <a:off x="5431536" y="3322015"/>
            <a:ext cx="274320" cy="213970"/>
          </a:xfrm>
          <a:prstGeom prst="triangle">
            <a:avLst/>
          </a:prstGeom>
          <a:solidFill>
            <a:srgbClr val="AFC6E8"/>
          </a:solidFill>
          <a:ln/>
        </p:spPr>
      </p:sp>
      <p:sp>
        <p:nvSpPr>
          <p:cNvPr id="18" name="Shape 15"/>
          <p:cNvSpPr/>
          <p:nvPr/>
        </p:nvSpPr>
        <p:spPr>
          <a:xfrm>
            <a:off x="5943600" y="1645920"/>
            <a:ext cx="5650992" cy="3566160"/>
          </a:xfrm>
          <a:prstGeom prst="roundRect">
            <a:avLst>
              <a:gd name="adj" fmla="val 2051"/>
            </a:avLst>
          </a:prstGeom>
          <a:solidFill>
            <a:srgbClr val="E8F0FC"/>
          </a:solidFill>
          <a:ln/>
        </p:spPr>
      </p:sp>
      <p:sp>
        <p:nvSpPr>
          <p:cNvPr id="19" name="Text 16"/>
          <p:cNvSpPr txBox="1"/>
          <p:nvPr/>
        </p:nvSpPr>
        <p:spPr>
          <a:xfrm>
            <a:off x="6263640" y="1874520"/>
            <a:ext cx="5029200" cy="320040"/>
          </a:xfrm>
          <a:prstGeom prst="rect">
            <a:avLst/>
          </a:prstGeom>
          <a:noFill/>
          <a:ln/>
        </p:spPr>
        <p:txBody>
          <a:bodyPr wrap="square" lIns="0" tIns="0" rIns="0" bIns="0" rtlCol="0" anchor="ctr"/>
          <a:lstStyle/>
          <a:p>
            <a:pPr indent="0" marL="0">
              <a:buNone/>
            </a:pPr>
            <a:r>
              <a:rPr lang="en-US" sz="1300" b="1" dirty="0">
                <a:solidFill>
                  <a:srgbClr val="1E6FE8"/>
                </a:solidFill>
                <a:latin typeface="Arial" pitchFamily="34" charset="0"/>
                <a:ea typeface="Arial" pitchFamily="34" charset="-122"/>
                <a:cs typeface="Arial" pitchFamily="34" charset="-120"/>
              </a:rPr>
              <a:t>本当の競合</a:t>
            </a:r>
            <a:endParaRPr lang="en-US" sz="1300" dirty="0"/>
          </a:p>
        </p:txBody>
      </p:sp>
      <p:sp>
        <p:nvSpPr>
          <p:cNvPr id="20" name="Text 17"/>
          <p:cNvSpPr txBox="1"/>
          <p:nvPr/>
        </p:nvSpPr>
        <p:spPr>
          <a:xfrm>
            <a:off x="6263640" y="2240280"/>
            <a:ext cx="5029200" cy="457200"/>
          </a:xfrm>
          <a:prstGeom prst="rect">
            <a:avLst/>
          </a:prstGeom>
          <a:noFill/>
          <a:ln/>
        </p:spPr>
        <p:txBody>
          <a:bodyPr wrap="square" lIns="0" tIns="0" rIns="0" bIns="0" rtlCol="0" anchor="ctr"/>
          <a:lstStyle/>
          <a:p>
            <a:pPr indent="0" marL="0">
              <a:buNone/>
            </a:pPr>
            <a:r>
              <a:rPr lang="en-US" sz="1800" b="1" dirty="0">
                <a:solidFill>
                  <a:srgbClr val="0E1B2C"/>
                </a:solidFill>
                <a:latin typeface="Arial" pitchFamily="34" charset="0"/>
                <a:ea typeface="Arial" pitchFamily="34" charset="-122"/>
                <a:cs typeface="Arial" pitchFamily="34" charset="-120"/>
              </a:rPr>
              <a:t>ユーザーが今、その課題をどう解決しているか</a:t>
            </a:r>
            <a:endParaRPr lang="en-US" sz="1800" dirty="0"/>
          </a:p>
        </p:txBody>
      </p:sp>
      <p:sp>
        <p:nvSpPr>
          <p:cNvPr id="21" name="Text 18"/>
          <p:cNvSpPr txBox="1"/>
          <p:nvPr/>
        </p:nvSpPr>
        <p:spPr>
          <a:xfrm>
            <a:off x="6263640" y="2743200"/>
            <a:ext cx="5029200" cy="274320"/>
          </a:xfrm>
          <a:prstGeom prst="rect">
            <a:avLst/>
          </a:prstGeom>
          <a:noFill/>
          <a:ln/>
        </p:spPr>
        <p:txBody>
          <a:bodyPr wrap="square" lIns="0" tIns="0" rIns="0" bIns="0" rtlCol="0" anchor="ctr"/>
          <a:lstStyle/>
          <a:p>
            <a:pPr indent="0" marL="0">
              <a:buNone/>
            </a:pPr>
            <a:r>
              <a:rPr lang="en-US" sz="1150" dirty="0">
                <a:solidFill>
                  <a:srgbClr val="7A8AA3"/>
                </a:solidFill>
                <a:latin typeface="Arial" pitchFamily="34" charset="0"/>
                <a:ea typeface="Arial" pitchFamily="34" charset="-122"/>
                <a:cs typeface="Arial" pitchFamily="34" charset="-120"/>
              </a:rPr>
              <a:t>例）「時短ボディケア」の競合は、別のボディミルクだけではない</a:t>
            </a:r>
            <a:endParaRPr lang="en-US" sz="1150" dirty="0"/>
          </a:p>
        </p:txBody>
      </p:sp>
      <p:sp>
        <p:nvSpPr>
          <p:cNvPr id="22" name="Shape 19"/>
          <p:cNvSpPr/>
          <p:nvPr/>
        </p:nvSpPr>
        <p:spPr>
          <a:xfrm>
            <a:off x="6263640" y="3154680"/>
            <a:ext cx="2404872" cy="530352"/>
          </a:xfrm>
          <a:prstGeom prst="roundRect">
            <a:avLst>
              <a:gd name="adj" fmla="val 10345"/>
            </a:avLst>
          </a:prstGeom>
          <a:solidFill>
            <a:srgbClr val="FFFFFF"/>
          </a:solidFill>
          <a:ln/>
        </p:spPr>
      </p:sp>
      <p:sp>
        <p:nvSpPr>
          <p:cNvPr id="23" name="Text 20"/>
          <p:cNvSpPr txBox="1"/>
          <p:nvPr/>
        </p:nvSpPr>
        <p:spPr>
          <a:xfrm>
            <a:off x="6428232" y="3154680"/>
            <a:ext cx="2103120" cy="530352"/>
          </a:xfrm>
          <a:prstGeom prst="rect">
            <a:avLst/>
          </a:prstGeom>
          <a:noFill/>
          <a:ln/>
        </p:spPr>
        <p:txBody>
          <a:bodyPr wrap="square" lIns="0" tIns="0" rIns="0" bIns="0" rtlCol="0" anchor="ctr"/>
          <a:lstStyle/>
          <a:p>
            <a:pPr indent="0" marL="0">
              <a:buNone/>
            </a:pPr>
            <a:r>
              <a:rPr lang="en-US" sz="1200" b="1" dirty="0">
                <a:solidFill>
                  <a:srgbClr val="0E1B2C"/>
                </a:solidFill>
                <a:latin typeface="Arial" pitchFamily="34" charset="0"/>
                <a:ea typeface="Arial" pitchFamily="34" charset="-122"/>
                <a:cs typeface="Arial" pitchFamily="34" charset="-120"/>
              </a:rPr>
              <a:t>何も塗らない</a:t>
            </a:r>
            <a:endParaRPr lang="en-US" sz="1200" dirty="0"/>
          </a:p>
        </p:txBody>
      </p:sp>
      <p:sp>
        <p:nvSpPr>
          <p:cNvPr id="24" name="Shape 21"/>
          <p:cNvSpPr/>
          <p:nvPr/>
        </p:nvSpPr>
        <p:spPr>
          <a:xfrm>
            <a:off x="8851392" y="3154680"/>
            <a:ext cx="2404872" cy="530352"/>
          </a:xfrm>
          <a:prstGeom prst="roundRect">
            <a:avLst>
              <a:gd name="adj" fmla="val 10345"/>
            </a:avLst>
          </a:prstGeom>
          <a:solidFill>
            <a:srgbClr val="FFFFFF"/>
          </a:solidFill>
          <a:ln/>
        </p:spPr>
      </p:sp>
      <p:sp>
        <p:nvSpPr>
          <p:cNvPr id="25" name="Text 22"/>
          <p:cNvSpPr txBox="1"/>
          <p:nvPr/>
        </p:nvSpPr>
        <p:spPr>
          <a:xfrm>
            <a:off x="9015984" y="3154680"/>
            <a:ext cx="2103120" cy="530352"/>
          </a:xfrm>
          <a:prstGeom prst="rect">
            <a:avLst/>
          </a:prstGeom>
          <a:noFill/>
          <a:ln/>
        </p:spPr>
        <p:txBody>
          <a:bodyPr wrap="square" lIns="0" tIns="0" rIns="0" bIns="0" rtlCol="0" anchor="ctr"/>
          <a:lstStyle/>
          <a:p>
            <a:pPr indent="0" marL="0">
              <a:buNone/>
            </a:pPr>
            <a:r>
              <a:rPr lang="en-US" sz="1200" b="1" dirty="0">
                <a:solidFill>
                  <a:srgbClr val="0E1B2C"/>
                </a:solidFill>
                <a:latin typeface="Arial" pitchFamily="34" charset="0"/>
                <a:ea typeface="Arial" pitchFamily="34" charset="-122"/>
                <a:cs typeface="Arial" pitchFamily="34" charset="-120"/>
              </a:rPr>
              <a:t>化粧水だけで済ませる</a:t>
            </a:r>
            <a:endParaRPr lang="en-US" sz="1200" dirty="0"/>
          </a:p>
        </p:txBody>
      </p:sp>
      <p:sp>
        <p:nvSpPr>
          <p:cNvPr id="26" name="Shape 23"/>
          <p:cNvSpPr/>
          <p:nvPr/>
        </p:nvSpPr>
        <p:spPr>
          <a:xfrm>
            <a:off x="6263640" y="3813048"/>
            <a:ext cx="2404872" cy="530352"/>
          </a:xfrm>
          <a:prstGeom prst="roundRect">
            <a:avLst>
              <a:gd name="adj" fmla="val 10345"/>
            </a:avLst>
          </a:prstGeom>
          <a:solidFill>
            <a:srgbClr val="FFFFFF"/>
          </a:solidFill>
          <a:ln/>
        </p:spPr>
      </p:sp>
      <p:sp>
        <p:nvSpPr>
          <p:cNvPr id="27" name="Text 24"/>
          <p:cNvSpPr txBox="1"/>
          <p:nvPr/>
        </p:nvSpPr>
        <p:spPr>
          <a:xfrm>
            <a:off x="6428232" y="3813048"/>
            <a:ext cx="2103120" cy="530352"/>
          </a:xfrm>
          <a:prstGeom prst="rect">
            <a:avLst/>
          </a:prstGeom>
          <a:noFill/>
          <a:ln/>
        </p:spPr>
        <p:txBody>
          <a:bodyPr wrap="square" lIns="0" tIns="0" rIns="0" bIns="0" rtlCol="0" anchor="ctr"/>
          <a:lstStyle/>
          <a:p>
            <a:pPr indent="0" marL="0">
              <a:buNone/>
            </a:pPr>
            <a:r>
              <a:rPr lang="en-US" sz="1200" b="1" dirty="0">
                <a:solidFill>
                  <a:srgbClr val="0E1B2C"/>
                </a:solidFill>
                <a:latin typeface="Arial" pitchFamily="34" charset="0"/>
                <a:ea typeface="Arial" pitchFamily="34" charset="-122"/>
                <a:cs typeface="Arial" pitchFamily="34" charset="-120"/>
              </a:rPr>
              <a:t>子ども用クリームで代用する</a:t>
            </a:r>
            <a:endParaRPr lang="en-US" sz="1200" dirty="0"/>
          </a:p>
        </p:txBody>
      </p:sp>
      <p:sp>
        <p:nvSpPr>
          <p:cNvPr id="28" name="Shape 25"/>
          <p:cNvSpPr/>
          <p:nvPr/>
        </p:nvSpPr>
        <p:spPr>
          <a:xfrm>
            <a:off x="8851392" y="3813048"/>
            <a:ext cx="2404872" cy="530352"/>
          </a:xfrm>
          <a:prstGeom prst="roundRect">
            <a:avLst>
              <a:gd name="adj" fmla="val 10345"/>
            </a:avLst>
          </a:prstGeom>
          <a:solidFill>
            <a:srgbClr val="FFFFFF"/>
          </a:solidFill>
          <a:ln/>
        </p:spPr>
      </p:sp>
      <p:sp>
        <p:nvSpPr>
          <p:cNvPr id="29" name="Text 26"/>
          <p:cNvSpPr txBox="1"/>
          <p:nvPr/>
        </p:nvSpPr>
        <p:spPr>
          <a:xfrm>
            <a:off x="9015984" y="3813048"/>
            <a:ext cx="2103120" cy="530352"/>
          </a:xfrm>
          <a:prstGeom prst="rect">
            <a:avLst/>
          </a:prstGeom>
          <a:noFill/>
          <a:ln/>
        </p:spPr>
        <p:txBody>
          <a:bodyPr wrap="square" lIns="0" tIns="0" rIns="0" bIns="0" rtlCol="0" anchor="ctr"/>
          <a:lstStyle/>
          <a:p>
            <a:pPr indent="0" marL="0">
              <a:buNone/>
            </a:pPr>
            <a:r>
              <a:rPr lang="en-US" sz="1200" b="1" dirty="0">
                <a:solidFill>
                  <a:srgbClr val="0E1B2C"/>
                </a:solidFill>
                <a:latin typeface="Arial" pitchFamily="34" charset="0"/>
                <a:ea typeface="Arial" pitchFamily="34" charset="-122"/>
                <a:cs typeface="Arial" pitchFamily="34" charset="-120"/>
              </a:rPr>
              <a:t>乾燥を我慢する</a:t>
            </a:r>
            <a:endParaRPr lang="en-US" sz="1200" dirty="0"/>
          </a:p>
        </p:txBody>
      </p:sp>
      <p:sp>
        <p:nvSpPr>
          <p:cNvPr id="30" name="Text 27"/>
          <p:cNvSpPr txBox="1"/>
          <p:nvPr/>
        </p:nvSpPr>
        <p:spPr>
          <a:xfrm>
            <a:off x="6263640" y="4617720"/>
            <a:ext cx="5029200" cy="365760"/>
          </a:xfrm>
          <a:prstGeom prst="rect">
            <a:avLst/>
          </a:prstGeom>
          <a:noFill/>
          <a:ln/>
        </p:spPr>
        <p:txBody>
          <a:bodyPr wrap="square" lIns="0" tIns="0" rIns="0" bIns="0" rtlCol="0" anchor="ctr"/>
          <a:lstStyle/>
          <a:p>
            <a:pPr indent="0" marL="0">
              <a:buNone/>
            </a:pPr>
            <a:r>
              <a:rPr lang="en-US" sz="1300" b="1" dirty="0">
                <a:solidFill>
                  <a:srgbClr val="1E6FE8"/>
                </a:solidFill>
                <a:latin typeface="Arial" pitchFamily="34" charset="0"/>
                <a:ea typeface="Arial" pitchFamily="34" charset="-122"/>
                <a:cs typeface="Arial" pitchFamily="34" charset="-120"/>
              </a:rPr>
              <a:t>→ これらすべてが、競合。</a:t>
            </a:r>
            <a:endParaRPr lang="en-US" sz="1300" dirty="0"/>
          </a:p>
        </p:txBody>
      </p:sp>
      <p:sp>
        <p:nvSpPr>
          <p:cNvPr id="31" name="Shape 28"/>
          <p:cNvSpPr/>
          <p:nvPr/>
        </p:nvSpPr>
        <p:spPr>
          <a:xfrm>
            <a:off x="594360" y="5440680"/>
            <a:ext cx="11000232" cy="777240"/>
          </a:xfrm>
          <a:prstGeom prst="roundRect">
            <a:avLst>
              <a:gd name="adj" fmla="val 10588"/>
            </a:avLst>
          </a:prstGeom>
          <a:solidFill>
            <a:srgbClr val="E8F0FC"/>
          </a:solidFill>
          <a:ln/>
        </p:spPr>
      </p:sp>
      <p:sp>
        <p:nvSpPr>
          <p:cNvPr id="32" name="Text 29"/>
          <p:cNvSpPr txBox="1"/>
          <p:nvPr/>
        </p:nvSpPr>
        <p:spPr>
          <a:xfrm>
            <a:off x="960120" y="5440680"/>
            <a:ext cx="10268712" cy="777240"/>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戦っている相手は　</a:t>
            </a:r>
            <a:pPr algn="l" indent="0" marL="0">
              <a:buNone/>
            </a:pPr>
            <a:r>
              <a:rPr lang="en-US" sz="1700" b="1" dirty="0">
                <a:solidFill>
                  <a:srgbClr val="0E1B2C"/>
                </a:solidFill>
                <a:latin typeface="Arial" pitchFamily="34" charset="0"/>
                <a:ea typeface="Arial" pitchFamily="34" charset="-122"/>
                <a:cs typeface="Arial" pitchFamily="34" charset="-120"/>
              </a:rPr>
              <a:t>商品ではなく、ユーザーの「いまの代替行動」。</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14</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VOICE OF CUSTOMER</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新商品のヒントは「★1〜3レビュー」にある</a:t>
            </a:r>
            <a:endParaRPr lang="en-US" sz="2600" dirty="0"/>
          </a:p>
        </p:txBody>
      </p:sp>
      <p:sp>
        <p:nvSpPr>
          <p:cNvPr id="7" name="Text 4"/>
          <p:cNvSpPr txBox="1"/>
          <p:nvPr/>
        </p:nvSpPr>
        <p:spPr>
          <a:xfrm>
            <a:off x="594360" y="1463040"/>
            <a:ext cx="10972800" cy="365760"/>
          </a:xfrm>
          <a:prstGeom prst="rect">
            <a:avLst/>
          </a:prstGeom>
          <a:noFill/>
          <a:ln/>
        </p:spPr>
        <p:txBody>
          <a:bodyPr wrap="square" lIns="0" tIns="0" rIns="0" bIns="0" rtlCol="0" anchor="ctr"/>
          <a:lstStyle/>
          <a:p>
            <a:pPr indent="0" marL="0">
              <a:buNone/>
            </a:pPr>
            <a:r>
              <a:rPr lang="en-US" sz="1350" dirty="0">
                <a:solidFill>
                  <a:srgbClr val="3A4A61"/>
                </a:solidFill>
                <a:latin typeface="Arial" pitchFamily="34" charset="0"/>
                <a:ea typeface="Arial" pitchFamily="34" charset="-122"/>
                <a:cs typeface="Arial" pitchFamily="34" charset="-120"/>
              </a:rPr>
              <a:t>新しい商品アイデアをゼロから考えない。既存商品への「○○だったらいいのに」を探す。</a:t>
            </a:r>
            <a:endParaRPr lang="en-US" sz="1350" dirty="0"/>
          </a:p>
        </p:txBody>
      </p:sp>
      <p:sp>
        <p:nvSpPr>
          <p:cNvPr id="8" name="Shape 5"/>
          <p:cNvSpPr/>
          <p:nvPr/>
        </p:nvSpPr>
        <p:spPr>
          <a:xfrm>
            <a:off x="594360" y="1965960"/>
            <a:ext cx="4846320" cy="3337560"/>
          </a:xfrm>
          <a:prstGeom prst="roundRect">
            <a:avLst>
              <a:gd name="adj" fmla="val 2192"/>
            </a:avLst>
          </a:prstGeom>
          <a:solidFill>
            <a:srgbClr val="F2F6FD"/>
          </a:solidFill>
          <a:ln/>
        </p:spPr>
      </p:sp>
      <p:sp>
        <p:nvSpPr>
          <p:cNvPr id="9" name="Text 6"/>
          <p:cNvSpPr txBox="1"/>
          <p:nvPr/>
        </p:nvSpPr>
        <p:spPr>
          <a:xfrm>
            <a:off x="914400" y="2176272"/>
            <a:ext cx="4206240" cy="320040"/>
          </a:xfrm>
          <a:prstGeom prst="rect">
            <a:avLst/>
          </a:prstGeom>
          <a:noFill/>
          <a:ln/>
        </p:spPr>
        <p:txBody>
          <a:bodyPr wrap="square" lIns="0" tIns="0" rIns="0" bIns="0" rtlCol="0" anchor="ctr"/>
          <a:lstStyle/>
          <a:p>
            <a:pPr indent="0" marL="0">
              <a:buNone/>
            </a:pPr>
            <a:r>
              <a:rPr lang="en-US" sz="1300" b="1" dirty="0">
                <a:solidFill>
                  <a:srgbClr val="0E1B2C"/>
                </a:solidFill>
                <a:latin typeface="Arial" pitchFamily="34" charset="0"/>
                <a:ea typeface="Arial" pitchFamily="34" charset="-122"/>
                <a:cs typeface="Arial" pitchFamily="34" charset="-120"/>
              </a:rPr>
              <a:t>不満が集まっている場所</a:t>
            </a:r>
            <a:endParaRPr lang="en-US" sz="1300" dirty="0"/>
          </a:p>
        </p:txBody>
      </p:sp>
      <p:sp>
        <p:nvSpPr>
          <p:cNvPr id="10" name="Shape 7"/>
          <p:cNvSpPr/>
          <p:nvPr/>
        </p:nvSpPr>
        <p:spPr>
          <a:xfrm>
            <a:off x="932688" y="2734056"/>
            <a:ext cx="118872" cy="118872"/>
          </a:xfrm>
          <a:prstGeom prst="ellipse">
            <a:avLst/>
          </a:prstGeom>
          <a:solidFill>
            <a:srgbClr val="1E6FE8"/>
          </a:solidFill>
          <a:ln/>
        </p:spPr>
      </p:sp>
      <p:sp>
        <p:nvSpPr>
          <p:cNvPr id="11" name="Text 8"/>
          <p:cNvSpPr txBox="1"/>
          <p:nvPr/>
        </p:nvSpPr>
        <p:spPr>
          <a:xfrm>
            <a:off x="1161288" y="2606040"/>
            <a:ext cx="4023360" cy="36576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Amazon / 楽天 / Qoo10 レビュー</a:t>
            </a:r>
            <a:endParaRPr lang="en-US" sz="1250" dirty="0"/>
          </a:p>
        </p:txBody>
      </p:sp>
      <p:sp>
        <p:nvSpPr>
          <p:cNvPr id="12" name="Shape 9"/>
          <p:cNvSpPr/>
          <p:nvPr/>
        </p:nvSpPr>
        <p:spPr>
          <a:xfrm>
            <a:off x="932688" y="3154680"/>
            <a:ext cx="118872" cy="118872"/>
          </a:xfrm>
          <a:prstGeom prst="ellipse">
            <a:avLst/>
          </a:prstGeom>
          <a:solidFill>
            <a:srgbClr val="1E6FE8"/>
          </a:solidFill>
          <a:ln/>
        </p:spPr>
      </p:sp>
      <p:sp>
        <p:nvSpPr>
          <p:cNvPr id="13" name="Text 10"/>
          <p:cNvSpPr txBox="1"/>
          <p:nvPr/>
        </p:nvSpPr>
        <p:spPr>
          <a:xfrm>
            <a:off x="1161288" y="3026664"/>
            <a:ext cx="4023360" cy="36576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SNS（X・Instagram）</a:t>
            </a:r>
            <a:endParaRPr lang="en-US" sz="1250" dirty="0"/>
          </a:p>
        </p:txBody>
      </p:sp>
      <p:sp>
        <p:nvSpPr>
          <p:cNvPr id="14" name="Shape 11"/>
          <p:cNvSpPr/>
          <p:nvPr/>
        </p:nvSpPr>
        <p:spPr>
          <a:xfrm>
            <a:off x="932688" y="3575304"/>
            <a:ext cx="118872" cy="118872"/>
          </a:xfrm>
          <a:prstGeom prst="ellipse">
            <a:avLst/>
          </a:prstGeom>
          <a:solidFill>
            <a:srgbClr val="1E6FE8"/>
          </a:solidFill>
          <a:ln/>
        </p:spPr>
      </p:sp>
      <p:sp>
        <p:nvSpPr>
          <p:cNvPr id="15" name="Text 12"/>
          <p:cNvSpPr txBox="1"/>
          <p:nvPr/>
        </p:nvSpPr>
        <p:spPr>
          <a:xfrm>
            <a:off x="1161288" y="3447288"/>
            <a:ext cx="4023360" cy="36576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Yahoo!知恵袋・Reddit</a:t>
            </a:r>
            <a:endParaRPr lang="en-US" sz="1250" dirty="0"/>
          </a:p>
        </p:txBody>
      </p:sp>
      <p:sp>
        <p:nvSpPr>
          <p:cNvPr id="16" name="Shape 13"/>
          <p:cNvSpPr/>
          <p:nvPr/>
        </p:nvSpPr>
        <p:spPr>
          <a:xfrm>
            <a:off x="932688" y="3995928"/>
            <a:ext cx="118872" cy="118872"/>
          </a:xfrm>
          <a:prstGeom prst="ellipse">
            <a:avLst/>
          </a:prstGeom>
          <a:solidFill>
            <a:srgbClr val="1E6FE8"/>
          </a:solidFill>
          <a:ln/>
        </p:spPr>
      </p:sp>
      <p:sp>
        <p:nvSpPr>
          <p:cNvPr id="17" name="Text 14"/>
          <p:cNvSpPr txBox="1"/>
          <p:nvPr/>
        </p:nvSpPr>
        <p:spPr>
          <a:xfrm>
            <a:off x="1161288" y="3867912"/>
            <a:ext cx="4023360" cy="36576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検索キーワード（サジェスト）</a:t>
            </a:r>
            <a:endParaRPr lang="en-US" sz="1250" dirty="0"/>
          </a:p>
        </p:txBody>
      </p:sp>
      <p:sp>
        <p:nvSpPr>
          <p:cNvPr id="18" name="Shape 15"/>
          <p:cNvSpPr/>
          <p:nvPr/>
        </p:nvSpPr>
        <p:spPr>
          <a:xfrm>
            <a:off x="932688" y="4416552"/>
            <a:ext cx="118872" cy="118872"/>
          </a:xfrm>
          <a:prstGeom prst="ellipse">
            <a:avLst/>
          </a:prstGeom>
          <a:solidFill>
            <a:srgbClr val="1E6FE8"/>
          </a:solidFill>
          <a:ln/>
        </p:spPr>
      </p:sp>
      <p:sp>
        <p:nvSpPr>
          <p:cNvPr id="19" name="Text 16"/>
          <p:cNvSpPr txBox="1"/>
          <p:nvPr/>
        </p:nvSpPr>
        <p:spPr>
          <a:xfrm>
            <a:off x="1161288" y="4288536"/>
            <a:ext cx="4023360" cy="36576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問い合わせ・返品理由</a:t>
            </a:r>
            <a:endParaRPr lang="en-US" sz="1250" dirty="0"/>
          </a:p>
        </p:txBody>
      </p:sp>
      <p:sp>
        <p:nvSpPr>
          <p:cNvPr id="20" name="Shape 17"/>
          <p:cNvSpPr/>
          <p:nvPr/>
        </p:nvSpPr>
        <p:spPr>
          <a:xfrm>
            <a:off x="932688" y="4837176"/>
            <a:ext cx="118872" cy="118872"/>
          </a:xfrm>
          <a:prstGeom prst="ellipse">
            <a:avLst/>
          </a:prstGeom>
          <a:solidFill>
            <a:srgbClr val="1E6FE8"/>
          </a:solidFill>
          <a:ln/>
        </p:spPr>
      </p:sp>
      <p:sp>
        <p:nvSpPr>
          <p:cNvPr id="21" name="Text 18"/>
          <p:cNvSpPr txBox="1"/>
          <p:nvPr/>
        </p:nvSpPr>
        <p:spPr>
          <a:xfrm>
            <a:off x="1161288" y="4709160"/>
            <a:ext cx="4023360" cy="365760"/>
          </a:xfrm>
          <a:prstGeom prst="rect">
            <a:avLst/>
          </a:prstGeom>
          <a:noFill/>
          <a:ln/>
        </p:spPr>
        <p:txBody>
          <a:bodyPr wrap="square" lIns="0" tIns="0" rIns="0" bIns="0" rtlCol="0" anchor="ctr"/>
          <a:lstStyle/>
          <a:p>
            <a:pPr indent="0" marL="0">
              <a:buNone/>
            </a:pPr>
            <a:r>
              <a:rPr lang="en-US" sz="1250" dirty="0">
                <a:solidFill>
                  <a:srgbClr val="3A4A61"/>
                </a:solidFill>
                <a:latin typeface="Arial" pitchFamily="34" charset="0"/>
                <a:ea typeface="Arial" pitchFamily="34" charset="-122"/>
                <a:cs typeface="Arial" pitchFamily="34" charset="-120"/>
              </a:rPr>
              <a:t>カスタマーサポートの記録</a:t>
            </a:r>
            <a:endParaRPr lang="en-US" sz="1250" dirty="0"/>
          </a:p>
        </p:txBody>
      </p:sp>
      <p:sp>
        <p:nvSpPr>
          <p:cNvPr id="22" name="Shape 19"/>
          <p:cNvSpPr/>
          <p:nvPr/>
        </p:nvSpPr>
        <p:spPr>
          <a:xfrm>
            <a:off x="5806440" y="1965960"/>
            <a:ext cx="5788152" cy="3337560"/>
          </a:xfrm>
          <a:prstGeom prst="roundRect">
            <a:avLst>
              <a:gd name="adj" fmla="val 2192"/>
            </a:avLst>
          </a:prstGeom>
          <a:solidFill>
            <a:srgbClr val="FFFFFF"/>
          </a:solidFill>
          <a:ln w="12700">
            <a:solidFill>
              <a:srgbClr val="C9DAF5"/>
            </a:solidFill>
            <a:prstDash val="solid"/>
          </a:ln>
        </p:spPr>
      </p:sp>
      <p:sp>
        <p:nvSpPr>
          <p:cNvPr id="23" name="Text 20"/>
          <p:cNvSpPr txBox="1"/>
          <p:nvPr/>
        </p:nvSpPr>
        <p:spPr>
          <a:xfrm>
            <a:off x="6126480" y="2176272"/>
            <a:ext cx="5120640" cy="320040"/>
          </a:xfrm>
          <a:prstGeom prst="rect">
            <a:avLst/>
          </a:prstGeom>
          <a:noFill/>
          <a:ln/>
        </p:spPr>
        <p:txBody>
          <a:bodyPr wrap="square" lIns="0" tIns="0" rIns="0" bIns="0" rtlCol="0" anchor="ctr"/>
          <a:lstStyle/>
          <a:p>
            <a:pPr indent="0" marL="0">
              <a:buNone/>
            </a:pPr>
            <a:r>
              <a:rPr lang="en-US" sz="1300" b="1" dirty="0">
                <a:solidFill>
                  <a:srgbClr val="0E1B2C"/>
                </a:solidFill>
                <a:latin typeface="Arial" pitchFamily="34" charset="0"/>
                <a:ea typeface="Arial" pitchFamily="34" charset="-122"/>
                <a:cs typeface="Arial" pitchFamily="34" charset="-120"/>
              </a:rPr>
              <a:t>レビュー評価のどこを読むか</a:t>
            </a:r>
            <a:endParaRPr lang="en-US" sz="1300" dirty="0"/>
          </a:p>
        </p:txBody>
      </p:sp>
      <p:sp>
        <p:nvSpPr>
          <p:cNvPr id="24" name="Text 21"/>
          <p:cNvSpPr txBox="1"/>
          <p:nvPr/>
        </p:nvSpPr>
        <p:spPr>
          <a:xfrm>
            <a:off x="6126480" y="2651760"/>
            <a:ext cx="502920" cy="347472"/>
          </a:xfrm>
          <a:prstGeom prst="rect">
            <a:avLst/>
          </a:prstGeom>
          <a:noFill/>
          <a:ln/>
        </p:spPr>
        <p:txBody>
          <a:bodyPr wrap="square" lIns="0" tIns="0" rIns="0" bIns="0" rtlCol="0" anchor="ctr"/>
          <a:lstStyle/>
          <a:p>
            <a:pPr indent="0" marL="0">
              <a:buNone/>
            </a:pPr>
            <a:r>
              <a:rPr lang="en-US" sz="1250" b="1" dirty="0">
                <a:solidFill>
                  <a:srgbClr val="7A8AA3"/>
                </a:solidFill>
                <a:latin typeface="Arial" pitchFamily="34" charset="0"/>
                <a:ea typeface="Arial" pitchFamily="34" charset="-122"/>
                <a:cs typeface="Arial" pitchFamily="34" charset="-120"/>
              </a:rPr>
              <a:t>★5</a:t>
            </a:r>
            <a:endParaRPr lang="en-US" sz="1250" dirty="0"/>
          </a:p>
        </p:txBody>
      </p:sp>
      <p:sp>
        <p:nvSpPr>
          <p:cNvPr id="25" name="Shape 22"/>
          <p:cNvSpPr/>
          <p:nvPr/>
        </p:nvSpPr>
        <p:spPr>
          <a:xfrm>
            <a:off x="6675120" y="2706624"/>
            <a:ext cx="2834640" cy="237744"/>
          </a:xfrm>
          <a:prstGeom prst="rect">
            <a:avLst/>
          </a:prstGeom>
          <a:solidFill>
            <a:srgbClr val="DDE6F5"/>
          </a:solidFill>
          <a:ln/>
        </p:spPr>
      </p:sp>
      <p:sp>
        <p:nvSpPr>
          <p:cNvPr id="26" name="Text 23"/>
          <p:cNvSpPr txBox="1"/>
          <p:nvPr/>
        </p:nvSpPr>
        <p:spPr>
          <a:xfrm>
            <a:off x="9646920" y="2651760"/>
            <a:ext cx="1828800" cy="347472"/>
          </a:xfrm>
          <a:prstGeom prst="rect">
            <a:avLst/>
          </a:prstGeom>
          <a:noFill/>
          <a:ln/>
        </p:spPr>
        <p:txBody>
          <a:bodyPr wrap="square" lIns="0" tIns="0" rIns="0" bIns="0" rtlCol="0" anchor="ctr"/>
          <a:lstStyle/>
          <a:p>
            <a:pPr indent="0" marL="0">
              <a:buNone/>
            </a:pPr>
            <a:r>
              <a:rPr lang="en-US" sz="1050" dirty="0">
                <a:solidFill>
                  <a:srgbClr val="7A8AA3"/>
                </a:solidFill>
                <a:latin typeface="Arial" pitchFamily="34" charset="0"/>
                <a:ea typeface="Arial" pitchFamily="34" charset="-122"/>
                <a:cs typeface="Arial" pitchFamily="34" charset="-120"/>
              </a:rPr>
              <a:t>満足の声（伸ばす材料）</a:t>
            </a:r>
            <a:endParaRPr lang="en-US" sz="1050" dirty="0"/>
          </a:p>
        </p:txBody>
      </p:sp>
      <p:sp>
        <p:nvSpPr>
          <p:cNvPr id="27" name="Text 24"/>
          <p:cNvSpPr txBox="1"/>
          <p:nvPr/>
        </p:nvSpPr>
        <p:spPr>
          <a:xfrm>
            <a:off x="6126480" y="3108960"/>
            <a:ext cx="502920" cy="347472"/>
          </a:xfrm>
          <a:prstGeom prst="rect">
            <a:avLst/>
          </a:prstGeom>
          <a:noFill/>
          <a:ln/>
        </p:spPr>
        <p:txBody>
          <a:bodyPr wrap="square" lIns="0" tIns="0" rIns="0" bIns="0" rtlCol="0" anchor="ctr"/>
          <a:lstStyle/>
          <a:p>
            <a:pPr indent="0" marL="0">
              <a:buNone/>
            </a:pPr>
            <a:r>
              <a:rPr lang="en-US" sz="1250" b="1" dirty="0">
                <a:solidFill>
                  <a:srgbClr val="7A8AA3"/>
                </a:solidFill>
                <a:latin typeface="Arial" pitchFamily="34" charset="0"/>
                <a:ea typeface="Arial" pitchFamily="34" charset="-122"/>
                <a:cs typeface="Arial" pitchFamily="34" charset="-120"/>
              </a:rPr>
              <a:t>★4</a:t>
            </a:r>
            <a:endParaRPr lang="en-US" sz="1250" dirty="0"/>
          </a:p>
        </p:txBody>
      </p:sp>
      <p:sp>
        <p:nvSpPr>
          <p:cNvPr id="28" name="Shape 25"/>
          <p:cNvSpPr/>
          <p:nvPr/>
        </p:nvSpPr>
        <p:spPr>
          <a:xfrm>
            <a:off x="6675120" y="3163824"/>
            <a:ext cx="2011680" cy="237744"/>
          </a:xfrm>
          <a:prstGeom prst="rect">
            <a:avLst/>
          </a:prstGeom>
          <a:solidFill>
            <a:srgbClr val="DDE6F5"/>
          </a:solidFill>
          <a:ln/>
        </p:spPr>
      </p:sp>
      <p:sp>
        <p:nvSpPr>
          <p:cNvPr id="29" name="Text 26"/>
          <p:cNvSpPr txBox="1"/>
          <p:nvPr/>
        </p:nvSpPr>
        <p:spPr>
          <a:xfrm>
            <a:off x="6126480" y="3566160"/>
            <a:ext cx="502920" cy="347472"/>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★3</a:t>
            </a:r>
            <a:endParaRPr lang="en-US" sz="1250" dirty="0"/>
          </a:p>
        </p:txBody>
      </p:sp>
      <p:sp>
        <p:nvSpPr>
          <p:cNvPr id="30" name="Shape 27"/>
          <p:cNvSpPr/>
          <p:nvPr/>
        </p:nvSpPr>
        <p:spPr>
          <a:xfrm>
            <a:off x="6675120" y="3621024"/>
            <a:ext cx="1371600" cy="237744"/>
          </a:xfrm>
          <a:prstGeom prst="rect">
            <a:avLst/>
          </a:prstGeom>
          <a:solidFill>
            <a:srgbClr val="1E6FE8"/>
          </a:solidFill>
          <a:ln/>
        </p:spPr>
      </p:sp>
      <p:sp>
        <p:nvSpPr>
          <p:cNvPr id="31" name="Text 28"/>
          <p:cNvSpPr txBox="1"/>
          <p:nvPr/>
        </p:nvSpPr>
        <p:spPr>
          <a:xfrm>
            <a:off x="6126480" y="4023360"/>
            <a:ext cx="502920" cy="347472"/>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★2</a:t>
            </a:r>
            <a:endParaRPr lang="en-US" sz="1250" dirty="0"/>
          </a:p>
        </p:txBody>
      </p:sp>
      <p:sp>
        <p:nvSpPr>
          <p:cNvPr id="32" name="Shape 29"/>
          <p:cNvSpPr/>
          <p:nvPr/>
        </p:nvSpPr>
        <p:spPr>
          <a:xfrm>
            <a:off x="6675120" y="4078224"/>
            <a:ext cx="914400" cy="237744"/>
          </a:xfrm>
          <a:prstGeom prst="rect">
            <a:avLst/>
          </a:prstGeom>
          <a:solidFill>
            <a:srgbClr val="1E6FE8"/>
          </a:solidFill>
          <a:ln/>
        </p:spPr>
      </p:sp>
      <p:sp>
        <p:nvSpPr>
          <p:cNvPr id="33" name="Text 30"/>
          <p:cNvSpPr txBox="1"/>
          <p:nvPr/>
        </p:nvSpPr>
        <p:spPr>
          <a:xfrm>
            <a:off x="6126480" y="4480560"/>
            <a:ext cx="502920" cy="347472"/>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★1</a:t>
            </a:r>
            <a:endParaRPr lang="en-US" sz="1250" dirty="0"/>
          </a:p>
        </p:txBody>
      </p:sp>
      <p:sp>
        <p:nvSpPr>
          <p:cNvPr id="34" name="Shape 31"/>
          <p:cNvSpPr/>
          <p:nvPr/>
        </p:nvSpPr>
        <p:spPr>
          <a:xfrm>
            <a:off x="6675120" y="4535424"/>
            <a:ext cx="1463040" cy="237744"/>
          </a:xfrm>
          <a:prstGeom prst="rect">
            <a:avLst/>
          </a:prstGeom>
          <a:solidFill>
            <a:srgbClr val="1E6FE8"/>
          </a:solidFill>
          <a:ln/>
        </p:spPr>
      </p:sp>
      <p:sp>
        <p:nvSpPr>
          <p:cNvPr id="35" name="Shape 32"/>
          <p:cNvSpPr/>
          <p:nvPr/>
        </p:nvSpPr>
        <p:spPr>
          <a:xfrm>
            <a:off x="6053328" y="3493008"/>
            <a:ext cx="3429000" cy="1463040"/>
          </a:xfrm>
          <a:prstGeom prst="roundRect">
            <a:avLst>
              <a:gd name="adj" fmla="val 3750"/>
            </a:avLst>
          </a:prstGeom>
          <a:ln w="19050">
            <a:solidFill>
              <a:srgbClr val="1E6FE8"/>
            </a:solidFill>
            <a:prstDash val="dash"/>
          </a:ln>
        </p:spPr>
      </p:sp>
      <p:sp>
        <p:nvSpPr>
          <p:cNvPr id="36" name="Text 33"/>
          <p:cNvSpPr txBox="1"/>
          <p:nvPr/>
        </p:nvSpPr>
        <p:spPr>
          <a:xfrm>
            <a:off x="9646920" y="3794760"/>
            <a:ext cx="1828800" cy="868680"/>
          </a:xfrm>
          <a:prstGeom prst="rect">
            <a:avLst/>
          </a:prstGeom>
          <a:noFill/>
          <a:ln/>
        </p:spPr>
        <p:txBody>
          <a:bodyPr wrap="square" lIns="0" tIns="0" rIns="0" bIns="0" rtlCol="0" anchor="t"/>
          <a:lstStyle/>
          <a:p>
            <a:pPr indent="0" marL="0">
              <a:lnSpc>
                <a:spcPts val="1800"/>
              </a:lnSpc>
              <a:buNone/>
            </a:pPr>
            <a:r>
              <a:rPr lang="en-US" sz="1150" b="1" dirty="0">
                <a:solidFill>
                  <a:srgbClr val="1E6FE8"/>
                </a:solidFill>
                <a:latin typeface="Arial" pitchFamily="34" charset="0"/>
                <a:ea typeface="Arial" pitchFamily="34" charset="-122"/>
                <a:cs typeface="Arial" pitchFamily="34" charset="-120"/>
              </a:rPr>
              <a:t>★1〜3 に、既存商品が</a:t>
            </a:r>
            <a:endParaRPr lang="en-US" sz="1150" dirty="0"/>
          </a:p>
          <a:p>
            <a:pPr indent="0" marL="0">
              <a:lnSpc>
                <a:spcPts val="1800"/>
              </a:lnSpc>
              <a:buNone/>
            </a:pPr>
            <a:r>
              <a:rPr lang="en-US" sz="1150" b="1" dirty="0">
                <a:solidFill>
                  <a:srgbClr val="1E6FE8"/>
                </a:solidFill>
                <a:latin typeface="Arial" pitchFamily="34" charset="0"/>
                <a:ea typeface="Arial" pitchFamily="34" charset="-122"/>
                <a:cs typeface="Arial" pitchFamily="34" charset="-120"/>
              </a:rPr>
              <a:t>解決できていない課題が</a:t>
            </a:r>
            <a:endParaRPr lang="en-US" sz="1150" dirty="0"/>
          </a:p>
          <a:p>
            <a:pPr indent="0" marL="0">
              <a:lnSpc>
                <a:spcPts val="1800"/>
              </a:lnSpc>
              <a:buNone/>
            </a:pPr>
            <a:r>
              <a:rPr lang="en-US" sz="1150" b="1" dirty="0">
                <a:solidFill>
                  <a:srgbClr val="1E6FE8"/>
                </a:solidFill>
                <a:latin typeface="Arial" pitchFamily="34" charset="0"/>
                <a:ea typeface="Arial" pitchFamily="34" charset="-122"/>
                <a:cs typeface="Arial" pitchFamily="34" charset="-120"/>
              </a:rPr>
              <a:t>大量に書かれている</a:t>
            </a:r>
            <a:endParaRPr lang="en-US" sz="1150" dirty="0"/>
          </a:p>
        </p:txBody>
      </p:sp>
      <p:sp>
        <p:nvSpPr>
          <p:cNvPr id="37" name="Shape 34"/>
          <p:cNvSpPr/>
          <p:nvPr/>
        </p:nvSpPr>
        <p:spPr>
          <a:xfrm>
            <a:off x="594360" y="5468112"/>
            <a:ext cx="11000232" cy="749808"/>
          </a:xfrm>
          <a:prstGeom prst="roundRect">
            <a:avLst>
              <a:gd name="adj" fmla="val 10976"/>
            </a:avLst>
          </a:prstGeom>
          <a:solidFill>
            <a:srgbClr val="E8F0FC"/>
          </a:solidFill>
          <a:ln/>
        </p:spPr>
      </p:sp>
      <p:sp>
        <p:nvSpPr>
          <p:cNvPr id="38" name="Text 35"/>
          <p:cNvSpPr txBox="1"/>
          <p:nvPr/>
        </p:nvSpPr>
        <p:spPr>
          <a:xfrm>
            <a:off x="960120" y="5468112"/>
            <a:ext cx="10268712" cy="749808"/>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探すのは　</a:t>
            </a:r>
            <a:pPr algn="l" indent="0" marL="0">
              <a:buNone/>
            </a:pPr>
            <a:r>
              <a:rPr lang="en-US" sz="1700" b="1" dirty="0">
                <a:solidFill>
                  <a:srgbClr val="0E1B2C"/>
                </a:solidFill>
                <a:latin typeface="Arial" pitchFamily="34" charset="0"/>
                <a:ea typeface="Arial" pitchFamily="34" charset="-122"/>
                <a:cs typeface="Arial" pitchFamily="34" charset="-120"/>
              </a:rPr>
              <a:t>「良い商品」ではなく、「既存商品の不満」。</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15</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VALUE DESIGN</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商品価値は「足し算」だけではない</a:t>
            </a:r>
            <a:endParaRPr lang="en-US" sz="2600" dirty="0"/>
          </a:p>
        </p:txBody>
      </p:sp>
      <p:sp>
        <p:nvSpPr>
          <p:cNvPr id="7" name="Text 4"/>
          <p:cNvSpPr txBox="1"/>
          <p:nvPr/>
        </p:nvSpPr>
        <p:spPr>
          <a:xfrm>
            <a:off x="594360" y="1463040"/>
            <a:ext cx="10972800" cy="365760"/>
          </a:xfrm>
          <a:prstGeom prst="rect">
            <a:avLst/>
          </a:prstGeom>
          <a:noFill/>
          <a:ln/>
        </p:spPr>
        <p:txBody>
          <a:bodyPr wrap="square" lIns="0" tIns="0" rIns="0" bIns="0" rtlCol="0" anchor="ctr"/>
          <a:lstStyle/>
          <a:p>
            <a:pPr indent="0" marL="0">
              <a:buNone/>
            </a:pPr>
            <a:r>
              <a:rPr lang="en-US" sz="1350" dirty="0">
                <a:solidFill>
                  <a:srgbClr val="3A4A61"/>
                </a:solidFill>
                <a:latin typeface="Arial" pitchFamily="34" charset="0"/>
                <a:ea typeface="Arial" pitchFamily="34" charset="-122"/>
                <a:cs typeface="Arial" pitchFamily="34" charset="-120"/>
              </a:rPr>
              <a:t>ユーザーが欲しいのは機能ではなく、「課題がなくなること」。</a:t>
            </a:r>
            <a:endParaRPr lang="en-US" sz="1350" dirty="0"/>
          </a:p>
        </p:txBody>
      </p:sp>
      <p:sp>
        <p:nvSpPr>
          <p:cNvPr id="8" name="Shape 5"/>
          <p:cNvSpPr/>
          <p:nvPr/>
        </p:nvSpPr>
        <p:spPr>
          <a:xfrm>
            <a:off x="594360" y="2011680"/>
            <a:ext cx="2606040" cy="2240280"/>
          </a:xfrm>
          <a:prstGeom prst="roundRect">
            <a:avLst>
              <a:gd name="adj" fmla="val 3265"/>
            </a:avLst>
          </a:prstGeom>
          <a:solidFill>
            <a:srgbClr val="F2F6FD"/>
          </a:solidFill>
          <a:ln/>
        </p:spPr>
      </p:sp>
      <p:sp>
        <p:nvSpPr>
          <p:cNvPr id="9" name="Text 6"/>
          <p:cNvSpPr txBox="1"/>
          <p:nvPr/>
        </p:nvSpPr>
        <p:spPr>
          <a:xfrm>
            <a:off x="886968" y="2286000"/>
            <a:ext cx="2057400" cy="384048"/>
          </a:xfrm>
          <a:prstGeom prst="rect">
            <a:avLst/>
          </a:prstGeom>
          <a:noFill/>
          <a:ln/>
        </p:spPr>
        <p:txBody>
          <a:bodyPr wrap="square" lIns="0" tIns="0" rIns="0" bIns="0" rtlCol="0" anchor="ctr"/>
          <a:lstStyle/>
          <a:p>
            <a:pPr indent="0" marL="0">
              <a:buNone/>
            </a:pPr>
            <a:r>
              <a:rPr lang="en-US" sz="1700" b="1" spc="80" kern="0" dirty="0">
                <a:solidFill>
                  <a:srgbClr val="7A8AA3"/>
                </a:solidFill>
                <a:latin typeface="Arial" pitchFamily="34" charset="0"/>
                <a:ea typeface="Arial" pitchFamily="34" charset="-122"/>
                <a:cs typeface="Arial" pitchFamily="34" charset="-120"/>
              </a:rPr>
              <a:t>ADD</a:t>
            </a:r>
            <a:endParaRPr lang="en-US" sz="1700" dirty="0"/>
          </a:p>
        </p:txBody>
      </p:sp>
      <p:sp>
        <p:nvSpPr>
          <p:cNvPr id="10" name="Text 7"/>
          <p:cNvSpPr txBox="1"/>
          <p:nvPr/>
        </p:nvSpPr>
        <p:spPr>
          <a:xfrm>
            <a:off x="886968" y="269748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追加する</a:t>
            </a:r>
            <a:endParaRPr lang="en-US" sz="1500" dirty="0"/>
          </a:p>
        </p:txBody>
      </p:sp>
      <p:sp>
        <p:nvSpPr>
          <p:cNvPr id="11" name="Text 8"/>
          <p:cNvSpPr txBox="1"/>
          <p:nvPr/>
        </p:nvSpPr>
        <p:spPr>
          <a:xfrm>
            <a:off x="886968" y="3200400"/>
            <a:ext cx="2057400" cy="365760"/>
          </a:xfrm>
          <a:prstGeom prst="rect">
            <a:avLst/>
          </a:prstGeom>
          <a:noFill/>
          <a:ln/>
        </p:spPr>
        <p:txBody>
          <a:bodyPr wrap="square" lIns="0" tIns="0" rIns="0" bIns="0" rtlCol="0" anchor="ctr"/>
          <a:lstStyle/>
          <a:p>
            <a:pPr indent="0" marL="0">
              <a:buNone/>
            </a:pPr>
            <a:r>
              <a:rPr lang="en-US" sz="1250" b="1" dirty="0">
                <a:solidFill>
                  <a:srgbClr val="7A8AA3"/>
                </a:solidFill>
                <a:latin typeface="Arial" pitchFamily="34" charset="0"/>
                <a:ea typeface="Arial" pitchFamily="34" charset="-122"/>
                <a:cs typeface="Arial" pitchFamily="34" charset="-120"/>
              </a:rPr>
              <a:t>何を足すか？</a:t>
            </a:r>
            <a:endParaRPr lang="en-US" sz="1250" dirty="0"/>
          </a:p>
        </p:txBody>
      </p:sp>
      <p:sp>
        <p:nvSpPr>
          <p:cNvPr id="12" name="Text 9"/>
          <p:cNvSpPr txBox="1"/>
          <p:nvPr/>
        </p:nvSpPr>
        <p:spPr>
          <a:xfrm>
            <a:off x="886968" y="3611880"/>
            <a:ext cx="2057400" cy="77724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新しい機能・成分・付加価値</a:t>
            </a:r>
            <a:endParaRPr lang="en-US" sz="1150" dirty="0"/>
          </a:p>
        </p:txBody>
      </p:sp>
      <p:sp>
        <p:nvSpPr>
          <p:cNvPr id="13" name="Shape 10"/>
          <p:cNvSpPr/>
          <p:nvPr/>
        </p:nvSpPr>
        <p:spPr>
          <a:xfrm>
            <a:off x="3392424" y="2011680"/>
            <a:ext cx="2606040" cy="2240280"/>
          </a:xfrm>
          <a:prstGeom prst="roundRect">
            <a:avLst>
              <a:gd name="adj" fmla="val 3265"/>
            </a:avLst>
          </a:prstGeom>
          <a:solidFill>
            <a:srgbClr val="E8F0FC"/>
          </a:solidFill>
          <a:ln/>
        </p:spPr>
      </p:sp>
      <p:sp>
        <p:nvSpPr>
          <p:cNvPr id="14" name="Text 11"/>
          <p:cNvSpPr txBox="1"/>
          <p:nvPr/>
        </p:nvSpPr>
        <p:spPr>
          <a:xfrm>
            <a:off x="3685032" y="2286000"/>
            <a:ext cx="2057400" cy="384048"/>
          </a:xfrm>
          <a:prstGeom prst="rect">
            <a:avLst/>
          </a:prstGeom>
          <a:noFill/>
          <a:ln/>
        </p:spPr>
        <p:txBody>
          <a:bodyPr wrap="square" lIns="0" tIns="0" rIns="0" bIns="0" rtlCol="0" anchor="ctr"/>
          <a:lstStyle/>
          <a:p>
            <a:pPr indent="0" marL="0">
              <a:buNone/>
            </a:pPr>
            <a:r>
              <a:rPr lang="en-US" sz="1700" b="1" spc="80" kern="0" dirty="0">
                <a:solidFill>
                  <a:srgbClr val="1E6FE8"/>
                </a:solidFill>
                <a:latin typeface="Arial" pitchFamily="34" charset="0"/>
                <a:ea typeface="Arial" pitchFamily="34" charset="-122"/>
                <a:cs typeface="Arial" pitchFamily="34" charset="-120"/>
              </a:rPr>
              <a:t>REMOVE</a:t>
            </a:r>
            <a:endParaRPr lang="en-US" sz="1700" dirty="0"/>
          </a:p>
        </p:txBody>
      </p:sp>
      <p:sp>
        <p:nvSpPr>
          <p:cNvPr id="15" name="Text 12"/>
          <p:cNvSpPr txBox="1"/>
          <p:nvPr/>
        </p:nvSpPr>
        <p:spPr>
          <a:xfrm>
            <a:off x="3685032" y="269748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なくす</a:t>
            </a:r>
            <a:endParaRPr lang="en-US" sz="1500" dirty="0"/>
          </a:p>
        </p:txBody>
      </p:sp>
      <p:sp>
        <p:nvSpPr>
          <p:cNvPr id="16" name="Text 13"/>
          <p:cNvSpPr txBox="1"/>
          <p:nvPr/>
        </p:nvSpPr>
        <p:spPr>
          <a:xfrm>
            <a:off x="3685032" y="3200400"/>
            <a:ext cx="2057400" cy="365760"/>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何をなくせるか？</a:t>
            </a:r>
            <a:endParaRPr lang="en-US" sz="1250" dirty="0"/>
          </a:p>
        </p:txBody>
      </p:sp>
      <p:sp>
        <p:nvSpPr>
          <p:cNvPr id="17" name="Text 14"/>
          <p:cNvSpPr txBox="1"/>
          <p:nvPr/>
        </p:nvSpPr>
        <p:spPr>
          <a:xfrm>
            <a:off x="3685032" y="3611880"/>
            <a:ext cx="2057400" cy="77724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工程・手間・迷う要素</a:t>
            </a:r>
            <a:endParaRPr lang="en-US" sz="1150" dirty="0"/>
          </a:p>
        </p:txBody>
      </p:sp>
      <p:sp>
        <p:nvSpPr>
          <p:cNvPr id="18" name="Shape 15"/>
          <p:cNvSpPr/>
          <p:nvPr/>
        </p:nvSpPr>
        <p:spPr>
          <a:xfrm>
            <a:off x="6190488" y="2011680"/>
            <a:ext cx="2606040" cy="2240280"/>
          </a:xfrm>
          <a:prstGeom prst="roundRect">
            <a:avLst>
              <a:gd name="adj" fmla="val 3265"/>
            </a:avLst>
          </a:prstGeom>
          <a:solidFill>
            <a:srgbClr val="E8F0FC"/>
          </a:solidFill>
          <a:ln/>
        </p:spPr>
      </p:sp>
      <p:sp>
        <p:nvSpPr>
          <p:cNvPr id="19" name="Text 16"/>
          <p:cNvSpPr txBox="1"/>
          <p:nvPr/>
        </p:nvSpPr>
        <p:spPr>
          <a:xfrm>
            <a:off x="6483096" y="2286000"/>
            <a:ext cx="2057400" cy="384048"/>
          </a:xfrm>
          <a:prstGeom prst="rect">
            <a:avLst/>
          </a:prstGeom>
          <a:noFill/>
          <a:ln/>
        </p:spPr>
        <p:txBody>
          <a:bodyPr wrap="square" lIns="0" tIns="0" rIns="0" bIns="0" rtlCol="0" anchor="ctr"/>
          <a:lstStyle/>
          <a:p>
            <a:pPr indent="0" marL="0">
              <a:buNone/>
            </a:pPr>
            <a:r>
              <a:rPr lang="en-US" sz="1700" b="1" spc="80" kern="0" dirty="0">
                <a:solidFill>
                  <a:srgbClr val="1E6FE8"/>
                </a:solidFill>
                <a:latin typeface="Arial" pitchFamily="34" charset="0"/>
                <a:ea typeface="Arial" pitchFamily="34" charset="-122"/>
                <a:cs typeface="Arial" pitchFamily="34" charset="-120"/>
              </a:rPr>
              <a:t>REDUCE</a:t>
            </a:r>
            <a:endParaRPr lang="en-US" sz="1700" dirty="0"/>
          </a:p>
        </p:txBody>
      </p:sp>
      <p:sp>
        <p:nvSpPr>
          <p:cNvPr id="20" name="Text 17"/>
          <p:cNvSpPr txBox="1"/>
          <p:nvPr/>
        </p:nvSpPr>
        <p:spPr>
          <a:xfrm>
            <a:off x="6483096" y="269748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減らす</a:t>
            </a:r>
            <a:endParaRPr lang="en-US" sz="1500" dirty="0"/>
          </a:p>
        </p:txBody>
      </p:sp>
      <p:sp>
        <p:nvSpPr>
          <p:cNvPr id="21" name="Text 18"/>
          <p:cNvSpPr txBox="1"/>
          <p:nvPr/>
        </p:nvSpPr>
        <p:spPr>
          <a:xfrm>
            <a:off x="6483096" y="3200400"/>
            <a:ext cx="2057400" cy="365760"/>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何を減らせるか？</a:t>
            </a:r>
            <a:endParaRPr lang="en-US" sz="1250" dirty="0"/>
          </a:p>
        </p:txBody>
      </p:sp>
      <p:sp>
        <p:nvSpPr>
          <p:cNvPr id="22" name="Text 19"/>
          <p:cNvSpPr txBox="1"/>
          <p:nvPr/>
        </p:nvSpPr>
        <p:spPr>
          <a:xfrm>
            <a:off x="6483096" y="3611880"/>
            <a:ext cx="2057400" cy="77724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時間・回数・種類・負担</a:t>
            </a:r>
            <a:endParaRPr lang="en-US" sz="1150" dirty="0"/>
          </a:p>
        </p:txBody>
      </p:sp>
      <p:sp>
        <p:nvSpPr>
          <p:cNvPr id="23" name="Shape 20"/>
          <p:cNvSpPr/>
          <p:nvPr/>
        </p:nvSpPr>
        <p:spPr>
          <a:xfrm>
            <a:off x="8988552" y="2011680"/>
            <a:ext cx="2606040" cy="2240280"/>
          </a:xfrm>
          <a:prstGeom prst="roundRect">
            <a:avLst>
              <a:gd name="adj" fmla="val 3265"/>
            </a:avLst>
          </a:prstGeom>
          <a:solidFill>
            <a:srgbClr val="E8F0FC"/>
          </a:solidFill>
          <a:ln/>
        </p:spPr>
      </p:sp>
      <p:sp>
        <p:nvSpPr>
          <p:cNvPr id="24" name="Text 21"/>
          <p:cNvSpPr txBox="1"/>
          <p:nvPr/>
        </p:nvSpPr>
        <p:spPr>
          <a:xfrm>
            <a:off x="9281160" y="2286000"/>
            <a:ext cx="2057400" cy="384048"/>
          </a:xfrm>
          <a:prstGeom prst="rect">
            <a:avLst/>
          </a:prstGeom>
          <a:noFill/>
          <a:ln/>
        </p:spPr>
        <p:txBody>
          <a:bodyPr wrap="square" lIns="0" tIns="0" rIns="0" bIns="0" rtlCol="0" anchor="ctr"/>
          <a:lstStyle/>
          <a:p>
            <a:pPr indent="0" marL="0">
              <a:buNone/>
            </a:pPr>
            <a:r>
              <a:rPr lang="en-US" sz="1700" b="1" spc="80" kern="0" dirty="0">
                <a:solidFill>
                  <a:srgbClr val="1E6FE8"/>
                </a:solidFill>
                <a:latin typeface="Arial" pitchFamily="34" charset="0"/>
                <a:ea typeface="Arial" pitchFamily="34" charset="-122"/>
                <a:cs typeface="Arial" pitchFamily="34" charset="-120"/>
              </a:rPr>
              <a:t>SIMPLIFY</a:t>
            </a:r>
            <a:endParaRPr lang="en-US" sz="1700" dirty="0"/>
          </a:p>
        </p:txBody>
      </p:sp>
      <p:sp>
        <p:nvSpPr>
          <p:cNvPr id="25" name="Text 22"/>
          <p:cNvSpPr txBox="1"/>
          <p:nvPr/>
        </p:nvSpPr>
        <p:spPr>
          <a:xfrm>
            <a:off x="9281160" y="269748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簡単にする</a:t>
            </a:r>
            <a:endParaRPr lang="en-US" sz="1500" dirty="0"/>
          </a:p>
        </p:txBody>
      </p:sp>
      <p:sp>
        <p:nvSpPr>
          <p:cNvPr id="26" name="Text 23"/>
          <p:cNvSpPr txBox="1"/>
          <p:nvPr/>
        </p:nvSpPr>
        <p:spPr>
          <a:xfrm>
            <a:off x="9281160" y="3200400"/>
            <a:ext cx="2057400" cy="365760"/>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何を簡単にできるか？</a:t>
            </a:r>
            <a:endParaRPr lang="en-US" sz="1250" dirty="0"/>
          </a:p>
        </p:txBody>
      </p:sp>
      <p:sp>
        <p:nvSpPr>
          <p:cNvPr id="27" name="Text 24"/>
          <p:cNvSpPr txBox="1"/>
          <p:nvPr/>
        </p:nvSpPr>
        <p:spPr>
          <a:xfrm>
            <a:off x="9281160" y="3611880"/>
            <a:ext cx="2057400" cy="77724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使い方・選び方・買い方</a:t>
            </a:r>
            <a:endParaRPr lang="en-US" sz="1150" dirty="0"/>
          </a:p>
        </p:txBody>
      </p:sp>
      <p:sp>
        <p:nvSpPr>
          <p:cNvPr id="28" name="Text 25"/>
          <p:cNvSpPr txBox="1"/>
          <p:nvPr/>
        </p:nvSpPr>
        <p:spPr>
          <a:xfrm>
            <a:off x="594360" y="4480560"/>
            <a:ext cx="10972800" cy="320040"/>
          </a:xfrm>
          <a:prstGeom prst="rect">
            <a:avLst/>
          </a:prstGeom>
          <a:noFill/>
          <a:ln/>
        </p:spPr>
        <p:txBody>
          <a:bodyPr wrap="square" lIns="0" tIns="0" rIns="0" bIns="0" rtlCol="0" anchor="ctr"/>
          <a:lstStyle/>
          <a:p>
            <a:pPr indent="0" marL="0">
              <a:buNone/>
            </a:pPr>
            <a:r>
              <a:rPr lang="en-US" sz="1200" dirty="0">
                <a:solidFill>
                  <a:srgbClr val="7A8AA3"/>
                </a:solidFill>
                <a:latin typeface="Arial" pitchFamily="34" charset="0"/>
                <a:ea typeface="Arial" pitchFamily="34" charset="-122"/>
                <a:cs typeface="Arial" pitchFamily="34" charset="-120"/>
              </a:rPr>
              <a:t>多くの商品開発は ADD に偏る。差がつくのは、残りの3つ。</a:t>
            </a:r>
            <a:endParaRPr lang="en-US" sz="1200" dirty="0"/>
          </a:p>
        </p:txBody>
      </p:sp>
      <p:sp>
        <p:nvSpPr>
          <p:cNvPr id="29" name="Shape 26"/>
          <p:cNvSpPr/>
          <p:nvPr/>
        </p:nvSpPr>
        <p:spPr>
          <a:xfrm>
            <a:off x="594360" y="5230368"/>
            <a:ext cx="11000232" cy="960120"/>
          </a:xfrm>
          <a:prstGeom prst="roundRect">
            <a:avLst>
              <a:gd name="adj" fmla="val 8571"/>
            </a:avLst>
          </a:prstGeom>
          <a:solidFill>
            <a:srgbClr val="E8F0FC"/>
          </a:solidFill>
          <a:ln/>
        </p:spPr>
      </p:sp>
      <p:sp>
        <p:nvSpPr>
          <p:cNvPr id="30" name="Text 27"/>
          <p:cNvSpPr txBox="1"/>
          <p:nvPr/>
        </p:nvSpPr>
        <p:spPr>
          <a:xfrm>
            <a:off x="960120" y="5230368"/>
            <a:ext cx="10268712" cy="960120"/>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たとえば　</a:t>
            </a:r>
            <a:pPr algn="l" indent="0" marL="0">
              <a:buNone/>
            </a:pPr>
            <a:r>
              <a:rPr lang="en-US" sz="1700" b="1" dirty="0">
                <a:solidFill>
                  <a:srgbClr val="0E1B2C"/>
                </a:solidFill>
                <a:latin typeface="Arial" pitchFamily="34" charset="0"/>
                <a:ea typeface="Arial" pitchFamily="34" charset="-122"/>
                <a:cs typeface="Arial" pitchFamily="34" charset="-120"/>
              </a:rPr>
              <a:t>10種類の美容成分を足すより、「お風呂上がり10秒で終わる」の方が価値になる。</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16</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THE CONCEPT</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商品コンセプトは、一文で説明できるか</a:t>
            </a:r>
            <a:endParaRPr lang="en-US" sz="2600" dirty="0"/>
          </a:p>
        </p:txBody>
      </p:sp>
      <p:sp>
        <p:nvSpPr>
          <p:cNvPr id="7" name="Text 4"/>
          <p:cNvSpPr txBox="1"/>
          <p:nvPr/>
        </p:nvSpPr>
        <p:spPr>
          <a:xfrm>
            <a:off x="594360" y="1463040"/>
            <a:ext cx="10972800" cy="365760"/>
          </a:xfrm>
          <a:prstGeom prst="rect">
            <a:avLst/>
          </a:prstGeom>
          <a:noFill/>
          <a:ln/>
        </p:spPr>
        <p:txBody>
          <a:bodyPr wrap="square" lIns="0" tIns="0" rIns="0" bIns="0" rtlCol="0" anchor="ctr"/>
          <a:lstStyle/>
          <a:p>
            <a:pPr indent="0" marL="0">
              <a:buNone/>
            </a:pPr>
            <a:r>
              <a:rPr lang="en-US" sz="1350" dirty="0">
                <a:solidFill>
                  <a:srgbClr val="3A4A61"/>
                </a:solidFill>
                <a:latin typeface="Arial" pitchFamily="34" charset="0"/>
                <a:ea typeface="Arial" pitchFamily="34" charset="-122"/>
                <a:cs typeface="Arial" pitchFamily="34" charset="-120"/>
              </a:rPr>
              <a:t>強い商品は「誰の、何を解決する商品か」が一瞬でわかる。</a:t>
            </a:r>
            <a:endParaRPr lang="en-US" sz="1350" dirty="0"/>
          </a:p>
        </p:txBody>
      </p:sp>
      <p:sp>
        <p:nvSpPr>
          <p:cNvPr id="8" name="Shape 5"/>
          <p:cNvSpPr/>
          <p:nvPr/>
        </p:nvSpPr>
        <p:spPr>
          <a:xfrm>
            <a:off x="594360" y="1965960"/>
            <a:ext cx="11000232" cy="1234440"/>
          </a:xfrm>
          <a:prstGeom prst="roundRect">
            <a:avLst>
              <a:gd name="adj" fmla="val 6667"/>
            </a:avLst>
          </a:prstGeom>
          <a:solidFill>
            <a:srgbClr val="1E6FE8"/>
          </a:solidFill>
          <a:ln/>
        </p:spPr>
      </p:sp>
      <p:sp>
        <p:nvSpPr>
          <p:cNvPr id="9" name="Text 6"/>
          <p:cNvSpPr txBox="1"/>
          <p:nvPr/>
        </p:nvSpPr>
        <p:spPr>
          <a:xfrm>
            <a:off x="1005840" y="2121408"/>
            <a:ext cx="2743200" cy="274320"/>
          </a:xfrm>
          <a:prstGeom prst="rect">
            <a:avLst/>
          </a:prstGeom>
          <a:noFill/>
          <a:ln/>
        </p:spPr>
        <p:txBody>
          <a:bodyPr wrap="square" lIns="0" tIns="0" rIns="0" bIns="0" rtlCol="0" anchor="ctr"/>
          <a:lstStyle/>
          <a:p>
            <a:pPr indent="0" marL="0">
              <a:buNone/>
            </a:pPr>
            <a:r>
              <a:rPr lang="en-US" sz="1150" b="1" spc="100" kern="0" dirty="0">
                <a:solidFill>
                  <a:srgbClr val="EAF2FF"/>
                </a:solidFill>
                <a:latin typeface="Arial" pitchFamily="34" charset="0"/>
                <a:ea typeface="Arial" pitchFamily="34" charset="-122"/>
                <a:cs typeface="Arial" pitchFamily="34" charset="-120"/>
              </a:rPr>
              <a:t>フォーマット</a:t>
            </a:r>
            <a:endParaRPr lang="en-US" sz="1150" dirty="0"/>
          </a:p>
        </p:txBody>
      </p:sp>
      <p:sp>
        <p:nvSpPr>
          <p:cNvPr id="10" name="Text 7"/>
          <p:cNvSpPr txBox="1"/>
          <p:nvPr/>
        </p:nvSpPr>
        <p:spPr>
          <a:xfrm>
            <a:off x="1005840" y="2450592"/>
            <a:ext cx="101772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○○な人</a:t>
            </a:r>
            <a:pPr indent="0" marL="0">
              <a:buNone/>
            </a:pPr>
            <a:r>
              <a:rPr lang="en-US" sz="2800" dirty="0">
                <a:solidFill>
                  <a:srgbClr val="EAF2FF"/>
                </a:solidFill>
                <a:latin typeface="Arial" pitchFamily="34" charset="0"/>
                <a:ea typeface="Arial" pitchFamily="34" charset="-122"/>
                <a:cs typeface="Arial" pitchFamily="34" charset="-120"/>
              </a:rPr>
              <a:t>が、</a:t>
            </a:r>
            <a:pPr indent="0" marL="0">
              <a:buNone/>
            </a:pPr>
            <a:r>
              <a:rPr lang="en-US" sz="2800" b="1" dirty="0">
                <a:solidFill>
                  <a:srgbClr val="FFFFFF"/>
                </a:solidFill>
                <a:latin typeface="Arial" pitchFamily="34" charset="0"/>
                <a:ea typeface="Arial" pitchFamily="34" charset="-122"/>
                <a:cs typeface="Arial" pitchFamily="34" charset="-120"/>
              </a:rPr>
              <a:t>△△せずに</a:t>
            </a:r>
            <a:pPr indent="0" marL="0">
              <a:buNone/>
            </a:pPr>
            <a:r>
              <a:rPr lang="en-US" sz="2800" dirty="0">
                <a:solidFill>
                  <a:srgbClr val="EAF2FF"/>
                </a:solidFill>
                <a:latin typeface="Arial" pitchFamily="34" charset="0"/>
                <a:ea typeface="Arial" pitchFamily="34" charset="-122"/>
                <a:cs typeface="Arial" pitchFamily="34" charset="-120"/>
              </a:rPr>
              <a:t>、</a:t>
            </a:r>
            <a:pPr indent="0" marL="0">
              <a:buNone/>
            </a:pPr>
            <a:r>
              <a:rPr lang="en-US" sz="2800" b="1" dirty="0">
                <a:solidFill>
                  <a:srgbClr val="FFFFFF"/>
                </a:solidFill>
                <a:latin typeface="Arial" pitchFamily="34" charset="0"/>
                <a:ea typeface="Arial" pitchFamily="34" charset="-122"/>
                <a:cs typeface="Arial" pitchFamily="34" charset="-120"/>
              </a:rPr>
              <a:t>□□できる</a:t>
            </a:r>
            <a:pPr indent="0" marL="0">
              <a:buNone/>
            </a:pPr>
            <a:r>
              <a:rPr lang="en-US" sz="2800" dirty="0">
                <a:solidFill>
                  <a:srgbClr val="EAF2FF"/>
                </a:solidFill>
                <a:latin typeface="Arial" pitchFamily="34" charset="0"/>
                <a:ea typeface="Arial" pitchFamily="34" charset="-122"/>
                <a:cs typeface="Arial" pitchFamily="34" charset="-120"/>
              </a:rPr>
              <a:t>商品</a:t>
            </a:r>
            <a:endParaRPr lang="en-US" sz="2800" dirty="0"/>
          </a:p>
        </p:txBody>
      </p:sp>
      <p:sp>
        <p:nvSpPr>
          <p:cNvPr id="11" name="Shape 8"/>
          <p:cNvSpPr/>
          <p:nvPr/>
        </p:nvSpPr>
        <p:spPr>
          <a:xfrm>
            <a:off x="594360" y="3401568"/>
            <a:ext cx="6949440" cy="2148840"/>
          </a:xfrm>
          <a:prstGeom prst="roundRect">
            <a:avLst>
              <a:gd name="adj" fmla="val 3404"/>
            </a:avLst>
          </a:prstGeom>
          <a:solidFill>
            <a:srgbClr val="F2F6FD"/>
          </a:solidFill>
          <a:ln/>
        </p:spPr>
      </p:sp>
      <p:sp>
        <p:nvSpPr>
          <p:cNvPr id="12" name="Text 9"/>
          <p:cNvSpPr txBox="1"/>
          <p:nvPr/>
        </p:nvSpPr>
        <p:spPr>
          <a:xfrm>
            <a:off x="960120" y="3611880"/>
            <a:ext cx="1371600" cy="274320"/>
          </a:xfrm>
          <a:prstGeom prst="rect">
            <a:avLst/>
          </a:prstGeom>
          <a:noFill/>
          <a:ln/>
        </p:spPr>
        <p:txBody>
          <a:bodyPr wrap="square" lIns="0" tIns="0" rIns="0" bIns="0" rtlCol="0" anchor="ctr"/>
          <a:lstStyle/>
          <a:p>
            <a:pPr indent="0" marL="0">
              <a:buNone/>
            </a:pPr>
            <a:r>
              <a:rPr lang="en-US" sz="1150" b="1" dirty="0">
                <a:solidFill>
                  <a:srgbClr val="7A8AA3"/>
                </a:solidFill>
                <a:latin typeface="Arial" pitchFamily="34" charset="0"/>
                <a:ea typeface="Arial" pitchFamily="34" charset="-122"/>
                <a:cs typeface="Arial" pitchFamily="34" charset="-120"/>
              </a:rPr>
              <a:t>例</a:t>
            </a:r>
            <a:endParaRPr lang="en-US" sz="1150" dirty="0"/>
          </a:p>
        </p:txBody>
      </p:sp>
      <p:sp>
        <p:nvSpPr>
          <p:cNvPr id="13" name="Text 10"/>
          <p:cNvSpPr txBox="1"/>
          <p:nvPr/>
        </p:nvSpPr>
        <p:spPr>
          <a:xfrm>
            <a:off x="960120" y="3931920"/>
            <a:ext cx="6217920" cy="1371600"/>
          </a:xfrm>
          <a:prstGeom prst="rect">
            <a:avLst/>
          </a:prstGeom>
          <a:noFill/>
          <a:ln/>
        </p:spPr>
        <p:txBody>
          <a:bodyPr wrap="square" lIns="0" tIns="0" rIns="0" bIns="0" rtlCol="0" anchor="ctr"/>
          <a:lstStyle/>
          <a:p>
            <a:pPr indent="0" marL="0">
              <a:lnSpc>
                <a:spcPts val="3000"/>
              </a:lnSpc>
              <a:buNone/>
            </a:pPr>
            <a:r>
              <a:rPr lang="en-US" sz="1800" b="1" dirty="0">
                <a:solidFill>
                  <a:srgbClr val="1E6FE8"/>
                </a:solidFill>
                <a:latin typeface="Arial" pitchFamily="34" charset="0"/>
                <a:ea typeface="Arial" pitchFamily="34" charset="-122"/>
                <a:cs typeface="Arial" pitchFamily="34" charset="-120"/>
              </a:rPr>
              <a:t>子育て中で自分のスキンケア時間がない人</a:t>
            </a:r>
            <a:pPr indent="0" marL="0">
              <a:lnSpc>
                <a:spcPts val="3000"/>
              </a:lnSpc>
              <a:buNone/>
            </a:pPr>
            <a:r>
              <a:rPr lang="en-US" sz="1800" b="1" dirty="0">
                <a:solidFill>
                  <a:srgbClr val="0E1B2C"/>
                </a:solidFill>
                <a:latin typeface="Arial" pitchFamily="34" charset="0"/>
                <a:ea typeface="Arial" pitchFamily="34" charset="-122"/>
                <a:cs typeface="Arial" pitchFamily="34" charset="-120"/>
              </a:rPr>
              <a:t>が、
</a:t>
            </a:r>
            <a:pPr indent="0" marL="0">
              <a:lnSpc>
                <a:spcPts val="3000"/>
              </a:lnSpc>
              <a:buNone/>
            </a:pPr>
            <a:r>
              <a:rPr lang="en-US" sz="1800" b="1" dirty="0">
                <a:solidFill>
                  <a:srgbClr val="1E6FE8"/>
                </a:solidFill>
                <a:latin typeface="Arial" pitchFamily="34" charset="0"/>
                <a:ea typeface="Arial" pitchFamily="34" charset="-122"/>
                <a:cs typeface="Arial" pitchFamily="34" charset="-120"/>
              </a:rPr>
              <a:t>何種類もの化粧品を使わずに</a:t>
            </a:r>
            <a:pPr indent="0" marL="0">
              <a:lnSpc>
                <a:spcPts val="3000"/>
              </a:lnSpc>
              <a:buNone/>
            </a:pPr>
            <a:r>
              <a:rPr lang="en-US" sz="1800" b="1" dirty="0">
                <a:solidFill>
                  <a:srgbClr val="0E1B2C"/>
                </a:solidFill>
                <a:latin typeface="Arial" pitchFamily="34" charset="0"/>
                <a:ea typeface="Arial" pitchFamily="34" charset="-122"/>
                <a:cs typeface="Arial" pitchFamily="34" charset="-120"/>
              </a:rPr>
              <a:t>、
</a:t>
            </a:r>
            <a:pPr indent="0" marL="0">
              <a:lnSpc>
                <a:spcPts val="3000"/>
              </a:lnSpc>
              <a:buNone/>
            </a:pPr>
            <a:r>
              <a:rPr lang="en-US" sz="1800" b="1" dirty="0">
                <a:solidFill>
                  <a:srgbClr val="1E6FE8"/>
                </a:solidFill>
                <a:latin typeface="Arial" pitchFamily="34" charset="0"/>
                <a:ea typeface="Arial" pitchFamily="34" charset="-122"/>
                <a:cs typeface="Arial" pitchFamily="34" charset="-120"/>
              </a:rPr>
              <a:t>10秒で保湿を終えられる</a:t>
            </a:r>
            <a:pPr indent="0" marL="0">
              <a:lnSpc>
                <a:spcPts val="3000"/>
              </a:lnSpc>
              <a:buNone/>
            </a:pPr>
            <a:r>
              <a:rPr lang="en-US" sz="1800" b="1" dirty="0">
                <a:solidFill>
                  <a:srgbClr val="0E1B2C"/>
                </a:solidFill>
                <a:latin typeface="Arial" pitchFamily="34" charset="0"/>
                <a:ea typeface="Arial" pitchFamily="34" charset="-122"/>
                <a:cs typeface="Arial" pitchFamily="34" charset="-120"/>
              </a:rPr>
              <a:t>商品</a:t>
            </a:r>
            <a:endParaRPr lang="en-US" sz="1800" dirty="0"/>
          </a:p>
        </p:txBody>
      </p:sp>
      <p:sp>
        <p:nvSpPr>
          <p:cNvPr id="14" name="Shape 11"/>
          <p:cNvSpPr/>
          <p:nvPr/>
        </p:nvSpPr>
        <p:spPr>
          <a:xfrm>
            <a:off x="7799832" y="3401568"/>
            <a:ext cx="3794760" cy="2148840"/>
          </a:xfrm>
          <a:prstGeom prst="roundRect">
            <a:avLst>
              <a:gd name="adj" fmla="val 3404"/>
            </a:avLst>
          </a:prstGeom>
          <a:solidFill>
            <a:srgbClr val="E8F0FC"/>
          </a:solidFill>
          <a:ln/>
        </p:spPr>
      </p:sp>
      <p:sp>
        <p:nvSpPr>
          <p:cNvPr id="15" name="Text 12"/>
          <p:cNvSpPr txBox="1"/>
          <p:nvPr/>
        </p:nvSpPr>
        <p:spPr>
          <a:xfrm>
            <a:off x="8119872" y="3611880"/>
            <a:ext cx="3154680" cy="292608"/>
          </a:xfrm>
          <a:prstGeom prst="rect">
            <a:avLst/>
          </a:prstGeom>
          <a:noFill/>
          <a:ln/>
        </p:spPr>
        <p:txBody>
          <a:bodyPr wrap="square" lIns="0" tIns="0" rIns="0" bIns="0" rtlCol="0" anchor="ctr"/>
          <a:lstStyle/>
          <a:p>
            <a:pPr indent="0" marL="0">
              <a:buNone/>
            </a:pPr>
            <a:r>
              <a:rPr lang="en-US" sz="1250" b="1" dirty="0">
                <a:solidFill>
                  <a:srgbClr val="0E1B2C"/>
                </a:solidFill>
                <a:latin typeface="Arial" pitchFamily="34" charset="0"/>
                <a:ea typeface="Arial" pitchFamily="34" charset="-122"/>
                <a:cs typeface="Arial" pitchFamily="34" charset="-120"/>
              </a:rPr>
              <a:t>チェックすること</a:t>
            </a:r>
            <a:endParaRPr lang="en-US" sz="1250" dirty="0"/>
          </a:p>
        </p:txBody>
      </p:sp>
      <p:sp>
        <p:nvSpPr>
          <p:cNvPr id="16" name="Text 13"/>
          <p:cNvSpPr txBox="1"/>
          <p:nvPr/>
        </p:nvSpPr>
        <p:spPr>
          <a:xfrm>
            <a:off x="8119872" y="4005072"/>
            <a:ext cx="3154680" cy="274320"/>
          </a:xfrm>
          <a:prstGeom prst="rect">
            <a:avLst/>
          </a:prstGeom>
          <a:noFill/>
          <a:ln/>
        </p:spPr>
        <p:txBody>
          <a:bodyPr wrap="square" lIns="0" tIns="0" rIns="0" bIns="0" rtlCol="0" anchor="ctr"/>
          <a:lstStyle/>
          <a:p>
            <a:pPr indent="0" marL="0">
              <a:buNone/>
            </a:pPr>
            <a:r>
              <a:rPr lang="en-US" sz="1200" dirty="0">
                <a:solidFill>
                  <a:srgbClr val="3A4A61"/>
                </a:solidFill>
                <a:latin typeface="Arial" pitchFamily="34" charset="0"/>
                <a:ea typeface="Arial" pitchFamily="34" charset="-122"/>
                <a:cs typeface="Arial" pitchFamily="34" charset="-120"/>
              </a:rPr>
              <a:t>この一文を読んだ対象ユーザーが</a:t>
            </a:r>
            <a:endParaRPr lang="en-US" sz="1200" dirty="0"/>
          </a:p>
        </p:txBody>
      </p:sp>
      <p:sp>
        <p:nvSpPr>
          <p:cNvPr id="17" name="Text 14"/>
          <p:cNvSpPr txBox="1"/>
          <p:nvPr/>
        </p:nvSpPr>
        <p:spPr>
          <a:xfrm>
            <a:off x="8119872" y="4297680"/>
            <a:ext cx="3154680" cy="548640"/>
          </a:xfrm>
          <a:prstGeom prst="rect">
            <a:avLst/>
          </a:prstGeom>
          <a:noFill/>
          <a:ln/>
        </p:spPr>
        <p:txBody>
          <a:bodyPr wrap="square" lIns="0" tIns="0" rIns="0" bIns="0" rtlCol="0" anchor="ctr"/>
          <a:lstStyle/>
          <a:p>
            <a:pPr indent="0" marL="0">
              <a:buNone/>
            </a:pPr>
            <a:r>
              <a:rPr lang="en-US" sz="2600" b="1" dirty="0">
                <a:solidFill>
                  <a:srgbClr val="1E6FE8"/>
                </a:solidFill>
                <a:latin typeface="Arial" pitchFamily="34" charset="0"/>
                <a:ea typeface="Arial" pitchFamily="34" charset="-122"/>
                <a:cs typeface="Arial" pitchFamily="34" charset="-120"/>
              </a:rPr>
              <a:t>「それ私だ」</a:t>
            </a:r>
            <a:endParaRPr lang="en-US" sz="2600" dirty="0"/>
          </a:p>
        </p:txBody>
      </p:sp>
      <p:sp>
        <p:nvSpPr>
          <p:cNvPr id="18" name="Text 15"/>
          <p:cNvSpPr txBox="1"/>
          <p:nvPr/>
        </p:nvSpPr>
        <p:spPr>
          <a:xfrm>
            <a:off x="8119872" y="4892040"/>
            <a:ext cx="3154680" cy="50292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と思えるか。思えないなら、まだ絞れていない。</a:t>
            </a:r>
            <a:endParaRPr lang="en-US" sz="1150" dirty="0"/>
          </a:p>
        </p:txBody>
      </p:sp>
      <p:sp>
        <p:nvSpPr>
          <p:cNvPr id="19" name="Shape 16"/>
          <p:cNvSpPr/>
          <p:nvPr/>
        </p:nvSpPr>
        <p:spPr>
          <a:xfrm>
            <a:off x="594360" y="5715000"/>
            <a:ext cx="11000232" cy="621792"/>
          </a:xfrm>
          <a:prstGeom prst="roundRect">
            <a:avLst>
              <a:gd name="adj" fmla="val 13235"/>
            </a:avLst>
          </a:prstGeom>
          <a:solidFill>
            <a:srgbClr val="E8F0FC"/>
          </a:solidFill>
          <a:ln/>
        </p:spPr>
      </p:sp>
      <p:sp>
        <p:nvSpPr>
          <p:cNvPr id="20" name="Text 17"/>
          <p:cNvSpPr txBox="1"/>
          <p:nvPr/>
        </p:nvSpPr>
        <p:spPr>
          <a:xfrm>
            <a:off x="960120" y="5715000"/>
            <a:ext cx="10268712" cy="621792"/>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逆に言えば　</a:t>
            </a:r>
            <a:pPr algn="l" indent="0" marL="0">
              <a:buNone/>
            </a:pPr>
            <a:r>
              <a:rPr lang="en-US" sz="1700" b="1" dirty="0">
                <a:solidFill>
                  <a:srgbClr val="0E1B2C"/>
                </a:solidFill>
                <a:latin typeface="Arial" pitchFamily="34" charset="0"/>
                <a:ea typeface="Arial" pitchFamily="34" charset="-122"/>
                <a:cs typeface="Arial" pitchFamily="34" charset="-120"/>
              </a:rPr>
              <a:t>この一文が書けないうちは、まだ商品を作らない。</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17</a:t>
            </a:r>
            <a:endParaRPr lang="en-US" sz="850" dirty="0"/>
          </a:p>
        </p:txBody>
      </p:sp>
      <p:sp>
        <p:nvSpPr>
          <p:cNvPr id="5" name="Text 2"/>
          <p:cNvSpPr txBox="1"/>
          <p:nvPr/>
        </p:nvSpPr>
        <p:spPr>
          <a:xfrm>
            <a:off x="594360" y="1828800"/>
            <a:ext cx="3200400" cy="1463040"/>
          </a:xfrm>
          <a:prstGeom prst="rect">
            <a:avLst/>
          </a:prstGeom>
          <a:noFill/>
          <a:ln/>
        </p:spPr>
        <p:txBody>
          <a:bodyPr wrap="square" lIns="0" tIns="0" rIns="0" bIns="0" rtlCol="0" anchor="ctr"/>
          <a:lstStyle/>
          <a:p>
            <a:pPr indent="0" marL="0">
              <a:buNone/>
            </a:pPr>
            <a:r>
              <a:rPr lang="en-US" sz="9600" b="1" dirty="0">
                <a:solidFill>
                  <a:srgbClr val="1E6FE8"/>
                </a:solidFill>
                <a:latin typeface="Arial" pitchFamily="34" charset="0"/>
                <a:ea typeface="Arial" pitchFamily="34" charset="-122"/>
                <a:cs typeface="Arial" pitchFamily="34" charset="-120"/>
              </a:rPr>
              <a:t>04</a:t>
            </a:r>
            <a:endParaRPr lang="en-US" sz="9600" dirty="0"/>
          </a:p>
        </p:txBody>
      </p:sp>
      <p:sp>
        <p:nvSpPr>
          <p:cNvPr id="6" name="Text 3"/>
          <p:cNvSpPr txBox="1"/>
          <p:nvPr/>
        </p:nvSpPr>
        <p:spPr>
          <a:xfrm>
            <a:off x="594360" y="3383280"/>
            <a:ext cx="10789920"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小さく当てて、大きく広げる</a:t>
            </a:r>
            <a:endParaRPr lang="en-US" sz="3400" dirty="0"/>
          </a:p>
        </p:txBody>
      </p:sp>
      <p:sp>
        <p:nvSpPr>
          <p:cNvPr id="7" name="Text 4"/>
          <p:cNvSpPr txBox="1"/>
          <p:nvPr/>
        </p:nvSpPr>
        <p:spPr>
          <a:xfrm>
            <a:off x="594360" y="4206240"/>
            <a:ext cx="10515600" cy="411480"/>
          </a:xfrm>
          <a:prstGeom prst="rect">
            <a:avLst/>
          </a:prstGeom>
          <a:noFill/>
          <a:ln/>
        </p:spPr>
        <p:txBody>
          <a:bodyPr wrap="square" lIns="0" tIns="0" rIns="0" bIns="0" rtlCol="0" anchor="ctr"/>
          <a:lstStyle/>
          <a:p>
            <a:pPr indent="0" marL="0">
              <a:buNone/>
            </a:pPr>
            <a:r>
              <a:rPr lang="en-US" sz="1500" dirty="0">
                <a:solidFill>
                  <a:srgbClr val="AFC6E8"/>
                </a:solidFill>
                <a:latin typeface="Arial" pitchFamily="34" charset="0"/>
                <a:ea typeface="Arial" pitchFamily="34" charset="-122"/>
                <a:cs typeface="Arial" pitchFamily="34" charset="-120"/>
              </a:rPr>
              <a:t>順番を逆にすると、失敗のコストが下がります。</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18</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VALIDATE FIRST</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商品を作る前に「欲しい」を確認する</a:t>
            </a:r>
            <a:endParaRPr lang="en-US" sz="2600" dirty="0"/>
          </a:p>
        </p:txBody>
      </p:sp>
      <p:sp>
        <p:nvSpPr>
          <p:cNvPr id="7" name="Text 4"/>
          <p:cNvSpPr txBox="1"/>
          <p:nvPr/>
        </p:nvSpPr>
        <p:spPr>
          <a:xfrm>
            <a:off x="594360" y="1481328"/>
            <a:ext cx="10972800" cy="365760"/>
          </a:xfrm>
          <a:prstGeom prst="rect">
            <a:avLst/>
          </a:prstGeom>
          <a:noFill/>
          <a:ln/>
        </p:spPr>
        <p:txBody>
          <a:bodyPr wrap="square" lIns="0" tIns="0" rIns="0" bIns="0" rtlCol="0" anchor="ctr"/>
          <a:lstStyle/>
          <a:p>
            <a:pPr indent="0" marL="0">
              <a:buNone/>
            </a:pPr>
            <a:r>
              <a:rPr lang="en-US" sz="1350" dirty="0">
                <a:solidFill>
                  <a:srgbClr val="3A4A61"/>
                </a:solidFill>
                <a:latin typeface="Arial" pitchFamily="34" charset="0"/>
                <a:ea typeface="Arial" pitchFamily="34" charset="-122"/>
                <a:cs typeface="Arial" pitchFamily="34" charset="-120"/>
              </a:rPr>
              <a:t>商品を完成させてから売れるか確認するのでは遅い。順番を逆にする。</a:t>
            </a:r>
            <a:endParaRPr lang="en-US" sz="1350" dirty="0"/>
          </a:p>
        </p:txBody>
      </p:sp>
      <p:sp>
        <p:nvSpPr>
          <p:cNvPr id="8" name="Shape 5"/>
          <p:cNvSpPr/>
          <p:nvPr/>
        </p:nvSpPr>
        <p:spPr>
          <a:xfrm>
            <a:off x="594360" y="1965960"/>
            <a:ext cx="11000232" cy="1051560"/>
          </a:xfrm>
          <a:prstGeom prst="roundRect">
            <a:avLst>
              <a:gd name="adj" fmla="val 6957"/>
            </a:avLst>
          </a:prstGeom>
          <a:solidFill>
            <a:srgbClr val="F4F6F9"/>
          </a:solidFill>
          <a:ln/>
        </p:spPr>
      </p:sp>
      <p:sp>
        <p:nvSpPr>
          <p:cNvPr id="9" name="Text 6"/>
          <p:cNvSpPr txBox="1"/>
          <p:nvPr/>
        </p:nvSpPr>
        <p:spPr>
          <a:xfrm>
            <a:off x="960120" y="2148840"/>
            <a:ext cx="2011680" cy="292608"/>
          </a:xfrm>
          <a:prstGeom prst="rect">
            <a:avLst/>
          </a:prstGeom>
          <a:noFill/>
          <a:ln/>
        </p:spPr>
        <p:txBody>
          <a:bodyPr wrap="square" lIns="0" tIns="0" rIns="0" bIns="0" rtlCol="0" anchor="ctr"/>
          <a:lstStyle/>
          <a:p>
            <a:pPr indent="0" marL="0">
              <a:buNone/>
            </a:pPr>
            <a:r>
              <a:rPr lang="en-US" sz="1200" b="1" dirty="0">
                <a:solidFill>
                  <a:srgbClr val="7A8AA3"/>
                </a:solidFill>
                <a:latin typeface="Arial" pitchFamily="34" charset="0"/>
                <a:ea typeface="Arial" pitchFamily="34" charset="-122"/>
                <a:cs typeface="Arial" pitchFamily="34" charset="-120"/>
              </a:rPr>
              <a:t>よくある順番</a:t>
            </a:r>
            <a:endParaRPr lang="en-US" sz="1200" dirty="0"/>
          </a:p>
        </p:txBody>
      </p:sp>
      <p:sp>
        <p:nvSpPr>
          <p:cNvPr id="10" name="Shape 7"/>
          <p:cNvSpPr/>
          <p:nvPr/>
        </p:nvSpPr>
        <p:spPr>
          <a:xfrm>
            <a:off x="3108960" y="2395728"/>
            <a:ext cx="1828800" cy="457200"/>
          </a:xfrm>
          <a:prstGeom prst="roundRect">
            <a:avLst>
              <a:gd name="adj" fmla="val 12000"/>
            </a:avLst>
          </a:prstGeom>
          <a:solidFill>
            <a:srgbClr val="FFFFFF"/>
          </a:solidFill>
          <a:ln/>
        </p:spPr>
      </p:sp>
      <p:sp>
        <p:nvSpPr>
          <p:cNvPr id="11" name="Text 8"/>
          <p:cNvSpPr txBox="1"/>
          <p:nvPr/>
        </p:nvSpPr>
        <p:spPr>
          <a:xfrm>
            <a:off x="3200400" y="2395728"/>
            <a:ext cx="1645920" cy="457200"/>
          </a:xfrm>
          <a:prstGeom prst="rect">
            <a:avLst/>
          </a:prstGeom>
          <a:noFill/>
          <a:ln/>
        </p:spPr>
        <p:txBody>
          <a:bodyPr wrap="square" lIns="0" tIns="0" rIns="0" bIns="0" rtlCol="0" anchor="ctr"/>
          <a:lstStyle/>
          <a:p>
            <a:pPr algn="ctr" indent="0" marL="0">
              <a:buNone/>
            </a:pPr>
            <a:r>
              <a:rPr lang="en-US" sz="1150" dirty="0">
                <a:solidFill>
                  <a:srgbClr val="7A8AA3"/>
                </a:solidFill>
                <a:latin typeface="Arial" pitchFamily="34" charset="0"/>
                <a:ea typeface="Arial" pitchFamily="34" charset="-122"/>
                <a:cs typeface="Arial" pitchFamily="34" charset="-120"/>
              </a:rPr>
              <a:t>商品を作る</a:t>
            </a:r>
            <a:endParaRPr lang="en-US" sz="1150" dirty="0"/>
          </a:p>
        </p:txBody>
      </p:sp>
      <p:sp>
        <p:nvSpPr>
          <p:cNvPr id="12" name="Shape 9"/>
          <p:cNvSpPr/>
          <p:nvPr/>
        </p:nvSpPr>
        <p:spPr>
          <a:xfrm rot="5400000">
            <a:off x="5020056" y="2563703"/>
            <a:ext cx="155448" cy="121249"/>
          </a:xfrm>
          <a:prstGeom prst="triangle">
            <a:avLst/>
          </a:prstGeom>
          <a:solidFill>
            <a:srgbClr val="A6B4C9"/>
          </a:solidFill>
          <a:ln/>
        </p:spPr>
      </p:sp>
      <p:sp>
        <p:nvSpPr>
          <p:cNvPr id="13" name="Shape 10"/>
          <p:cNvSpPr/>
          <p:nvPr/>
        </p:nvSpPr>
        <p:spPr>
          <a:xfrm>
            <a:off x="5257800" y="2395728"/>
            <a:ext cx="1828800" cy="457200"/>
          </a:xfrm>
          <a:prstGeom prst="roundRect">
            <a:avLst>
              <a:gd name="adj" fmla="val 12000"/>
            </a:avLst>
          </a:prstGeom>
          <a:solidFill>
            <a:srgbClr val="FFFFFF"/>
          </a:solidFill>
          <a:ln/>
        </p:spPr>
      </p:sp>
      <p:sp>
        <p:nvSpPr>
          <p:cNvPr id="14" name="Text 11"/>
          <p:cNvSpPr txBox="1"/>
          <p:nvPr/>
        </p:nvSpPr>
        <p:spPr>
          <a:xfrm>
            <a:off x="5349240" y="2395728"/>
            <a:ext cx="1645920" cy="457200"/>
          </a:xfrm>
          <a:prstGeom prst="rect">
            <a:avLst/>
          </a:prstGeom>
          <a:noFill/>
          <a:ln/>
        </p:spPr>
        <p:txBody>
          <a:bodyPr wrap="square" lIns="0" tIns="0" rIns="0" bIns="0" rtlCol="0" anchor="ctr"/>
          <a:lstStyle/>
          <a:p>
            <a:pPr algn="ctr" indent="0" marL="0">
              <a:buNone/>
            </a:pPr>
            <a:r>
              <a:rPr lang="en-US" sz="1150" dirty="0">
                <a:solidFill>
                  <a:srgbClr val="7A8AA3"/>
                </a:solidFill>
                <a:latin typeface="Arial" pitchFamily="34" charset="0"/>
                <a:ea typeface="Arial" pitchFamily="34" charset="-122"/>
                <a:cs typeface="Arial" pitchFamily="34" charset="-120"/>
              </a:rPr>
              <a:t>在庫を仕入れる</a:t>
            </a:r>
            <a:endParaRPr lang="en-US" sz="1150" dirty="0"/>
          </a:p>
        </p:txBody>
      </p:sp>
      <p:sp>
        <p:nvSpPr>
          <p:cNvPr id="15" name="Shape 12"/>
          <p:cNvSpPr/>
          <p:nvPr/>
        </p:nvSpPr>
        <p:spPr>
          <a:xfrm rot="5400000">
            <a:off x="7168896" y="2563703"/>
            <a:ext cx="155448" cy="121249"/>
          </a:xfrm>
          <a:prstGeom prst="triangle">
            <a:avLst/>
          </a:prstGeom>
          <a:solidFill>
            <a:srgbClr val="A6B4C9"/>
          </a:solidFill>
          <a:ln/>
        </p:spPr>
      </p:sp>
      <p:sp>
        <p:nvSpPr>
          <p:cNvPr id="16" name="Shape 13"/>
          <p:cNvSpPr/>
          <p:nvPr/>
        </p:nvSpPr>
        <p:spPr>
          <a:xfrm>
            <a:off x="7406640" y="2395728"/>
            <a:ext cx="1828800" cy="457200"/>
          </a:xfrm>
          <a:prstGeom prst="roundRect">
            <a:avLst>
              <a:gd name="adj" fmla="val 12000"/>
            </a:avLst>
          </a:prstGeom>
          <a:solidFill>
            <a:srgbClr val="FFFFFF"/>
          </a:solidFill>
          <a:ln/>
        </p:spPr>
      </p:sp>
      <p:sp>
        <p:nvSpPr>
          <p:cNvPr id="17" name="Text 14"/>
          <p:cNvSpPr txBox="1"/>
          <p:nvPr/>
        </p:nvSpPr>
        <p:spPr>
          <a:xfrm>
            <a:off x="7498080" y="2395728"/>
            <a:ext cx="1645920" cy="457200"/>
          </a:xfrm>
          <a:prstGeom prst="rect">
            <a:avLst/>
          </a:prstGeom>
          <a:noFill/>
          <a:ln/>
        </p:spPr>
        <p:txBody>
          <a:bodyPr wrap="square" lIns="0" tIns="0" rIns="0" bIns="0" rtlCol="0" anchor="ctr"/>
          <a:lstStyle/>
          <a:p>
            <a:pPr algn="ctr" indent="0" marL="0">
              <a:buNone/>
            </a:pPr>
            <a:r>
              <a:rPr lang="en-US" sz="1150" dirty="0">
                <a:solidFill>
                  <a:srgbClr val="7A8AA3"/>
                </a:solidFill>
                <a:latin typeface="Arial" pitchFamily="34" charset="0"/>
                <a:ea typeface="Arial" pitchFamily="34" charset="-122"/>
                <a:cs typeface="Arial" pitchFamily="34" charset="-120"/>
              </a:rPr>
              <a:t>広告を出す</a:t>
            </a:r>
            <a:endParaRPr lang="en-US" sz="1150" dirty="0"/>
          </a:p>
        </p:txBody>
      </p:sp>
      <p:sp>
        <p:nvSpPr>
          <p:cNvPr id="18" name="Shape 15"/>
          <p:cNvSpPr/>
          <p:nvPr/>
        </p:nvSpPr>
        <p:spPr>
          <a:xfrm rot="5400000">
            <a:off x="9317736" y="2563703"/>
            <a:ext cx="155448" cy="121249"/>
          </a:xfrm>
          <a:prstGeom prst="triangle">
            <a:avLst/>
          </a:prstGeom>
          <a:solidFill>
            <a:srgbClr val="A6B4C9"/>
          </a:solidFill>
          <a:ln/>
        </p:spPr>
      </p:sp>
      <p:sp>
        <p:nvSpPr>
          <p:cNvPr id="19" name="Shape 16"/>
          <p:cNvSpPr/>
          <p:nvPr/>
        </p:nvSpPr>
        <p:spPr>
          <a:xfrm>
            <a:off x="9555480" y="2395728"/>
            <a:ext cx="1828800" cy="457200"/>
          </a:xfrm>
          <a:prstGeom prst="roundRect">
            <a:avLst>
              <a:gd name="adj" fmla="val 12000"/>
            </a:avLst>
          </a:prstGeom>
          <a:solidFill>
            <a:srgbClr val="FFFFFF"/>
          </a:solidFill>
          <a:ln/>
        </p:spPr>
      </p:sp>
      <p:sp>
        <p:nvSpPr>
          <p:cNvPr id="20" name="Text 17"/>
          <p:cNvSpPr txBox="1"/>
          <p:nvPr/>
        </p:nvSpPr>
        <p:spPr>
          <a:xfrm>
            <a:off x="9646920" y="2395728"/>
            <a:ext cx="1645920" cy="457200"/>
          </a:xfrm>
          <a:prstGeom prst="rect">
            <a:avLst/>
          </a:prstGeom>
          <a:noFill/>
          <a:ln/>
        </p:spPr>
        <p:txBody>
          <a:bodyPr wrap="square" lIns="0" tIns="0" rIns="0" bIns="0" rtlCol="0" anchor="ctr"/>
          <a:lstStyle/>
          <a:p>
            <a:pPr algn="ctr" indent="0" marL="0">
              <a:buNone/>
            </a:pPr>
            <a:r>
              <a:rPr lang="en-US" sz="1150" dirty="0">
                <a:solidFill>
                  <a:srgbClr val="7A8AA3"/>
                </a:solidFill>
                <a:latin typeface="Arial" pitchFamily="34" charset="0"/>
                <a:ea typeface="Arial" pitchFamily="34" charset="-122"/>
                <a:cs typeface="Arial" pitchFamily="34" charset="-120"/>
              </a:rPr>
              <a:t>売れるか確認する</a:t>
            </a:r>
            <a:endParaRPr lang="en-US" sz="1150" dirty="0"/>
          </a:p>
        </p:txBody>
      </p:sp>
      <p:sp>
        <p:nvSpPr>
          <p:cNvPr id="21" name="Text 18"/>
          <p:cNvSpPr txBox="1"/>
          <p:nvPr/>
        </p:nvSpPr>
        <p:spPr>
          <a:xfrm>
            <a:off x="960120" y="2450592"/>
            <a:ext cx="2011680" cy="457200"/>
          </a:xfrm>
          <a:prstGeom prst="rect">
            <a:avLst/>
          </a:prstGeom>
          <a:noFill/>
          <a:ln/>
        </p:spPr>
        <p:txBody>
          <a:bodyPr wrap="square" lIns="0" tIns="0" rIns="0" bIns="0" rtlCol="0" anchor="t"/>
          <a:lstStyle/>
          <a:p>
            <a:pPr indent="0" marL="0">
              <a:lnSpc>
                <a:spcPts val="1400"/>
              </a:lnSpc>
              <a:buNone/>
            </a:pPr>
            <a:r>
              <a:rPr lang="en-US" sz="1000" dirty="0">
                <a:solidFill>
                  <a:srgbClr val="BF0000"/>
                </a:solidFill>
                <a:latin typeface="Arial" pitchFamily="34" charset="0"/>
                <a:ea typeface="Arial" pitchFamily="34" charset="-122"/>
                <a:cs typeface="Arial" pitchFamily="34" charset="-120"/>
              </a:rPr>
              <a:t>失敗が分かるのが最後。</a:t>
            </a:r>
            <a:endParaRPr lang="en-US" sz="1000" dirty="0"/>
          </a:p>
          <a:p>
            <a:pPr indent="0" marL="0">
              <a:lnSpc>
                <a:spcPts val="1400"/>
              </a:lnSpc>
              <a:buNone/>
            </a:pPr>
            <a:r>
              <a:rPr lang="en-US" sz="1000" dirty="0">
                <a:solidFill>
                  <a:srgbClr val="BF0000"/>
                </a:solidFill>
                <a:latin typeface="Arial" pitchFamily="34" charset="0"/>
                <a:ea typeface="Arial" pitchFamily="34" charset="-122"/>
                <a:cs typeface="Arial" pitchFamily="34" charset="-120"/>
              </a:rPr>
              <a:t>損失が最大になる。</a:t>
            </a:r>
            <a:endParaRPr lang="en-US" sz="1000" dirty="0"/>
          </a:p>
        </p:txBody>
      </p:sp>
      <p:sp>
        <p:nvSpPr>
          <p:cNvPr id="22" name="Shape 19"/>
          <p:cNvSpPr/>
          <p:nvPr/>
        </p:nvSpPr>
        <p:spPr>
          <a:xfrm>
            <a:off x="594360" y="3246120"/>
            <a:ext cx="11000232" cy="1874520"/>
          </a:xfrm>
          <a:prstGeom prst="roundRect">
            <a:avLst>
              <a:gd name="adj" fmla="val 3902"/>
            </a:avLst>
          </a:prstGeom>
          <a:solidFill>
            <a:srgbClr val="E8F0FC"/>
          </a:solidFill>
          <a:ln/>
        </p:spPr>
      </p:sp>
      <p:sp>
        <p:nvSpPr>
          <p:cNvPr id="23" name="Text 20"/>
          <p:cNvSpPr txBox="1"/>
          <p:nvPr/>
        </p:nvSpPr>
        <p:spPr>
          <a:xfrm>
            <a:off x="960120" y="3456432"/>
            <a:ext cx="2194560" cy="292608"/>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推奨する順番</a:t>
            </a:r>
            <a:endParaRPr lang="en-US" sz="1250" dirty="0"/>
          </a:p>
        </p:txBody>
      </p:sp>
      <p:sp>
        <p:nvSpPr>
          <p:cNvPr id="24" name="Shape 21"/>
          <p:cNvSpPr/>
          <p:nvPr/>
        </p:nvSpPr>
        <p:spPr>
          <a:xfrm>
            <a:off x="960120" y="3886200"/>
            <a:ext cx="1298448" cy="868680"/>
          </a:xfrm>
          <a:prstGeom prst="roundRect">
            <a:avLst>
              <a:gd name="adj" fmla="val 6316"/>
            </a:avLst>
          </a:prstGeom>
          <a:solidFill>
            <a:srgbClr val="FFFFFF"/>
          </a:solidFill>
          <a:ln/>
        </p:spPr>
      </p:sp>
      <p:sp>
        <p:nvSpPr>
          <p:cNvPr id="25" name="Text 22"/>
          <p:cNvSpPr txBox="1"/>
          <p:nvPr/>
        </p:nvSpPr>
        <p:spPr>
          <a:xfrm>
            <a:off x="1033272" y="3886200"/>
            <a:ext cx="1152144" cy="868680"/>
          </a:xfrm>
          <a:prstGeom prst="rect">
            <a:avLst/>
          </a:prstGeom>
          <a:noFill/>
          <a:ln/>
        </p:spPr>
        <p:txBody>
          <a:bodyPr wrap="square" lIns="0" tIns="0" rIns="0" bIns="0" rtlCol="0" anchor="ctr"/>
          <a:lstStyle/>
          <a:p>
            <a:pPr algn="ctr" indent="0" marL="0">
              <a:lnSpc>
                <a:spcPts val="1500"/>
              </a:lnSpc>
              <a:buNone/>
            </a:pPr>
            <a:r>
              <a:rPr lang="en-US" sz="1100" dirty="0">
                <a:solidFill>
                  <a:srgbClr val="0E1B2C"/>
                </a:solidFill>
                <a:latin typeface="Arial" pitchFamily="34" charset="0"/>
                <a:ea typeface="Arial" pitchFamily="34" charset="-122"/>
                <a:cs typeface="Arial" pitchFamily="34" charset="-120"/>
              </a:rPr>
              <a:t>課題を発見</a:t>
            </a:r>
            <a:endParaRPr lang="en-US" sz="1100" dirty="0"/>
          </a:p>
        </p:txBody>
      </p:sp>
      <p:sp>
        <p:nvSpPr>
          <p:cNvPr id="26" name="Shape 23"/>
          <p:cNvSpPr/>
          <p:nvPr/>
        </p:nvSpPr>
        <p:spPr>
          <a:xfrm rot="5400000">
            <a:off x="2272284" y="4259915"/>
            <a:ext cx="155448" cy="121249"/>
          </a:xfrm>
          <a:prstGeom prst="triangle">
            <a:avLst/>
          </a:prstGeom>
          <a:solidFill>
            <a:srgbClr val="1E6FE8"/>
          </a:solidFill>
          <a:ln/>
        </p:spPr>
      </p:sp>
      <p:sp>
        <p:nvSpPr>
          <p:cNvPr id="27" name="Shape 24"/>
          <p:cNvSpPr/>
          <p:nvPr/>
        </p:nvSpPr>
        <p:spPr>
          <a:xfrm>
            <a:off x="2441448" y="3886200"/>
            <a:ext cx="1298448" cy="868680"/>
          </a:xfrm>
          <a:prstGeom prst="roundRect">
            <a:avLst>
              <a:gd name="adj" fmla="val 6316"/>
            </a:avLst>
          </a:prstGeom>
          <a:solidFill>
            <a:srgbClr val="FFFFFF"/>
          </a:solidFill>
          <a:ln/>
        </p:spPr>
      </p:sp>
      <p:sp>
        <p:nvSpPr>
          <p:cNvPr id="28" name="Text 25"/>
          <p:cNvSpPr txBox="1"/>
          <p:nvPr/>
        </p:nvSpPr>
        <p:spPr>
          <a:xfrm>
            <a:off x="2514600" y="3886200"/>
            <a:ext cx="1152144" cy="868680"/>
          </a:xfrm>
          <a:prstGeom prst="rect">
            <a:avLst/>
          </a:prstGeom>
          <a:noFill/>
          <a:ln/>
        </p:spPr>
        <p:txBody>
          <a:bodyPr wrap="square" lIns="0" tIns="0" rIns="0" bIns="0" rtlCol="0" anchor="ctr"/>
          <a:lstStyle/>
          <a:p>
            <a:pPr algn="ctr" indent="0" marL="0">
              <a:lnSpc>
                <a:spcPts val="1500"/>
              </a:lnSpc>
              <a:buNone/>
            </a:pPr>
            <a:r>
              <a:rPr lang="en-US" sz="1100" dirty="0">
                <a:solidFill>
                  <a:srgbClr val="0E1B2C"/>
                </a:solidFill>
                <a:latin typeface="Arial" pitchFamily="34" charset="0"/>
                <a:ea typeface="Arial" pitchFamily="34" charset="-122"/>
                <a:cs typeface="Arial" pitchFamily="34" charset="-120"/>
              </a:rPr>
              <a:t>コンセプトを作る</a:t>
            </a:r>
            <a:endParaRPr lang="en-US" sz="1100" dirty="0"/>
          </a:p>
        </p:txBody>
      </p:sp>
      <p:sp>
        <p:nvSpPr>
          <p:cNvPr id="29" name="Shape 26"/>
          <p:cNvSpPr/>
          <p:nvPr/>
        </p:nvSpPr>
        <p:spPr>
          <a:xfrm rot="5400000">
            <a:off x="3753612" y="4259915"/>
            <a:ext cx="155448" cy="121249"/>
          </a:xfrm>
          <a:prstGeom prst="triangle">
            <a:avLst/>
          </a:prstGeom>
          <a:solidFill>
            <a:srgbClr val="1E6FE8"/>
          </a:solidFill>
          <a:ln/>
        </p:spPr>
      </p:sp>
      <p:sp>
        <p:nvSpPr>
          <p:cNvPr id="30" name="Shape 27"/>
          <p:cNvSpPr/>
          <p:nvPr/>
        </p:nvSpPr>
        <p:spPr>
          <a:xfrm>
            <a:off x="3922776" y="3886200"/>
            <a:ext cx="1298448" cy="868680"/>
          </a:xfrm>
          <a:prstGeom prst="roundRect">
            <a:avLst>
              <a:gd name="adj" fmla="val 6316"/>
            </a:avLst>
          </a:prstGeom>
          <a:solidFill>
            <a:srgbClr val="FFFFFF"/>
          </a:solidFill>
          <a:ln/>
        </p:spPr>
      </p:sp>
      <p:sp>
        <p:nvSpPr>
          <p:cNvPr id="31" name="Text 28"/>
          <p:cNvSpPr txBox="1"/>
          <p:nvPr/>
        </p:nvSpPr>
        <p:spPr>
          <a:xfrm>
            <a:off x="3995928" y="3886200"/>
            <a:ext cx="1152144" cy="868680"/>
          </a:xfrm>
          <a:prstGeom prst="rect">
            <a:avLst/>
          </a:prstGeom>
          <a:noFill/>
          <a:ln/>
        </p:spPr>
        <p:txBody>
          <a:bodyPr wrap="square" lIns="0" tIns="0" rIns="0" bIns="0" rtlCol="0" anchor="ctr"/>
          <a:lstStyle/>
          <a:p>
            <a:pPr algn="ctr" indent="0" marL="0">
              <a:lnSpc>
                <a:spcPts val="1500"/>
              </a:lnSpc>
              <a:buNone/>
            </a:pPr>
            <a:r>
              <a:rPr lang="en-US" sz="1100" dirty="0">
                <a:solidFill>
                  <a:srgbClr val="0E1B2C"/>
                </a:solidFill>
                <a:latin typeface="Arial" pitchFamily="34" charset="0"/>
                <a:ea typeface="Arial" pitchFamily="34" charset="-122"/>
                <a:cs typeface="Arial" pitchFamily="34" charset="-120"/>
              </a:rPr>
              <a:t>LP・画像・広告を作る</a:t>
            </a:r>
            <a:endParaRPr lang="en-US" sz="1100" dirty="0"/>
          </a:p>
        </p:txBody>
      </p:sp>
      <p:sp>
        <p:nvSpPr>
          <p:cNvPr id="32" name="Shape 29"/>
          <p:cNvSpPr/>
          <p:nvPr/>
        </p:nvSpPr>
        <p:spPr>
          <a:xfrm rot="5400000">
            <a:off x="5234940" y="4259915"/>
            <a:ext cx="155448" cy="121249"/>
          </a:xfrm>
          <a:prstGeom prst="triangle">
            <a:avLst/>
          </a:prstGeom>
          <a:solidFill>
            <a:srgbClr val="1E6FE8"/>
          </a:solidFill>
          <a:ln/>
        </p:spPr>
      </p:sp>
      <p:sp>
        <p:nvSpPr>
          <p:cNvPr id="33" name="Shape 30"/>
          <p:cNvSpPr/>
          <p:nvPr/>
        </p:nvSpPr>
        <p:spPr>
          <a:xfrm>
            <a:off x="5404104" y="3886200"/>
            <a:ext cx="1298448" cy="868680"/>
          </a:xfrm>
          <a:prstGeom prst="roundRect">
            <a:avLst>
              <a:gd name="adj" fmla="val 6316"/>
            </a:avLst>
          </a:prstGeom>
          <a:solidFill>
            <a:srgbClr val="FFFFFF"/>
          </a:solidFill>
          <a:ln/>
        </p:spPr>
      </p:sp>
      <p:sp>
        <p:nvSpPr>
          <p:cNvPr id="34" name="Text 31"/>
          <p:cNvSpPr txBox="1"/>
          <p:nvPr/>
        </p:nvSpPr>
        <p:spPr>
          <a:xfrm>
            <a:off x="5477256" y="3886200"/>
            <a:ext cx="1152144" cy="868680"/>
          </a:xfrm>
          <a:prstGeom prst="rect">
            <a:avLst/>
          </a:prstGeom>
          <a:noFill/>
          <a:ln/>
        </p:spPr>
        <p:txBody>
          <a:bodyPr wrap="square" lIns="0" tIns="0" rIns="0" bIns="0" rtlCol="0" anchor="ctr"/>
          <a:lstStyle/>
          <a:p>
            <a:pPr algn="ctr" indent="0" marL="0">
              <a:lnSpc>
                <a:spcPts val="1500"/>
              </a:lnSpc>
              <a:buNone/>
            </a:pPr>
            <a:r>
              <a:rPr lang="en-US" sz="1100" dirty="0">
                <a:solidFill>
                  <a:srgbClr val="0E1B2C"/>
                </a:solidFill>
                <a:latin typeface="Arial" pitchFamily="34" charset="0"/>
                <a:ea typeface="Arial" pitchFamily="34" charset="-122"/>
                <a:cs typeface="Arial" pitchFamily="34" charset="-120"/>
              </a:rPr>
              <a:t>ユーザーに見せる</a:t>
            </a:r>
            <a:endParaRPr lang="en-US" sz="1100" dirty="0"/>
          </a:p>
        </p:txBody>
      </p:sp>
      <p:sp>
        <p:nvSpPr>
          <p:cNvPr id="35" name="Shape 32"/>
          <p:cNvSpPr/>
          <p:nvPr/>
        </p:nvSpPr>
        <p:spPr>
          <a:xfrm rot="5400000">
            <a:off x="6716268" y="4259915"/>
            <a:ext cx="155448" cy="121249"/>
          </a:xfrm>
          <a:prstGeom prst="triangle">
            <a:avLst/>
          </a:prstGeom>
          <a:solidFill>
            <a:srgbClr val="1E6FE8"/>
          </a:solidFill>
          <a:ln/>
        </p:spPr>
      </p:sp>
      <p:sp>
        <p:nvSpPr>
          <p:cNvPr id="36" name="Shape 33"/>
          <p:cNvSpPr/>
          <p:nvPr/>
        </p:nvSpPr>
        <p:spPr>
          <a:xfrm>
            <a:off x="6885432" y="3886200"/>
            <a:ext cx="1298448" cy="868680"/>
          </a:xfrm>
          <a:prstGeom prst="roundRect">
            <a:avLst>
              <a:gd name="adj" fmla="val 6316"/>
            </a:avLst>
          </a:prstGeom>
          <a:solidFill>
            <a:srgbClr val="FFFFFF"/>
          </a:solidFill>
          <a:ln/>
        </p:spPr>
      </p:sp>
      <p:sp>
        <p:nvSpPr>
          <p:cNvPr id="37" name="Text 34"/>
          <p:cNvSpPr txBox="1"/>
          <p:nvPr/>
        </p:nvSpPr>
        <p:spPr>
          <a:xfrm>
            <a:off x="6958584" y="3886200"/>
            <a:ext cx="1152144" cy="868680"/>
          </a:xfrm>
          <a:prstGeom prst="rect">
            <a:avLst/>
          </a:prstGeom>
          <a:noFill/>
          <a:ln/>
        </p:spPr>
        <p:txBody>
          <a:bodyPr wrap="square" lIns="0" tIns="0" rIns="0" bIns="0" rtlCol="0" anchor="ctr"/>
          <a:lstStyle/>
          <a:p>
            <a:pPr algn="ctr" indent="0" marL="0">
              <a:lnSpc>
                <a:spcPts val="1500"/>
              </a:lnSpc>
              <a:buNone/>
            </a:pPr>
            <a:r>
              <a:rPr lang="en-US" sz="1100" dirty="0">
                <a:solidFill>
                  <a:srgbClr val="0E1B2C"/>
                </a:solidFill>
                <a:latin typeface="Arial" pitchFamily="34" charset="0"/>
                <a:ea typeface="Arial" pitchFamily="34" charset="-122"/>
                <a:cs typeface="Arial" pitchFamily="34" charset="-120"/>
              </a:rPr>
              <a:t>反応を見る</a:t>
            </a:r>
            <a:endParaRPr lang="en-US" sz="1100" dirty="0"/>
          </a:p>
        </p:txBody>
      </p:sp>
      <p:sp>
        <p:nvSpPr>
          <p:cNvPr id="38" name="Shape 35"/>
          <p:cNvSpPr/>
          <p:nvPr/>
        </p:nvSpPr>
        <p:spPr>
          <a:xfrm rot="5400000">
            <a:off x="8197596" y="4259915"/>
            <a:ext cx="155448" cy="121249"/>
          </a:xfrm>
          <a:prstGeom prst="triangle">
            <a:avLst/>
          </a:prstGeom>
          <a:solidFill>
            <a:srgbClr val="1E6FE8"/>
          </a:solidFill>
          <a:ln/>
        </p:spPr>
      </p:sp>
      <p:sp>
        <p:nvSpPr>
          <p:cNvPr id="39" name="Shape 36"/>
          <p:cNvSpPr/>
          <p:nvPr/>
        </p:nvSpPr>
        <p:spPr>
          <a:xfrm>
            <a:off x="8366760" y="3886200"/>
            <a:ext cx="1298448" cy="868680"/>
          </a:xfrm>
          <a:prstGeom prst="roundRect">
            <a:avLst>
              <a:gd name="adj" fmla="val 6316"/>
            </a:avLst>
          </a:prstGeom>
          <a:solidFill>
            <a:srgbClr val="FFFFFF"/>
          </a:solidFill>
          <a:ln/>
        </p:spPr>
      </p:sp>
      <p:sp>
        <p:nvSpPr>
          <p:cNvPr id="40" name="Text 37"/>
          <p:cNvSpPr txBox="1"/>
          <p:nvPr/>
        </p:nvSpPr>
        <p:spPr>
          <a:xfrm>
            <a:off x="8439912" y="3886200"/>
            <a:ext cx="1152144" cy="868680"/>
          </a:xfrm>
          <a:prstGeom prst="rect">
            <a:avLst/>
          </a:prstGeom>
          <a:noFill/>
          <a:ln/>
        </p:spPr>
        <p:txBody>
          <a:bodyPr wrap="square" lIns="0" tIns="0" rIns="0" bIns="0" rtlCol="0" anchor="ctr"/>
          <a:lstStyle/>
          <a:p>
            <a:pPr algn="ctr" indent="0" marL="0">
              <a:lnSpc>
                <a:spcPts val="1500"/>
              </a:lnSpc>
              <a:buNone/>
            </a:pPr>
            <a:r>
              <a:rPr lang="en-US" sz="1100" dirty="0">
                <a:solidFill>
                  <a:srgbClr val="0E1B2C"/>
                </a:solidFill>
                <a:latin typeface="Arial" pitchFamily="34" charset="0"/>
                <a:ea typeface="Arial" pitchFamily="34" charset="-122"/>
                <a:cs typeface="Arial" pitchFamily="34" charset="-120"/>
              </a:rPr>
              <a:t>商品を改善</a:t>
            </a:r>
            <a:endParaRPr lang="en-US" sz="1100" dirty="0"/>
          </a:p>
        </p:txBody>
      </p:sp>
      <p:sp>
        <p:nvSpPr>
          <p:cNvPr id="41" name="Shape 38"/>
          <p:cNvSpPr/>
          <p:nvPr/>
        </p:nvSpPr>
        <p:spPr>
          <a:xfrm rot="5400000">
            <a:off x="9678924" y="4259915"/>
            <a:ext cx="155448" cy="121249"/>
          </a:xfrm>
          <a:prstGeom prst="triangle">
            <a:avLst/>
          </a:prstGeom>
          <a:solidFill>
            <a:srgbClr val="1E6FE8"/>
          </a:solidFill>
          <a:ln/>
        </p:spPr>
      </p:sp>
      <p:sp>
        <p:nvSpPr>
          <p:cNvPr id="42" name="Shape 39"/>
          <p:cNvSpPr/>
          <p:nvPr/>
        </p:nvSpPr>
        <p:spPr>
          <a:xfrm>
            <a:off x="9848088" y="3886200"/>
            <a:ext cx="1298448" cy="868680"/>
          </a:xfrm>
          <a:prstGeom prst="roundRect">
            <a:avLst>
              <a:gd name="adj" fmla="val 6316"/>
            </a:avLst>
          </a:prstGeom>
          <a:solidFill>
            <a:srgbClr val="1E6FE8"/>
          </a:solidFill>
          <a:ln/>
        </p:spPr>
      </p:sp>
      <p:sp>
        <p:nvSpPr>
          <p:cNvPr id="43" name="Text 40"/>
          <p:cNvSpPr txBox="1"/>
          <p:nvPr/>
        </p:nvSpPr>
        <p:spPr>
          <a:xfrm>
            <a:off x="9921240" y="3886200"/>
            <a:ext cx="1152144" cy="868680"/>
          </a:xfrm>
          <a:prstGeom prst="rect">
            <a:avLst/>
          </a:prstGeom>
          <a:noFill/>
          <a:ln/>
        </p:spPr>
        <p:txBody>
          <a:bodyPr wrap="square" lIns="0" tIns="0" rIns="0" bIns="0" rtlCol="0" anchor="ctr"/>
          <a:lstStyle/>
          <a:p>
            <a:pPr algn="ctr" indent="0" marL="0">
              <a:lnSpc>
                <a:spcPts val="1500"/>
              </a:lnSpc>
              <a:buNone/>
            </a:pPr>
            <a:r>
              <a:rPr lang="en-US" sz="1100" b="1" dirty="0">
                <a:solidFill>
                  <a:srgbClr val="FFFFFF"/>
                </a:solidFill>
                <a:latin typeface="Arial" pitchFamily="34" charset="0"/>
                <a:ea typeface="Arial" pitchFamily="34" charset="-122"/>
                <a:cs typeface="Arial" pitchFamily="34" charset="-120"/>
              </a:rPr>
              <a:t>本格投入</a:t>
            </a:r>
            <a:endParaRPr lang="en-US" sz="1100" dirty="0"/>
          </a:p>
        </p:txBody>
      </p:sp>
      <p:sp>
        <p:nvSpPr>
          <p:cNvPr id="44" name="Shape 41"/>
          <p:cNvSpPr/>
          <p:nvPr/>
        </p:nvSpPr>
        <p:spPr>
          <a:xfrm>
            <a:off x="594360" y="5285232"/>
            <a:ext cx="11000232" cy="896112"/>
          </a:xfrm>
          <a:prstGeom prst="roundRect">
            <a:avLst>
              <a:gd name="adj" fmla="val 9184"/>
            </a:avLst>
          </a:prstGeom>
          <a:solidFill>
            <a:srgbClr val="E8F0FC"/>
          </a:solidFill>
          <a:ln/>
        </p:spPr>
      </p:sp>
      <p:sp>
        <p:nvSpPr>
          <p:cNvPr id="45" name="Text 42"/>
          <p:cNvSpPr txBox="1"/>
          <p:nvPr/>
        </p:nvSpPr>
        <p:spPr>
          <a:xfrm>
            <a:off x="960120" y="5285232"/>
            <a:ext cx="10268712" cy="896112"/>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つまり　</a:t>
            </a:r>
            <a:pPr algn="l" indent="0" marL="0">
              <a:buNone/>
            </a:pPr>
            <a:r>
              <a:rPr lang="en-US" sz="1700" b="1" dirty="0">
                <a:solidFill>
                  <a:srgbClr val="0E1B2C"/>
                </a:solidFill>
                <a:latin typeface="Arial" pitchFamily="34" charset="0"/>
                <a:ea typeface="Arial" pitchFamily="34" charset="-122"/>
                <a:cs typeface="Arial" pitchFamily="34" charset="-120"/>
              </a:rPr>
              <a:t>商品を作ってからマーケティングするのではなく、マーケティングしながら商品を作る。</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19</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FUNNEL</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マーケティングファネルも、逆から設計する</a:t>
            </a:r>
            <a:endParaRPr lang="en-US" sz="2600" dirty="0"/>
          </a:p>
        </p:txBody>
      </p:sp>
      <p:sp>
        <p:nvSpPr>
          <p:cNvPr id="7" name="Shape 4"/>
          <p:cNvSpPr/>
          <p:nvPr/>
        </p:nvSpPr>
        <p:spPr>
          <a:xfrm>
            <a:off x="594360" y="1554480"/>
            <a:ext cx="5349240" cy="3931920"/>
          </a:xfrm>
          <a:prstGeom prst="roundRect">
            <a:avLst>
              <a:gd name="adj" fmla="val 1860"/>
            </a:avLst>
          </a:prstGeom>
          <a:solidFill>
            <a:srgbClr val="F2F6FD"/>
          </a:solidFill>
          <a:ln/>
        </p:spPr>
      </p:sp>
      <p:sp>
        <p:nvSpPr>
          <p:cNvPr id="8" name="Text 5"/>
          <p:cNvSpPr txBox="1"/>
          <p:nvPr/>
        </p:nvSpPr>
        <p:spPr>
          <a:xfrm>
            <a:off x="960120" y="1737360"/>
            <a:ext cx="3108960" cy="347472"/>
          </a:xfrm>
          <a:prstGeom prst="rect">
            <a:avLst/>
          </a:prstGeom>
          <a:noFill/>
          <a:ln/>
        </p:spPr>
        <p:txBody>
          <a:bodyPr wrap="square" lIns="0" tIns="0" rIns="0" bIns="0" rtlCol="0" anchor="ctr"/>
          <a:lstStyle/>
          <a:p>
            <a:pPr indent="0" marL="0">
              <a:buNone/>
            </a:pPr>
            <a:r>
              <a:rPr lang="en-US" sz="1600" b="1" dirty="0">
                <a:solidFill>
                  <a:srgbClr val="7A8AA3"/>
                </a:solidFill>
                <a:latin typeface="Arial" pitchFamily="34" charset="0"/>
                <a:ea typeface="Arial" pitchFamily="34" charset="-122"/>
                <a:cs typeface="Arial" pitchFamily="34" charset="-120"/>
              </a:rPr>
              <a:t>通常のファネル</a:t>
            </a:r>
            <a:endParaRPr lang="en-US" sz="1600" dirty="0"/>
          </a:p>
        </p:txBody>
      </p:sp>
      <p:sp>
        <p:nvSpPr>
          <p:cNvPr id="9" name="Text 6"/>
          <p:cNvSpPr txBox="1"/>
          <p:nvPr/>
        </p:nvSpPr>
        <p:spPr>
          <a:xfrm>
            <a:off x="960120" y="2066544"/>
            <a:ext cx="3108960" cy="274320"/>
          </a:xfrm>
          <a:prstGeom prst="rect">
            <a:avLst/>
          </a:prstGeom>
          <a:noFill/>
          <a:ln/>
        </p:spPr>
        <p:txBody>
          <a:bodyPr wrap="square" lIns="0" tIns="0" rIns="0" bIns="0" rtlCol="0" anchor="ctr"/>
          <a:lstStyle/>
          <a:p>
            <a:pPr indent="0" marL="0">
              <a:buNone/>
            </a:pPr>
            <a:r>
              <a:rPr lang="en-US" sz="1100" dirty="0">
                <a:solidFill>
                  <a:srgbClr val="7A8AA3"/>
                </a:solidFill>
                <a:latin typeface="Arial" pitchFamily="34" charset="0"/>
                <a:ea typeface="Arial" pitchFamily="34" charset="-122"/>
                <a:cs typeface="Arial" pitchFamily="34" charset="-120"/>
              </a:rPr>
              <a:t>上から下へ考える</a:t>
            </a:r>
            <a:endParaRPr lang="en-US" sz="1100" dirty="0"/>
          </a:p>
        </p:txBody>
      </p:sp>
      <p:sp>
        <p:nvSpPr>
          <p:cNvPr id="10" name="Shape 7"/>
          <p:cNvSpPr/>
          <p:nvPr/>
        </p:nvSpPr>
        <p:spPr>
          <a:xfrm>
            <a:off x="1005840" y="2450592"/>
            <a:ext cx="4297680" cy="420624"/>
          </a:xfrm>
          <a:prstGeom prst="roundRect">
            <a:avLst>
              <a:gd name="adj" fmla="val 10870"/>
            </a:avLst>
          </a:prstGeom>
          <a:solidFill>
            <a:srgbClr val="DDE6F5"/>
          </a:solidFill>
          <a:ln/>
        </p:spPr>
      </p:sp>
      <p:sp>
        <p:nvSpPr>
          <p:cNvPr id="11" name="Text 8"/>
          <p:cNvSpPr txBox="1"/>
          <p:nvPr/>
        </p:nvSpPr>
        <p:spPr>
          <a:xfrm>
            <a:off x="1005840" y="2450592"/>
            <a:ext cx="4297680" cy="420624"/>
          </a:xfrm>
          <a:prstGeom prst="rect">
            <a:avLst/>
          </a:prstGeom>
          <a:noFill/>
          <a:ln/>
        </p:spPr>
        <p:txBody>
          <a:bodyPr wrap="square" lIns="0" tIns="0" rIns="0" bIns="0" rtlCol="0" anchor="ctr"/>
          <a:lstStyle/>
          <a:p>
            <a:pPr algn="ctr" indent="0" marL="0">
              <a:buNone/>
            </a:pPr>
            <a:r>
              <a:rPr lang="en-US" sz="1400" b="1" dirty="0">
                <a:solidFill>
                  <a:srgbClr val="3A4A61"/>
                </a:solidFill>
                <a:latin typeface="Arial" pitchFamily="34" charset="0"/>
                <a:ea typeface="Arial" pitchFamily="34" charset="-122"/>
                <a:cs typeface="Arial" pitchFamily="34" charset="-120"/>
              </a:rPr>
              <a:t>認知</a:t>
            </a:r>
            <a:endParaRPr lang="en-US" sz="1400" dirty="0"/>
          </a:p>
        </p:txBody>
      </p:sp>
      <p:sp>
        <p:nvSpPr>
          <p:cNvPr id="12" name="Text 9"/>
          <p:cNvSpPr txBox="1"/>
          <p:nvPr/>
        </p:nvSpPr>
        <p:spPr>
          <a:xfrm>
            <a:off x="914400" y="2450592"/>
            <a:ext cx="320040" cy="420624"/>
          </a:xfrm>
          <a:prstGeom prst="rect">
            <a:avLst/>
          </a:prstGeom>
          <a:noFill/>
          <a:ln/>
        </p:spPr>
        <p:txBody>
          <a:bodyPr wrap="square" lIns="0" tIns="0" rIns="0" bIns="0" rtlCol="0" anchor="ctr"/>
          <a:lstStyle/>
          <a:p>
            <a:pPr algn="ctr" indent="0" marL="0">
              <a:buNone/>
            </a:pPr>
            <a:r>
              <a:rPr lang="en-US" sz="1200" b="1" dirty="0">
                <a:solidFill>
                  <a:srgbClr val="7A8AA3"/>
                </a:solidFill>
                <a:latin typeface="Arial" pitchFamily="34" charset="0"/>
                <a:ea typeface="Arial" pitchFamily="34" charset="-122"/>
                <a:cs typeface="Arial" pitchFamily="34" charset="-120"/>
              </a:rPr>
              <a:t>1</a:t>
            </a:r>
            <a:endParaRPr lang="en-US" sz="1200" dirty="0"/>
          </a:p>
        </p:txBody>
      </p:sp>
      <p:sp>
        <p:nvSpPr>
          <p:cNvPr id="13" name="Shape 10"/>
          <p:cNvSpPr/>
          <p:nvPr/>
        </p:nvSpPr>
        <p:spPr>
          <a:xfrm>
            <a:off x="1280160" y="3026664"/>
            <a:ext cx="3749040" cy="420624"/>
          </a:xfrm>
          <a:prstGeom prst="roundRect">
            <a:avLst>
              <a:gd name="adj" fmla="val 10870"/>
            </a:avLst>
          </a:prstGeom>
          <a:solidFill>
            <a:srgbClr val="DDE6F5"/>
          </a:solidFill>
          <a:ln/>
        </p:spPr>
      </p:sp>
      <p:sp>
        <p:nvSpPr>
          <p:cNvPr id="14" name="Text 11"/>
          <p:cNvSpPr txBox="1"/>
          <p:nvPr/>
        </p:nvSpPr>
        <p:spPr>
          <a:xfrm>
            <a:off x="1280160" y="3026664"/>
            <a:ext cx="3749040" cy="420624"/>
          </a:xfrm>
          <a:prstGeom prst="rect">
            <a:avLst/>
          </a:prstGeom>
          <a:noFill/>
          <a:ln/>
        </p:spPr>
        <p:txBody>
          <a:bodyPr wrap="square" lIns="0" tIns="0" rIns="0" bIns="0" rtlCol="0" anchor="ctr"/>
          <a:lstStyle/>
          <a:p>
            <a:pPr algn="ctr" indent="0" marL="0">
              <a:buNone/>
            </a:pPr>
            <a:r>
              <a:rPr lang="en-US" sz="1400" b="1" dirty="0">
                <a:solidFill>
                  <a:srgbClr val="3A4A61"/>
                </a:solidFill>
                <a:latin typeface="Arial" pitchFamily="34" charset="0"/>
                <a:ea typeface="Arial" pitchFamily="34" charset="-122"/>
                <a:cs typeface="Arial" pitchFamily="34" charset="-120"/>
              </a:rPr>
              <a:t>興味</a:t>
            </a:r>
            <a:endParaRPr lang="en-US" sz="1400" dirty="0"/>
          </a:p>
        </p:txBody>
      </p:sp>
      <p:sp>
        <p:nvSpPr>
          <p:cNvPr id="15" name="Text 12"/>
          <p:cNvSpPr txBox="1"/>
          <p:nvPr/>
        </p:nvSpPr>
        <p:spPr>
          <a:xfrm>
            <a:off x="914400" y="3026664"/>
            <a:ext cx="320040" cy="420624"/>
          </a:xfrm>
          <a:prstGeom prst="rect">
            <a:avLst/>
          </a:prstGeom>
          <a:noFill/>
          <a:ln/>
        </p:spPr>
        <p:txBody>
          <a:bodyPr wrap="square" lIns="0" tIns="0" rIns="0" bIns="0" rtlCol="0" anchor="ctr"/>
          <a:lstStyle/>
          <a:p>
            <a:pPr algn="ctr" indent="0" marL="0">
              <a:buNone/>
            </a:pPr>
            <a:r>
              <a:rPr lang="en-US" sz="1200" b="1" dirty="0">
                <a:solidFill>
                  <a:srgbClr val="7A8AA3"/>
                </a:solidFill>
                <a:latin typeface="Arial" pitchFamily="34" charset="0"/>
                <a:ea typeface="Arial" pitchFamily="34" charset="-122"/>
                <a:cs typeface="Arial" pitchFamily="34" charset="-120"/>
              </a:rPr>
              <a:t>2</a:t>
            </a:r>
            <a:endParaRPr lang="en-US" sz="1200" dirty="0"/>
          </a:p>
        </p:txBody>
      </p:sp>
      <p:sp>
        <p:nvSpPr>
          <p:cNvPr id="16" name="Shape 13"/>
          <p:cNvSpPr/>
          <p:nvPr/>
        </p:nvSpPr>
        <p:spPr>
          <a:xfrm>
            <a:off x="1554480" y="3602736"/>
            <a:ext cx="3200400" cy="420624"/>
          </a:xfrm>
          <a:prstGeom prst="roundRect">
            <a:avLst>
              <a:gd name="adj" fmla="val 10870"/>
            </a:avLst>
          </a:prstGeom>
          <a:solidFill>
            <a:srgbClr val="DDE6F5"/>
          </a:solidFill>
          <a:ln/>
        </p:spPr>
      </p:sp>
      <p:sp>
        <p:nvSpPr>
          <p:cNvPr id="17" name="Text 14"/>
          <p:cNvSpPr txBox="1"/>
          <p:nvPr/>
        </p:nvSpPr>
        <p:spPr>
          <a:xfrm>
            <a:off x="1554480" y="3602736"/>
            <a:ext cx="3200400" cy="420624"/>
          </a:xfrm>
          <a:prstGeom prst="rect">
            <a:avLst/>
          </a:prstGeom>
          <a:noFill/>
          <a:ln/>
        </p:spPr>
        <p:txBody>
          <a:bodyPr wrap="square" lIns="0" tIns="0" rIns="0" bIns="0" rtlCol="0" anchor="ctr"/>
          <a:lstStyle/>
          <a:p>
            <a:pPr algn="ctr" indent="0" marL="0">
              <a:buNone/>
            </a:pPr>
            <a:r>
              <a:rPr lang="en-US" sz="1400" b="1" dirty="0">
                <a:solidFill>
                  <a:srgbClr val="3A4A61"/>
                </a:solidFill>
                <a:latin typeface="Arial" pitchFamily="34" charset="0"/>
                <a:ea typeface="Arial" pitchFamily="34" charset="-122"/>
                <a:cs typeface="Arial" pitchFamily="34" charset="-120"/>
              </a:rPr>
              <a:t>比較</a:t>
            </a:r>
            <a:endParaRPr lang="en-US" sz="1400" dirty="0"/>
          </a:p>
        </p:txBody>
      </p:sp>
      <p:sp>
        <p:nvSpPr>
          <p:cNvPr id="18" name="Text 15"/>
          <p:cNvSpPr txBox="1"/>
          <p:nvPr/>
        </p:nvSpPr>
        <p:spPr>
          <a:xfrm>
            <a:off x="914400" y="3602736"/>
            <a:ext cx="320040" cy="420624"/>
          </a:xfrm>
          <a:prstGeom prst="rect">
            <a:avLst/>
          </a:prstGeom>
          <a:noFill/>
          <a:ln/>
        </p:spPr>
        <p:txBody>
          <a:bodyPr wrap="square" lIns="0" tIns="0" rIns="0" bIns="0" rtlCol="0" anchor="ctr"/>
          <a:lstStyle/>
          <a:p>
            <a:pPr algn="ctr" indent="0" marL="0">
              <a:buNone/>
            </a:pPr>
            <a:r>
              <a:rPr lang="en-US" sz="1200" b="1" dirty="0">
                <a:solidFill>
                  <a:srgbClr val="7A8AA3"/>
                </a:solidFill>
                <a:latin typeface="Arial" pitchFamily="34" charset="0"/>
                <a:ea typeface="Arial" pitchFamily="34" charset="-122"/>
                <a:cs typeface="Arial" pitchFamily="34" charset="-120"/>
              </a:rPr>
              <a:t>3</a:t>
            </a:r>
            <a:endParaRPr lang="en-US" sz="1200" dirty="0"/>
          </a:p>
        </p:txBody>
      </p:sp>
      <p:sp>
        <p:nvSpPr>
          <p:cNvPr id="19" name="Shape 16"/>
          <p:cNvSpPr/>
          <p:nvPr/>
        </p:nvSpPr>
        <p:spPr>
          <a:xfrm>
            <a:off x="1828800" y="4178808"/>
            <a:ext cx="2651760" cy="420624"/>
          </a:xfrm>
          <a:prstGeom prst="roundRect">
            <a:avLst>
              <a:gd name="adj" fmla="val 10870"/>
            </a:avLst>
          </a:prstGeom>
          <a:solidFill>
            <a:srgbClr val="DDE6F5"/>
          </a:solidFill>
          <a:ln/>
        </p:spPr>
      </p:sp>
      <p:sp>
        <p:nvSpPr>
          <p:cNvPr id="20" name="Text 17"/>
          <p:cNvSpPr txBox="1"/>
          <p:nvPr/>
        </p:nvSpPr>
        <p:spPr>
          <a:xfrm>
            <a:off x="1828800" y="4178808"/>
            <a:ext cx="2651760" cy="420624"/>
          </a:xfrm>
          <a:prstGeom prst="rect">
            <a:avLst/>
          </a:prstGeom>
          <a:noFill/>
          <a:ln/>
        </p:spPr>
        <p:txBody>
          <a:bodyPr wrap="square" lIns="0" tIns="0" rIns="0" bIns="0" rtlCol="0" anchor="ctr"/>
          <a:lstStyle/>
          <a:p>
            <a:pPr algn="ctr" indent="0" marL="0">
              <a:buNone/>
            </a:pPr>
            <a:r>
              <a:rPr lang="en-US" sz="1400" b="1" dirty="0">
                <a:solidFill>
                  <a:srgbClr val="3A4A61"/>
                </a:solidFill>
                <a:latin typeface="Arial" pitchFamily="34" charset="0"/>
                <a:ea typeface="Arial" pitchFamily="34" charset="-122"/>
                <a:cs typeface="Arial" pitchFamily="34" charset="-120"/>
              </a:rPr>
              <a:t>購入</a:t>
            </a:r>
            <a:endParaRPr lang="en-US" sz="1400" dirty="0"/>
          </a:p>
        </p:txBody>
      </p:sp>
      <p:sp>
        <p:nvSpPr>
          <p:cNvPr id="21" name="Text 18"/>
          <p:cNvSpPr txBox="1"/>
          <p:nvPr/>
        </p:nvSpPr>
        <p:spPr>
          <a:xfrm>
            <a:off x="914400" y="4178808"/>
            <a:ext cx="320040" cy="420624"/>
          </a:xfrm>
          <a:prstGeom prst="rect">
            <a:avLst/>
          </a:prstGeom>
          <a:noFill/>
          <a:ln/>
        </p:spPr>
        <p:txBody>
          <a:bodyPr wrap="square" lIns="0" tIns="0" rIns="0" bIns="0" rtlCol="0" anchor="ctr"/>
          <a:lstStyle/>
          <a:p>
            <a:pPr algn="ctr" indent="0" marL="0">
              <a:buNone/>
            </a:pPr>
            <a:r>
              <a:rPr lang="en-US" sz="1200" b="1" dirty="0">
                <a:solidFill>
                  <a:srgbClr val="7A8AA3"/>
                </a:solidFill>
                <a:latin typeface="Arial" pitchFamily="34" charset="0"/>
                <a:ea typeface="Arial" pitchFamily="34" charset="-122"/>
                <a:cs typeface="Arial" pitchFamily="34" charset="-120"/>
              </a:rPr>
              <a:t>4</a:t>
            </a:r>
            <a:endParaRPr lang="en-US" sz="1200" dirty="0"/>
          </a:p>
        </p:txBody>
      </p:sp>
      <p:sp>
        <p:nvSpPr>
          <p:cNvPr id="22" name="Shape 19"/>
          <p:cNvSpPr/>
          <p:nvPr/>
        </p:nvSpPr>
        <p:spPr>
          <a:xfrm>
            <a:off x="2103120" y="4754880"/>
            <a:ext cx="2103120" cy="420624"/>
          </a:xfrm>
          <a:prstGeom prst="roundRect">
            <a:avLst>
              <a:gd name="adj" fmla="val 10870"/>
            </a:avLst>
          </a:prstGeom>
          <a:solidFill>
            <a:srgbClr val="DDE6F5"/>
          </a:solidFill>
          <a:ln/>
        </p:spPr>
      </p:sp>
      <p:sp>
        <p:nvSpPr>
          <p:cNvPr id="23" name="Text 20"/>
          <p:cNvSpPr txBox="1"/>
          <p:nvPr/>
        </p:nvSpPr>
        <p:spPr>
          <a:xfrm>
            <a:off x="2103120" y="4754880"/>
            <a:ext cx="2103120" cy="420624"/>
          </a:xfrm>
          <a:prstGeom prst="rect">
            <a:avLst/>
          </a:prstGeom>
          <a:noFill/>
          <a:ln/>
        </p:spPr>
        <p:txBody>
          <a:bodyPr wrap="square" lIns="0" tIns="0" rIns="0" bIns="0" rtlCol="0" anchor="ctr"/>
          <a:lstStyle/>
          <a:p>
            <a:pPr algn="ctr" indent="0" marL="0">
              <a:buNone/>
            </a:pPr>
            <a:r>
              <a:rPr lang="en-US" sz="1400" b="1" dirty="0">
                <a:solidFill>
                  <a:srgbClr val="3A4A61"/>
                </a:solidFill>
                <a:latin typeface="Arial" pitchFamily="34" charset="0"/>
                <a:ea typeface="Arial" pitchFamily="34" charset="-122"/>
                <a:cs typeface="Arial" pitchFamily="34" charset="-120"/>
              </a:rPr>
              <a:t>リピート</a:t>
            </a:r>
            <a:endParaRPr lang="en-US" sz="1400" dirty="0"/>
          </a:p>
        </p:txBody>
      </p:sp>
      <p:sp>
        <p:nvSpPr>
          <p:cNvPr id="24" name="Text 21"/>
          <p:cNvSpPr txBox="1"/>
          <p:nvPr/>
        </p:nvSpPr>
        <p:spPr>
          <a:xfrm>
            <a:off x="914400" y="4754880"/>
            <a:ext cx="320040" cy="420624"/>
          </a:xfrm>
          <a:prstGeom prst="rect">
            <a:avLst/>
          </a:prstGeom>
          <a:noFill/>
          <a:ln/>
        </p:spPr>
        <p:txBody>
          <a:bodyPr wrap="square" lIns="0" tIns="0" rIns="0" bIns="0" rtlCol="0" anchor="ctr"/>
          <a:lstStyle/>
          <a:p>
            <a:pPr algn="ctr" indent="0" marL="0">
              <a:buNone/>
            </a:pPr>
            <a:r>
              <a:rPr lang="en-US" sz="1200" b="1" dirty="0">
                <a:solidFill>
                  <a:srgbClr val="7A8AA3"/>
                </a:solidFill>
                <a:latin typeface="Arial" pitchFamily="34" charset="0"/>
                <a:ea typeface="Arial" pitchFamily="34" charset="-122"/>
                <a:cs typeface="Arial" pitchFamily="34" charset="-120"/>
              </a:rPr>
              <a:t>5</a:t>
            </a:r>
            <a:endParaRPr lang="en-US" sz="1200" dirty="0"/>
          </a:p>
        </p:txBody>
      </p:sp>
      <p:sp>
        <p:nvSpPr>
          <p:cNvPr id="25" name="Shape 22"/>
          <p:cNvSpPr/>
          <p:nvPr/>
        </p:nvSpPr>
        <p:spPr>
          <a:xfrm>
            <a:off x="5550408" y="2606040"/>
            <a:ext cx="54864" cy="2286000"/>
          </a:xfrm>
          <a:prstGeom prst="rect">
            <a:avLst/>
          </a:prstGeom>
          <a:solidFill>
            <a:srgbClr val="7A8AA3"/>
          </a:solidFill>
          <a:ln/>
        </p:spPr>
      </p:sp>
      <p:sp>
        <p:nvSpPr>
          <p:cNvPr id="26" name="Shape 23"/>
          <p:cNvSpPr/>
          <p:nvPr/>
        </p:nvSpPr>
        <p:spPr>
          <a:xfrm rot="10800000">
            <a:off x="5468112" y="4864608"/>
            <a:ext cx="219456" cy="182880"/>
          </a:xfrm>
          <a:prstGeom prst="triangle">
            <a:avLst/>
          </a:prstGeom>
          <a:solidFill>
            <a:srgbClr val="7A8AA3"/>
          </a:solidFill>
          <a:ln/>
        </p:spPr>
      </p:sp>
      <p:sp>
        <p:nvSpPr>
          <p:cNvPr id="27" name="Shape 24"/>
          <p:cNvSpPr/>
          <p:nvPr/>
        </p:nvSpPr>
        <p:spPr>
          <a:xfrm>
            <a:off x="6245352" y="1554480"/>
            <a:ext cx="5349240" cy="3931920"/>
          </a:xfrm>
          <a:prstGeom prst="roundRect">
            <a:avLst>
              <a:gd name="adj" fmla="val 1860"/>
            </a:avLst>
          </a:prstGeom>
          <a:solidFill>
            <a:srgbClr val="E8F0FC"/>
          </a:solidFill>
          <a:ln/>
        </p:spPr>
      </p:sp>
      <p:sp>
        <p:nvSpPr>
          <p:cNvPr id="28" name="Text 25"/>
          <p:cNvSpPr txBox="1"/>
          <p:nvPr/>
        </p:nvSpPr>
        <p:spPr>
          <a:xfrm>
            <a:off x="6611112" y="1737360"/>
            <a:ext cx="3108960" cy="347472"/>
          </a:xfrm>
          <a:prstGeom prst="rect">
            <a:avLst/>
          </a:prstGeom>
          <a:noFill/>
          <a:ln/>
        </p:spPr>
        <p:txBody>
          <a:bodyPr wrap="square" lIns="0" tIns="0" rIns="0" bIns="0" rtlCol="0" anchor="ctr"/>
          <a:lstStyle/>
          <a:p>
            <a:pPr indent="0" marL="0">
              <a:buNone/>
            </a:pPr>
            <a:r>
              <a:rPr lang="en-US" sz="1600" b="1" dirty="0">
                <a:solidFill>
                  <a:srgbClr val="1E6FE8"/>
                </a:solidFill>
                <a:latin typeface="Arial" pitchFamily="34" charset="0"/>
                <a:ea typeface="Arial" pitchFamily="34" charset="-122"/>
                <a:cs typeface="Arial" pitchFamily="34" charset="-120"/>
              </a:rPr>
              <a:t>逆算ファネル</a:t>
            </a:r>
            <a:endParaRPr lang="en-US" sz="1600" dirty="0"/>
          </a:p>
        </p:txBody>
      </p:sp>
      <p:sp>
        <p:nvSpPr>
          <p:cNvPr id="29" name="Text 26"/>
          <p:cNvSpPr txBox="1"/>
          <p:nvPr/>
        </p:nvSpPr>
        <p:spPr>
          <a:xfrm>
            <a:off x="6611112" y="2066544"/>
            <a:ext cx="3108960" cy="274320"/>
          </a:xfrm>
          <a:prstGeom prst="rect">
            <a:avLst/>
          </a:prstGeom>
          <a:noFill/>
          <a:ln/>
        </p:spPr>
        <p:txBody>
          <a:bodyPr wrap="square" lIns="0" tIns="0" rIns="0" bIns="0" rtlCol="0" anchor="ctr"/>
          <a:lstStyle/>
          <a:p>
            <a:pPr indent="0" marL="0">
              <a:buNone/>
            </a:pPr>
            <a:r>
              <a:rPr lang="en-US" sz="1100" dirty="0">
                <a:solidFill>
                  <a:srgbClr val="7A8AA3"/>
                </a:solidFill>
                <a:latin typeface="Arial" pitchFamily="34" charset="0"/>
                <a:ea typeface="Arial" pitchFamily="34" charset="-122"/>
                <a:cs typeface="Arial" pitchFamily="34" charset="-120"/>
              </a:rPr>
              <a:t>下から上へ考える</a:t>
            </a:r>
            <a:endParaRPr lang="en-US" sz="1100" dirty="0"/>
          </a:p>
        </p:txBody>
      </p:sp>
      <p:sp>
        <p:nvSpPr>
          <p:cNvPr id="30" name="Shape 27"/>
          <p:cNvSpPr/>
          <p:nvPr/>
        </p:nvSpPr>
        <p:spPr>
          <a:xfrm>
            <a:off x="6656832" y="2450592"/>
            <a:ext cx="4297680" cy="420624"/>
          </a:xfrm>
          <a:prstGeom prst="roundRect">
            <a:avLst>
              <a:gd name="adj" fmla="val 10870"/>
            </a:avLst>
          </a:prstGeom>
          <a:solidFill>
            <a:srgbClr val="FFFFFF"/>
          </a:solidFill>
          <a:ln/>
        </p:spPr>
      </p:sp>
      <p:sp>
        <p:nvSpPr>
          <p:cNvPr id="31" name="Text 28"/>
          <p:cNvSpPr txBox="1"/>
          <p:nvPr/>
        </p:nvSpPr>
        <p:spPr>
          <a:xfrm>
            <a:off x="6656832" y="2450592"/>
            <a:ext cx="4297680" cy="420624"/>
          </a:xfrm>
          <a:prstGeom prst="rect">
            <a:avLst/>
          </a:prstGeom>
          <a:noFill/>
          <a:ln/>
        </p:spPr>
        <p:txBody>
          <a:bodyPr wrap="square" lIns="0" tIns="0" rIns="0" bIns="0" rtlCol="0" anchor="ctr"/>
          <a:lstStyle/>
          <a:p>
            <a:pPr algn="ctr" indent="0" marL="0">
              <a:buNone/>
            </a:pPr>
            <a:r>
              <a:rPr lang="en-US" sz="1400" b="1" dirty="0">
                <a:solidFill>
                  <a:srgbClr val="0E1B2C"/>
                </a:solidFill>
                <a:latin typeface="Arial" pitchFamily="34" charset="0"/>
                <a:ea typeface="Arial" pitchFamily="34" charset="-122"/>
                <a:cs typeface="Arial" pitchFamily="34" charset="-120"/>
              </a:rPr>
              <a:t>認知</a:t>
            </a:r>
            <a:endParaRPr lang="en-US" sz="1400" dirty="0"/>
          </a:p>
        </p:txBody>
      </p:sp>
      <p:sp>
        <p:nvSpPr>
          <p:cNvPr id="32" name="Text 29"/>
          <p:cNvSpPr txBox="1"/>
          <p:nvPr/>
        </p:nvSpPr>
        <p:spPr>
          <a:xfrm>
            <a:off x="6565392" y="2450592"/>
            <a:ext cx="320040" cy="420624"/>
          </a:xfrm>
          <a:prstGeom prst="rect">
            <a:avLst/>
          </a:prstGeom>
          <a:noFill/>
          <a:ln/>
        </p:spPr>
        <p:txBody>
          <a:bodyPr wrap="square" lIns="0" tIns="0" rIns="0" bIns="0" rtlCol="0" anchor="ctr"/>
          <a:lstStyle/>
          <a:p>
            <a:pPr algn="ctr" indent="0" marL="0">
              <a:buNone/>
            </a:pPr>
            <a:r>
              <a:rPr lang="en-US" sz="1200" b="1" dirty="0">
                <a:solidFill>
                  <a:srgbClr val="1E6FE8"/>
                </a:solidFill>
                <a:latin typeface="Arial" pitchFamily="34" charset="0"/>
                <a:ea typeface="Arial" pitchFamily="34" charset="-122"/>
                <a:cs typeface="Arial" pitchFamily="34" charset="-120"/>
              </a:rPr>
              <a:t>5</a:t>
            </a:r>
            <a:endParaRPr lang="en-US" sz="1200" dirty="0"/>
          </a:p>
        </p:txBody>
      </p:sp>
      <p:sp>
        <p:nvSpPr>
          <p:cNvPr id="33" name="Text 30"/>
          <p:cNvSpPr txBox="1"/>
          <p:nvPr/>
        </p:nvSpPr>
        <p:spPr>
          <a:xfrm>
            <a:off x="6565392" y="2880360"/>
            <a:ext cx="4480560" cy="137160"/>
          </a:xfrm>
          <a:prstGeom prst="rect">
            <a:avLst/>
          </a:prstGeom>
          <a:noFill/>
          <a:ln/>
        </p:spPr>
        <p:txBody>
          <a:bodyPr wrap="square" lIns="0" tIns="0" rIns="0" bIns="0" rtlCol="0" anchor="ctr"/>
          <a:lstStyle/>
          <a:p>
            <a:pPr algn="ctr" indent="0" marL="0">
              <a:buNone/>
            </a:pPr>
            <a:r>
              <a:rPr lang="en-US" sz="800" dirty="0">
                <a:solidFill>
                  <a:srgbClr val="3A4A61"/>
                </a:solidFill>
                <a:latin typeface="Arial" pitchFamily="34" charset="0"/>
                <a:ea typeface="Arial" pitchFamily="34" charset="-122"/>
                <a:cs typeface="Arial" pitchFamily="34" charset="-120"/>
              </a:rPr>
              <a:t>その人はどこにいる？</a:t>
            </a:r>
            <a:endParaRPr lang="en-US" sz="800" dirty="0"/>
          </a:p>
        </p:txBody>
      </p:sp>
      <p:sp>
        <p:nvSpPr>
          <p:cNvPr id="34" name="Shape 31"/>
          <p:cNvSpPr/>
          <p:nvPr/>
        </p:nvSpPr>
        <p:spPr>
          <a:xfrm>
            <a:off x="6931152" y="3026664"/>
            <a:ext cx="3749040" cy="420624"/>
          </a:xfrm>
          <a:prstGeom prst="roundRect">
            <a:avLst>
              <a:gd name="adj" fmla="val 10870"/>
            </a:avLst>
          </a:prstGeom>
          <a:solidFill>
            <a:srgbClr val="D6E6FB"/>
          </a:solidFill>
          <a:ln/>
        </p:spPr>
      </p:sp>
      <p:sp>
        <p:nvSpPr>
          <p:cNvPr id="35" name="Text 32"/>
          <p:cNvSpPr txBox="1"/>
          <p:nvPr/>
        </p:nvSpPr>
        <p:spPr>
          <a:xfrm>
            <a:off x="6931152" y="3026664"/>
            <a:ext cx="3749040" cy="420624"/>
          </a:xfrm>
          <a:prstGeom prst="rect">
            <a:avLst/>
          </a:prstGeom>
          <a:noFill/>
          <a:ln/>
        </p:spPr>
        <p:txBody>
          <a:bodyPr wrap="square" lIns="0" tIns="0" rIns="0" bIns="0" rtlCol="0" anchor="ctr"/>
          <a:lstStyle/>
          <a:p>
            <a:pPr algn="ctr" indent="0" marL="0">
              <a:buNone/>
            </a:pPr>
            <a:r>
              <a:rPr lang="en-US" sz="1400" b="1" dirty="0">
                <a:solidFill>
                  <a:srgbClr val="0E1B2C"/>
                </a:solidFill>
                <a:latin typeface="Arial" pitchFamily="34" charset="0"/>
                <a:ea typeface="Arial" pitchFamily="34" charset="-122"/>
                <a:cs typeface="Arial" pitchFamily="34" charset="-120"/>
              </a:rPr>
              <a:t>興味</a:t>
            </a:r>
            <a:endParaRPr lang="en-US" sz="1400" dirty="0"/>
          </a:p>
        </p:txBody>
      </p:sp>
      <p:sp>
        <p:nvSpPr>
          <p:cNvPr id="36" name="Text 33"/>
          <p:cNvSpPr txBox="1"/>
          <p:nvPr/>
        </p:nvSpPr>
        <p:spPr>
          <a:xfrm>
            <a:off x="6565392" y="3026664"/>
            <a:ext cx="320040" cy="420624"/>
          </a:xfrm>
          <a:prstGeom prst="rect">
            <a:avLst/>
          </a:prstGeom>
          <a:noFill/>
          <a:ln/>
        </p:spPr>
        <p:txBody>
          <a:bodyPr wrap="square" lIns="0" tIns="0" rIns="0" bIns="0" rtlCol="0" anchor="ctr"/>
          <a:lstStyle/>
          <a:p>
            <a:pPr algn="ctr" indent="0" marL="0">
              <a:buNone/>
            </a:pPr>
            <a:r>
              <a:rPr lang="en-US" sz="1200" b="1" dirty="0">
                <a:solidFill>
                  <a:srgbClr val="1E6FE8"/>
                </a:solidFill>
                <a:latin typeface="Arial" pitchFamily="34" charset="0"/>
                <a:ea typeface="Arial" pitchFamily="34" charset="-122"/>
                <a:cs typeface="Arial" pitchFamily="34" charset="-120"/>
              </a:rPr>
              <a:t>4</a:t>
            </a:r>
            <a:endParaRPr lang="en-US" sz="1200" dirty="0"/>
          </a:p>
        </p:txBody>
      </p:sp>
      <p:sp>
        <p:nvSpPr>
          <p:cNvPr id="37" name="Text 34"/>
          <p:cNvSpPr txBox="1"/>
          <p:nvPr/>
        </p:nvSpPr>
        <p:spPr>
          <a:xfrm>
            <a:off x="6565392" y="3456432"/>
            <a:ext cx="4480560" cy="137160"/>
          </a:xfrm>
          <a:prstGeom prst="rect">
            <a:avLst/>
          </a:prstGeom>
          <a:noFill/>
          <a:ln/>
        </p:spPr>
        <p:txBody>
          <a:bodyPr wrap="square" lIns="0" tIns="0" rIns="0" bIns="0" rtlCol="0" anchor="ctr"/>
          <a:lstStyle/>
          <a:p>
            <a:pPr algn="ctr" indent="0" marL="0">
              <a:buNone/>
            </a:pPr>
            <a:r>
              <a:rPr lang="en-US" sz="800" dirty="0">
                <a:solidFill>
                  <a:srgbClr val="3A4A61"/>
                </a:solidFill>
                <a:latin typeface="Arial" pitchFamily="34" charset="0"/>
                <a:ea typeface="Arial" pitchFamily="34" charset="-122"/>
                <a:cs typeface="Arial" pitchFamily="34" charset="-120"/>
              </a:rPr>
              <a:t>どんな言葉なら「自分のことだ」と思う？</a:t>
            </a:r>
            <a:endParaRPr lang="en-US" sz="800" dirty="0"/>
          </a:p>
        </p:txBody>
      </p:sp>
      <p:sp>
        <p:nvSpPr>
          <p:cNvPr id="38" name="Shape 35"/>
          <p:cNvSpPr/>
          <p:nvPr/>
        </p:nvSpPr>
        <p:spPr>
          <a:xfrm>
            <a:off x="7205472" y="3602736"/>
            <a:ext cx="3200400" cy="420624"/>
          </a:xfrm>
          <a:prstGeom prst="roundRect">
            <a:avLst>
              <a:gd name="adj" fmla="val 10870"/>
            </a:avLst>
          </a:prstGeom>
          <a:solidFill>
            <a:srgbClr val="AFC6E8"/>
          </a:solidFill>
          <a:ln/>
        </p:spPr>
      </p:sp>
      <p:sp>
        <p:nvSpPr>
          <p:cNvPr id="39" name="Text 36"/>
          <p:cNvSpPr txBox="1"/>
          <p:nvPr/>
        </p:nvSpPr>
        <p:spPr>
          <a:xfrm>
            <a:off x="7205472" y="3602736"/>
            <a:ext cx="3200400" cy="420624"/>
          </a:xfrm>
          <a:prstGeom prst="rect">
            <a:avLst/>
          </a:prstGeom>
          <a:noFill/>
          <a:ln/>
        </p:spPr>
        <p:txBody>
          <a:bodyPr wrap="square" lIns="0" tIns="0" rIns="0" bIns="0" rtlCol="0" anchor="ctr"/>
          <a:lstStyle/>
          <a:p>
            <a:pPr algn="ctr" indent="0" marL="0">
              <a:buNone/>
            </a:pPr>
            <a:r>
              <a:rPr lang="en-US" sz="1400" b="1" dirty="0">
                <a:solidFill>
                  <a:srgbClr val="0E1B2C"/>
                </a:solidFill>
                <a:latin typeface="Arial" pitchFamily="34" charset="0"/>
                <a:ea typeface="Arial" pitchFamily="34" charset="-122"/>
                <a:cs typeface="Arial" pitchFamily="34" charset="-120"/>
              </a:rPr>
              <a:t>比較</a:t>
            </a:r>
            <a:endParaRPr lang="en-US" sz="1400" dirty="0"/>
          </a:p>
        </p:txBody>
      </p:sp>
      <p:sp>
        <p:nvSpPr>
          <p:cNvPr id="40" name="Text 37"/>
          <p:cNvSpPr txBox="1"/>
          <p:nvPr/>
        </p:nvSpPr>
        <p:spPr>
          <a:xfrm>
            <a:off x="6565392" y="3602736"/>
            <a:ext cx="320040" cy="420624"/>
          </a:xfrm>
          <a:prstGeom prst="rect">
            <a:avLst/>
          </a:prstGeom>
          <a:noFill/>
          <a:ln/>
        </p:spPr>
        <p:txBody>
          <a:bodyPr wrap="square" lIns="0" tIns="0" rIns="0" bIns="0" rtlCol="0" anchor="ctr"/>
          <a:lstStyle/>
          <a:p>
            <a:pPr algn="ctr" indent="0" marL="0">
              <a:buNone/>
            </a:pPr>
            <a:r>
              <a:rPr lang="en-US" sz="1200" b="1" dirty="0">
                <a:solidFill>
                  <a:srgbClr val="1E6FE8"/>
                </a:solidFill>
                <a:latin typeface="Arial" pitchFamily="34" charset="0"/>
                <a:ea typeface="Arial" pitchFamily="34" charset="-122"/>
                <a:cs typeface="Arial" pitchFamily="34" charset="-120"/>
              </a:rPr>
              <a:t>3</a:t>
            </a:r>
            <a:endParaRPr lang="en-US" sz="1200" dirty="0"/>
          </a:p>
        </p:txBody>
      </p:sp>
      <p:sp>
        <p:nvSpPr>
          <p:cNvPr id="41" name="Text 38"/>
          <p:cNvSpPr txBox="1"/>
          <p:nvPr/>
        </p:nvSpPr>
        <p:spPr>
          <a:xfrm>
            <a:off x="6565392" y="4032504"/>
            <a:ext cx="4480560" cy="137160"/>
          </a:xfrm>
          <a:prstGeom prst="rect">
            <a:avLst/>
          </a:prstGeom>
          <a:noFill/>
          <a:ln/>
        </p:spPr>
        <p:txBody>
          <a:bodyPr wrap="square" lIns="0" tIns="0" rIns="0" bIns="0" rtlCol="0" anchor="ctr"/>
          <a:lstStyle/>
          <a:p>
            <a:pPr algn="ctr" indent="0" marL="0">
              <a:buNone/>
            </a:pPr>
            <a:r>
              <a:rPr lang="en-US" sz="800" dirty="0">
                <a:solidFill>
                  <a:srgbClr val="3A4A61"/>
                </a:solidFill>
                <a:latin typeface="Arial" pitchFamily="34" charset="0"/>
                <a:ea typeface="Arial" pitchFamily="34" charset="-122"/>
                <a:cs typeface="Arial" pitchFamily="34" charset="-120"/>
              </a:rPr>
              <a:t>他の商品ではなくこれを選ぶ理由は？</a:t>
            </a:r>
            <a:endParaRPr lang="en-US" sz="800" dirty="0"/>
          </a:p>
        </p:txBody>
      </p:sp>
      <p:sp>
        <p:nvSpPr>
          <p:cNvPr id="42" name="Shape 39"/>
          <p:cNvSpPr/>
          <p:nvPr/>
        </p:nvSpPr>
        <p:spPr>
          <a:xfrm>
            <a:off x="7479792" y="4178808"/>
            <a:ext cx="2651760" cy="420624"/>
          </a:xfrm>
          <a:prstGeom prst="roundRect">
            <a:avLst>
              <a:gd name="adj" fmla="val 10870"/>
            </a:avLst>
          </a:prstGeom>
          <a:solidFill>
            <a:srgbClr val="5B93EE"/>
          </a:solidFill>
          <a:ln/>
        </p:spPr>
      </p:sp>
      <p:sp>
        <p:nvSpPr>
          <p:cNvPr id="43" name="Text 40"/>
          <p:cNvSpPr txBox="1"/>
          <p:nvPr/>
        </p:nvSpPr>
        <p:spPr>
          <a:xfrm>
            <a:off x="7479792" y="4178808"/>
            <a:ext cx="265176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購入</a:t>
            </a:r>
            <a:endParaRPr lang="en-US" sz="1400" dirty="0"/>
          </a:p>
        </p:txBody>
      </p:sp>
      <p:sp>
        <p:nvSpPr>
          <p:cNvPr id="44" name="Text 41"/>
          <p:cNvSpPr txBox="1"/>
          <p:nvPr/>
        </p:nvSpPr>
        <p:spPr>
          <a:xfrm>
            <a:off x="6565392" y="4178808"/>
            <a:ext cx="320040" cy="420624"/>
          </a:xfrm>
          <a:prstGeom prst="rect">
            <a:avLst/>
          </a:prstGeom>
          <a:noFill/>
          <a:ln/>
        </p:spPr>
        <p:txBody>
          <a:bodyPr wrap="square" lIns="0" tIns="0" rIns="0" bIns="0" rtlCol="0" anchor="ctr"/>
          <a:lstStyle/>
          <a:p>
            <a:pPr algn="ctr" indent="0" marL="0">
              <a:buNone/>
            </a:pPr>
            <a:r>
              <a:rPr lang="en-US" sz="1200" b="1" dirty="0">
                <a:solidFill>
                  <a:srgbClr val="1E6FE8"/>
                </a:solidFill>
                <a:latin typeface="Arial" pitchFamily="34" charset="0"/>
                <a:ea typeface="Arial" pitchFamily="34" charset="-122"/>
                <a:cs typeface="Arial" pitchFamily="34" charset="-120"/>
              </a:rPr>
              <a:t>2</a:t>
            </a:r>
            <a:endParaRPr lang="en-US" sz="1200" dirty="0"/>
          </a:p>
        </p:txBody>
      </p:sp>
      <p:sp>
        <p:nvSpPr>
          <p:cNvPr id="45" name="Text 42"/>
          <p:cNvSpPr txBox="1"/>
          <p:nvPr/>
        </p:nvSpPr>
        <p:spPr>
          <a:xfrm>
            <a:off x="6565392" y="4608576"/>
            <a:ext cx="4480560" cy="137160"/>
          </a:xfrm>
          <a:prstGeom prst="rect">
            <a:avLst/>
          </a:prstGeom>
          <a:noFill/>
          <a:ln/>
        </p:spPr>
        <p:txBody>
          <a:bodyPr wrap="square" lIns="0" tIns="0" rIns="0" bIns="0" rtlCol="0" anchor="ctr"/>
          <a:lstStyle/>
          <a:p>
            <a:pPr algn="ctr" indent="0" marL="0">
              <a:buNone/>
            </a:pPr>
            <a:r>
              <a:rPr lang="en-US" sz="800" dirty="0">
                <a:solidFill>
                  <a:srgbClr val="3A4A61"/>
                </a:solidFill>
                <a:latin typeface="Arial" pitchFamily="34" charset="0"/>
                <a:ea typeface="Arial" pitchFamily="34" charset="-122"/>
                <a:cs typeface="Arial" pitchFamily="34" charset="-120"/>
              </a:rPr>
              <a:t>何ならお金を払ってでも解決したい？</a:t>
            </a:r>
            <a:endParaRPr lang="en-US" sz="800" dirty="0"/>
          </a:p>
        </p:txBody>
      </p:sp>
      <p:sp>
        <p:nvSpPr>
          <p:cNvPr id="46" name="Shape 43"/>
          <p:cNvSpPr/>
          <p:nvPr/>
        </p:nvSpPr>
        <p:spPr>
          <a:xfrm>
            <a:off x="7754112" y="4754880"/>
            <a:ext cx="2103120" cy="420624"/>
          </a:xfrm>
          <a:prstGeom prst="roundRect">
            <a:avLst>
              <a:gd name="adj" fmla="val 10870"/>
            </a:avLst>
          </a:prstGeom>
          <a:solidFill>
            <a:srgbClr val="1E6FE8"/>
          </a:solidFill>
          <a:ln/>
        </p:spPr>
      </p:sp>
      <p:sp>
        <p:nvSpPr>
          <p:cNvPr id="47" name="Text 44"/>
          <p:cNvSpPr txBox="1"/>
          <p:nvPr/>
        </p:nvSpPr>
        <p:spPr>
          <a:xfrm>
            <a:off x="7754112" y="4754880"/>
            <a:ext cx="21031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リピート</a:t>
            </a:r>
            <a:endParaRPr lang="en-US" sz="1400" dirty="0"/>
          </a:p>
        </p:txBody>
      </p:sp>
      <p:sp>
        <p:nvSpPr>
          <p:cNvPr id="48" name="Text 45"/>
          <p:cNvSpPr txBox="1"/>
          <p:nvPr/>
        </p:nvSpPr>
        <p:spPr>
          <a:xfrm>
            <a:off x="6565392" y="4754880"/>
            <a:ext cx="320040" cy="420624"/>
          </a:xfrm>
          <a:prstGeom prst="rect">
            <a:avLst/>
          </a:prstGeom>
          <a:noFill/>
          <a:ln/>
        </p:spPr>
        <p:txBody>
          <a:bodyPr wrap="square" lIns="0" tIns="0" rIns="0" bIns="0" rtlCol="0" anchor="ctr"/>
          <a:lstStyle/>
          <a:p>
            <a:pPr algn="ctr" indent="0" marL="0">
              <a:buNone/>
            </a:pPr>
            <a:r>
              <a:rPr lang="en-US" sz="1200" b="1" dirty="0">
                <a:solidFill>
                  <a:srgbClr val="1E6FE8"/>
                </a:solidFill>
                <a:latin typeface="Arial" pitchFamily="34" charset="0"/>
                <a:ea typeface="Arial" pitchFamily="34" charset="-122"/>
                <a:cs typeface="Arial" pitchFamily="34" charset="-120"/>
              </a:rPr>
              <a:t>1</a:t>
            </a:r>
            <a:endParaRPr lang="en-US" sz="1200" dirty="0"/>
          </a:p>
        </p:txBody>
      </p:sp>
      <p:sp>
        <p:nvSpPr>
          <p:cNvPr id="49" name="Text 46"/>
          <p:cNvSpPr txBox="1"/>
          <p:nvPr/>
        </p:nvSpPr>
        <p:spPr>
          <a:xfrm>
            <a:off x="6565392" y="5184648"/>
            <a:ext cx="4480560" cy="137160"/>
          </a:xfrm>
          <a:prstGeom prst="rect">
            <a:avLst/>
          </a:prstGeom>
          <a:noFill/>
          <a:ln/>
        </p:spPr>
        <p:txBody>
          <a:bodyPr wrap="square" lIns="0" tIns="0" rIns="0" bIns="0" rtlCol="0" anchor="ctr"/>
          <a:lstStyle/>
          <a:p>
            <a:pPr algn="ctr" indent="0" marL="0">
              <a:buNone/>
            </a:pPr>
            <a:r>
              <a:rPr lang="en-US" sz="800" dirty="0">
                <a:solidFill>
                  <a:srgbClr val="3A4A61"/>
                </a:solidFill>
                <a:latin typeface="Arial" pitchFamily="34" charset="0"/>
                <a:ea typeface="Arial" pitchFamily="34" charset="-122"/>
                <a:cs typeface="Arial" pitchFamily="34" charset="-120"/>
              </a:rPr>
              <a:t>どんな商品ならもう一度買いたくなる？</a:t>
            </a:r>
            <a:endParaRPr lang="en-US" sz="800" dirty="0"/>
          </a:p>
        </p:txBody>
      </p:sp>
      <p:sp>
        <p:nvSpPr>
          <p:cNvPr id="50" name="Shape 47"/>
          <p:cNvSpPr/>
          <p:nvPr/>
        </p:nvSpPr>
        <p:spPr>
          <a:xfrm>
            <a:off x="11201400" y="2606040"/>
            <a:ext cx="54864" cy="2286000"/>
          </a:xfrm>
          <a:prstGeom prst="rect">
            <a:avLst/>
          </a:prstGeom>
          <a:solidFill>
            <a:srgbClr val="1E6FE8"/>
          </a:solidFill>
          <a:ln/>
        </p:spPr>
      </p:sp>
      <p:sp>
        <p:nvSpPr>
          <p:cNvPr id="51" name="Shape 48"/>
          <p:cNvSpPr/>
          <p:nvPr/>
        </p:nvSpPr>
        <p:spPr>
          <a:xfrm>
            <a:off x="11119104" y="2404872"/>
            <a:ext cx="219456" cy="182880"/>
          </a:xfrm>
          <a:prstGeom prst="triangle">
            <a:avLst/>
          </a:prstGeom>
          <a:solidFill>
            <a:srgbClr val="1E6FE8"/>
          </a:solidFill>
          <a:ln/>
        </p:spPr>
      </p:sp>
      <p:sp>
        <p:nvSpPr>
          <p:cNvPr id="52" name="Shape 49"/>
          <p:cNvSpPr/>
          <p:nvPr/>
        </p:nvSpPr>
        <p:spPr>
          <a:xfrm>
            <a:off x="594360" y="5669280"/>
            <a:ext cx="11000232" cy="640080"/>
          </a:xfrm>
          <a:prstGeom prst="roundRect">
            <a:avLst>
              <a:gd name="adj" fmla="val 12857"/>
            </a:avLst>
          </a:prstGeom>
          <a:solidFill>
            <a:srgbClr val="E8F0FC"/>
          </a:solidFill>
          <a:ln/>
        </p:spPr>
      </p:sp>
      <p:sp>
        <p:nvSpPr>
          <p:cNvPr id="53" name="Text 50"/>
          <p:cNvSpPr txBox="1"/>
          <p:nvPr/>
        </p:nvSpPr>
        <p:spPr>
          <a:xfrm>
            <a:off x="960120" y="5669280"/>
            <a:ext cx="10268712" cy="640080"/>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だから　</a:t>
            </a:r>
            <a:pPr algn="l" indent="0" marL="0">
              <a:buNone/>
            </a:pPr>
            <a:r>
              <a:rPr lang="en-US" sz="1700" b="1" dirty="0">
                <a:solidFill>
                  <a:srgbClr val="0E1B2C"/>
                </a:solidFill>
                <a:latin typeface="Arial" pitchFamily="34" charset="0"/>
                <a:ea typeface="Arial" pitchFamily="34" charset="-122"/>
                <a:cs typeface="Arial" pitchFamily="34" charset="-120"/>
              </a:rPr>
              <a:t>広告から考えない。リピートから逆算する。</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20</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GROWTH PATH</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小さく深く刺してから、広げる</a:t>
            </a:r>
            <a:endParaRPr lang="en-US" sz="2600" dirty="0"/>
          </a:p>
        </p:txBody>
      </p:sp>
      <p:sp>
        <p:nvSpPr>
          <p:cNvPr id="7" name="Shape 4"/>
          <p:cNvSpPr/>
          <p:nvPr/>
        </p:nvSpPr>
        <p:spPr>
          <a:xfrm>
            <a:off x="594360" y="1600200"/>
            <a:ext cx="2606040" cy="3246120"/>
          </a:xfrm>
          <a:prstGeom prst="roundRect">
            <a:avLst>
              <a:gd name="adj" fmla="val 2807"/>
            </a:avLst>
          </a:prstGeom>
          <a:solidFill>
            <a:srgbClr val="F2F6FD"/>
          </a:solidFill>
          <a:ln/>
        </p:spPr>
      </p:sp>
      <p:sp>
        <p:nvSpPr>
          <p:cNvPr id="8" name="Text 5"/>
          <p:cNvSpPr txBox="1"/>
          <p:nvPr/>
        </p:nvSpPr>
        <p:spPr>
          <a:xfrm>
            <a:off x="868680" y="1783080"/>
            <a:ext cx="914400" cy="292608"/>
          </a:xfrm>
          <a:prstGeom prst="rect">
            <a:avLst/>
          </a:prstGeom>
          <a:noFill/>
          <a:ln/>
        </p:spPr>
        <p:txBody>
          <a:bodyPr wrap="square" lIns="0" tIns="0" rIns="0" bIns="0" rtlCol="0" anchor="ctr"/>
          <a:lstStyle/>
          <a:p>
            <a:pPr indent="0" marL="0">
              <a:buNone/>
            </a:pPr>
            <a:r>
              <a:rPr lang="en-US" sz="1250" b="1" dirty="0">
                <a:solidFill>
                  <a:srgbClr val="7A8AA3"/>
                </a:solidFill>
                <a:latin typeface="Arial" pitchFamily="34" charset="0"/>
                <a:ea typeface="Arial" pitchFamily="34" charset="-122"/>
                <a:cs typeface="Arial" pitchFamily="34" charset="-120"/>
              </a:rPr>
              <a:t>01</a:t>
            </a:r>
            <a:endParaRPr lang="en-US" sz="1250" dirty="0"/>
          </a:p>
        </p:txBody>
      </p:sp>
      <p:sp>
        <p:nvSpPr>
          <p:cNvPr id="9" name="Shape 6"/>
          <p:cNvSpPr/>
          <p:nvPr/>
        </p:nvSpPr>
        <p:spPr>
          <a:xfrm>
            <a:off x="1120140" y="1965960"/>
            <a:ext cx="1554480" cy="1554480"/>
          </a:xfrm>
          <a:prstGeom prst="ellipse">
            <a:avLst/>
          </a:prstGeom>
          <a:solidFill>
            <a:srgbClr val="E4E9F0"/>
          </a:solidFill>
          <a:ln/>
        </p:spPr>
      </p:sp>
      <p:sp>
        <p:nvSpPr>
          <p:cNvPr id="10" name="Shape 7"/>
          <p:cNvSpPr/>
          <p:nvPr/>
        </p:nvSpPr>
        <p:spPr>
          <a:xfrm>
            <a:off x="1412748" y="2331720"/>
            <a:ext cx="201168" cy="201168"/>
          </a:xfrm>
          <a:prstGeom prst="ellipse">
            <a:avLst/>
          </a:prstGeom>
          <a:solidFill>
            <a:srgbClr val="A6B4C9"/>
          </a:solidFill>
          <a:ln/>
        </p:spPr>
      </p:sp>
      <p:sp>
        <p:nvSpPr>
          <p:cNvPr id="11" name="Shape 8"/>
          <p:cNvSpPr/>
          <p:nvPr/>
        </p:nvSpPr>
        <p:spPr>
          <a:xfrm>
            <a:off x="1979676" y="2185416"/>
            <a:ext cx="201168" cy="201168"/>
          </a:xfrm>
          <a:prstGeom prst="ellipse">
            <a:avLst/>
          </a:prstGeom>
          <a:solidFill>
            <a:srgbClr val="A6B4C9"/>
          </a:solidFill>
          <a:ln/>
        </p:spPr>
      </p:sp>
      <p:sp>
        <p:nvSpPr>
          <p:cNvPr id="12" name="Shape 9"/>
          <p:cNvSpPr/>
          <p:nvPr/>
        </p:nvSpPr>
        <p:spPr>
          <a:xfrm>
            <a:off x="2199132" y="2734056"/>
            <a:ext cx="201168" cy="201168"/>
          </a:xfrm>
          <a:prstGeom prst="ellipse">
            <a:avLst/>
          </a:prstGeom>
          <a:solidFill>
            <a:srgbClr val="A6B4C9"/>
          </a:solidFill>
          <a:ln/>
        </p:spPr>
      </p:sp>
      <p:sp>
        <p:nvSpPr>
          <p:cNvPr id="13" name="Shape 10"/>
          <p:cNvSpPr/>
          <p:nvPr/>
        </p:nvSpPr>
        <p:spPr>
          <a:xfrm>
            <a:off x="1668780" y="3026664"/>
            <a:ext cx="201168" cy="201168"/>
          </a:xfrm>
          <a:prstGeom prst="ellipse">
            <a:avLst/>
          </a:prstGeom>
          <a:solidFill>
            <a:srgbClr val="A6B4C9"/>
          </a:solidFill>
          <a:ln/>
        </p:spPr>
      </p:sp>
      <p:sp>
        <p:nvSpPr>
          <p:cNvPr id="14" name="Shape 11"/>
          <p:cNvSpPr/>
          <p:nvPr/>
        </p:nvSpPr>
        <p:spPr>
          <a:xfrm>
            <a:off x="1293876" y="2788920"/>
            <a:ext cx="201168" cy="201168"/>
          </a:xfrm>
          <a:prstGeom prst="ellipse">
            <a:avLst/>
          </a:prstGeom>
          <a:solidFill>
            <a:srgbClr val="A6B4C9"/>
          </a:solidFill>
          <a:ln/>
        </p:spPr>
      </p:sp>
      <p:sp>
        <p:nvSpPr>
          <p:cNvPr id="15" name="Shape 12"/>
          <p:cNvSpPr/>
          <p:nvPr/>
        </p:nvSpPr>
        <p:spPr>
          <a:xfrm>
            <a:off x="1888236" y="2715768"/>
            <a:ext cx="201168" cy="201168"/>
          </a:xfrm>
          <a:prstGeom prst="ellipse">
            <a:avLst/>
          </a:prstGeom>
          <a:solidFill>
            <a:srgbClr val="A6B4C9"/>
          </a:solidFill>
          <a:ln/>
        </p:spPr>
      </p:sp>
      <p:sp>
        <p:nvSpPr>
          <p:cNvPr id="16" name="Text 13"/>
          <p:cNvSpPr txBox="1"/>
          <p:nvPr/>
        </p:nvSpPr>
        <p:spPr>
          <a:xfrm>
            <a:off x="868680" y="3703320"/>
            <a:ext cx="2057400" cy="365760"/>
          </a:xfrm>
          <a:prstGeom prst="rect">
            <a:avLst/>
          </a:prstGeom>
          <a:noFill/>
          <a:ln/>
        </p:spPr>
        <p:txBody>
          <a:bodyPr wrap="square" lIns="0" tIns="0" rIns="0" bIns="0" rtlCol="0" anchor="ctr"/>
          <a:lstStyle/>
          <a:p>
            <a:pPr indent="0" marL="0">
              <a:buNone/>
            </a:pPr>
            <a:r>
              <a:rPr lang="en-US" sz="1500" b="1" dirty="0">
                <a:solidFill>
                  <a:srgbClr val="7A8AA3"/>
                </a:solidFill>
                <a:latin typeface="Arial" pitchFamily="34" charset="0"/>
                <a:ea typeface="Arial" pitchFamily="34" charset="-122"/>
                <a:cs typeface="Arial" pitchFamily="34" charset="-120"/>
              </a:rPr>
              <a:t>大きな市場</a:t>
            </a:r>
            <a:endParaRPr lang="en-US" sz="1500" dirty="0"/>
          </a:p>
        </p:txBody>
      </p:sp>
      <p:sp>
        <p:nvSpPr>
          <p:cNvPr id="17" name="Text 14"/>
          <p:cNvSpPr txBox="1"/>
          <p:nvPr/>
        </p:nvSpPr>
        <p:spPr>
          <a:xfrm>
            <a:off x="868680" y="4114800"/>
            <a:ext cx="2057400" cy="64008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競合だらけで、</a:t>
            </a:r>
            <a:endParaRPr lang="en-US" sz="1150" dirty="0"/>
          </a:p>
          <a:p>
            <a:pPr indent="0" marL="0">
              <a:lnSpc>
                <a:spcPts val="1700"/>
              </a:lnSpc>
              <a:buNone/>
            </a:pPr>
            <a:r>
              <a:rPr lang="en-US" sz="1150" dirty="0">
                <a:solidFill>
                  <a:srgbClr val="3A4A61"/>
                </a:solidFill>
                <a:latin typeface="Arial" pitchFamily="34" charset="0"/>
                <a:ea typeface="Arial" pitchFamily="34" charset="-122"/>
                <a:cs typeface="Arial" pitchFamily="34" charset="-120"/>
              </a:rPr>
              <a:t>誰にも刺さらない</a:t>
            </a:r>
            <a:endParaRPr lang="en-US" sz="1150" dirty="0"/>
          </a:p>
        </p:txBody>
      </p:sp>
      <p:sp>
        <p:nvSpPr>
          <p:cNvPr id="18" name="Shape 15"/>
          <p:cNvSpPr/>
          <p:nvPr/>
        </p:nvSpPr>
        <p:spPr>
          <a:xfrm rot="5400000">
            <a:off x="3195828" y="2664744"/>
            <a:ext cx="201168" cy="156911"/>
          </a:xfrm>
          <a:prstGeom prst="triangle">
            <a:avLst/>
          </a:prstGeom>
          <a:solidFill>
            <a:srgbClr val="1E6FE8"/>
          </a:solidFill>
          <a:ln/>
        </p:spPr>
      </p:sp>
      <p:sp>
        <p:nvSpPr>
          <p:cNvPr id="19" name="Shape 16"/>
          <p:cNvSpPr/>
          <p:nvPr/>
        </p:nvSpPr>
        <p:spPr>
          <a:xfrm>
            <a:off x="3392424" y="1600200"/>
            <a:ext cx="2606040" cy="3246120"/>
          </a:xfrm>
          <a:prstGeom prst="roundRect">
            <a:avLst>
              <a:gd name="adj" fmla="val 2807"/>
            </a:avLst>
          </a:prstGeom>
          <a:solidFill>
            <a:srgbClr val="E8F0FC"/>
          </a:solidFill>
          <a:ln/>
        </p:spPr>
      </p:sp>
      <p:sp>
        <p:nvSpPr>
          <p:cNvPr id="20" name="Text 17"/>
          <p:cNvSpPr txBox="1"/>
          <p:nvPr/>
        </p:nvSpPr>
        <p:spPr>
          <a:xfrm>
            <a:off x="3666744" y="1783080"/>
            <a:ext cx="914400" cy="292608"/>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02</a:t>
            </a:r>
            <a:endParaRPr lang="en-US" sz="1250" dirty="0"/>
          </a:p>
        </p:txBody>
      </p:sp>
      <p:sp>
        <p:nvSpPr>
          <p:cNvPr id="21" name="Shape 18"/>
          <p:cNvSpPr/>
          <p:nvPr/>
        </p:nvSpPr>
        <p:spPr>
          <a:xfrm>
            <a:off x="3918204" y="1965960"/>
            <a:ext cx="1554480" cy="1554480"/>
          </a:xfrm>
          <a:prstGeom prst="ellipse">
            <a:avLst/>
          </a:prstGeom>
          <a:solidFill>
            <a:srgbClr val="EDF1F6"/>
          </a:solidFill>
          <a:ln/>
        </p:spPr>
      </p:sp>
      <p:sp>
        <p:nvSpPr>
          <p:cNvPr id="22" name="Shape 19"/>
          <p:cNvSpPr/>
          <p:nvPr/>
        </p:nvSpPr>
        <p:spPr>
          <a:xfrm>
            <a:off x="4393692" y="2441448"/>
            <a:ext cx="603504" cy="603504"/>
          </a:xfrm>
          <a:prstGeom prst="ellipse">
            <a:avLst/>
          </a:prstGeom>
          <a:solidFill>
            <a:srgbClr val="1E6FE8"/>
          </a:solidFill>
          <a:ln/>
        </p:spPr>
      </p:sp>
      <p:sp>
        <p:nvSpPr>
          <p:cNvPr id="23" name="Text 20"/>
          <p:cNvSpPr txBox="1"/>
          <p:nvPr/>
        </p:nvSpPr>
        <p:spPr>
          <a:xfrm>
            <a:off x="3666744" y="370332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小さな課題市場</a:t>
            </a:r>
            <a:endParaRPr lang="en-US" sz="1500" dirty="0"/>
          </a:p>
        </p:txBody>
      </p:sp>
      <p:sp>
        <p:nvSpPr>
          <p:cNvPr id="24" name="Text 21"/>
          <p:cNvSpPr txBox="1"/>
          <p:nvPr/>
        </p:nvSpPr>
        <p:spPr>
          <a:xfrm>
            <a:off x="3666744" y="4114800"/>
            <a:ext cx="2057400" cy="64008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特定の課題を持つ、</a:t>
            </a:r>
            <a:endParaRPr lang="en-US" sz="1150" dirty="0"/>
          </a:p>
          <a:p>
            <a:pPr indent="0" marL="0">
              <a:lnSpc>
                <a:spcPts val="1700"/>
              </a:lnSpc>
              <a:buNone/>
            </a:pPr>
            <a:r>
              <a:rPr lang="en-US" sz="1150" dirty="0">
                <a:solidFill>
                  <a:srgbClr val="3A4A61"/>
                </a:solidFill>
                <a:latin typeface="Arial" pitchFamily="34" charset="0"/>
                <a:ea typeface="Arial" pitchFamily="34" charset="-122"/>
                <a:cs typeface="Arial" pitchFamily="34" charset="-120"/>
              </a:rPr>
              <a:t>小さな顧客群に絞る</a:t>
            </a:r>
            <a:endParaRPr lang="en-US" sz="1150" dirty="0"/>
          </a:p>
        </p:txBody>
      </p:sp>
      <p:sp>
        <p:nvSpPr>
          <p:cNvPr id="25" name="Shape 22"/>
          <p:cNvSpPr/>
          <p:nvPr/>
        </p:nvSpPr>
        <p:spPr>
          <a:xfrm rot="5400000">
            <a:off x="5993892" y="2664744"/>
            <a:ext cx="201168" cy="156911"/>
          </a:xfrm>
          <a:prstGeom prst="triangle">
            <a:avLst/>
          </a:prstGeom>
          <a:solidFill>
            <a:srgbClr val="1E6FE8"/>
          </a:solidFill>
          <a:ln/>
        </p:spPr>
      </p:sp>
      <p:sp>
        <p:nvSpPr>
          <p:cNvPr id="26" name="Shape 23"/>
          <p:cNvSpPr/>
          <p:nvPr/>
        </p:nvSpPr>
        <p:spPr>
          <a:xfrm>
            <a:off x="6190488" y="1600200"/>
            <a:ext cx="2606040" cy="3246120"/>
          </a:xfrm>
          <a:prstGeom prst="roundRect">
            <a:avLst>
              <a:gd name="adj" fmla="val 2807"/>
            </a:avLst>
          </a:prstGeom>
          <a:solidFill>
            <a:srgbClr val="E8F0FC"/>
          </a:solidFill>
          <a:ln/>
        </p:spPr>
      </p:sp>
      <p:sp>
        <p:nvSpPr>
          <p:cNvPr id="27" name="Text 24"/>
          <p:cNvSpPr txBox="1"/>
          <p:nvPr/>
        </p:nvSpPr>
        <p:spPr>
          <a:xfrm>
            <a:off x="6464808" y="1783080"/>
            <a:ext cx="914400" cy="292608"/>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03</a:t>
            </a:r>
            <a:endParaRPr lang="en-US" sz="1250" dirty="0"/>
          </a:p>
        </p:txBody>
      </p:sp>
      <p:sp>
        <p:nvSpPr>
          <p:cNvPr id="28" name="Shape 25"/>
          <p:cNvSpPr/>
          <p:nvPr/>
        </p:nvSpPr>
        <p:spPr>
          <a:xfrm>
            <a:off x="6716268" y="1965960"/>
            <a:ext cx="1554480" cy="1554480"/>
          </a:xfrm>
          <a:prstGeom prst="ellipse">
            <a:avLst/>
          </a:prstGeom>
          <a:solidFill>
            <a:srgbClr val="EDF1F6"/>
          </a:solidFill>
          <a:ln/>
        </p:spPr>
      </p:sp>
      <p:sp>
        <p:nvSpPr>
          <p:cNvPr id="29" name="Shape 26"/>
          <p:cNvSpPr/>
          <p:nvPr/>
        </p:nvSpPr>
        <p:spPr>
          <a:xfrm>
            <a:off x="6944868" y="2194560"/>
            <a:ext cx="1097280" cy="1097280"/>
          </a:xfrm>
          <a:prstGeom prst="ellipse">
            <a:avLst/>
          </a:prstGeom>
          <a:solidFill>
            <a:srgbClr val="D6E6FB"/>
          </a:solidFill>
          <a:ln/>
        </p:spPr>
      </p:sp>
      <p:sp>
        <p:nvSpPr>
          <p:cNvPr id="30" name="Shape 27"/>
          <p:cNvSpPr/>
          <p:nvPr/>
        </p:nvSpPr>
        <p:spPr>
          <a:xfrm>
            <a:off x="7109460" y="2359152"/>
            <a:ext cx="768096" cy="768096"/>
          </a:xfrm>
          <a:prstGeom prst="ellipse">
            <a:avLst/>
          </a:prstGeom>
          <a:solidFill>
            <a:srgbClr val="1E6FE8"/>
          </a:solidFill>
          <a:ln/>
        </p:spPr>
      </p:sp>
      <p:sp>
        <p:nvSpPr>
          <p:cNvPr id="31" name="Text 28"/>
          <p:cNvSpPr txBox="1"/>
          <p:nvPr/>
        </p:nvSpPr>
        <p:spPr>
          <a:xfrm>
            <a:off x="7109460" y="2359152"/>
            <a:ext cx="768096" cy="76809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PMF</a:t>
            </a:r>
            <a:endParaRPr lang="en-US" sz="1150" dirty="0"/>
          </a:p>
        </p:txBody>
      </p:sp>
      <p:sp>
        <p:nvSpPr>
          <p:cNvPr id="32" name="Text 29"/>
          <p:cNvSpPr txBox="1"/>
          <p:nvPr/>
        </p:nvSpPr>
        <p:spPr>
          <a:xfrm>
            <a:off x="6464808" y="370332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小さなPMF</a:t>
            </a:r>
            <a:endParaRPr lang="en-US" sz="1500" dirty="0"/>
          </a:p>
        </p:txBody>
      </p:sp>
      <p:sp>
        <p:nvSpPr>
          <p:cNvPr id="33" name="Text 30"/>
          <p:cNvSpPr txBox="1"/>
          <p:nvPr/>
        </p:nvSpPr>
        <p:spPr>
          <a:xfrm>
            <a:off x="6464808" y="4114800"/>
            <a:ext cx="2057400" cy="64008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その人たちに</a:t>
            </a:r>
            <a:endParaRPr lang="en-US" sz="1150" dirty="0"/>
          </a:p>
          <a:p>
            <a:pPr indent="0" marL="0">
              <a:lnSpc>
                <a:spcPts val="1700"/>
              </a:lnSpc>
              <a:buNone/>
            </a:pPr>
            <a:r>
              <a:rPr lang="en-US" sz="1150" dirty="0">
                <a:solidFill>
                  <a:srgbClr val="3A4A61"/>
                </a:solidFill>
                <a:latin typeface="Arial" pitchFamily="34" charset="0"/>
                <a:ea typeface="Arial" pitchFamily="34" charset="-122"/>
                <a:cs typeface="Arial" pitchFamily="34" charset="-120"/>
              </a:rPr>
              <a:t>圧倒的に支持される</a:t>
            </a:r>
            <a:endParaRPr lang="en-US" sz="1150" dirty="0"/>
          </a:p>
        </p:txBody>
      </p:sp>
      <p:sp>
        <p:nvSpPr>
          <p:cNvPr id="34" name="Shape 31"/>
          <p:cNvSpPr/>
          <p:nvPr/>
        </p:nvSpPr>
        <p:spPr>
          <a:xfrm rot="5400000">
            <a:off x="8791956" y="2664744"/>
            <a:ext cx="201168" cy="156911"/>
          </a:xfrm>
          <a:prstGeom prst="triangle">
            <a:avLst/>
          </a:prstGeom>
          <a:solidFill>
            <a:srgbClr val="1E6FE8"/>
          </a:solidFill>
          <a:ln/>
        </p:spPr>
      </p:sp>
      <p:sp>
        <p:nvSpPr>
          <p:cNvPr id="35" name="Shape 32"/>
          <p:cNvSpPr/>
          <p:nvPr/>
        </p:nvSpPr>
        <p:spPr>
          <a:xfrm>
            <a:off x="8988552" y="1600200"/>
            <a:ext cx="2606040" cy="3246120"/>
          </a:xfrm>
          <a:prstGeom prst="roundRect">
            <a:avLst>
              <a:gd name="adj" fmla="val 2807"/>
            </a:avLst>
          </a:prstGeom>
          <a:solidFill>
            <a:srgbClr val="E8F0FC"/>
          </a:solidFill>
          <a:ln/>
        </p:spPr>
      </p:sp>
      <p:sp>
        <p:nvSpPr>
          <p:cNvPr id="36" name="Text 33"/>
          <p:cNvSpPr txBox="1"/>
          <p:nvPr/>
        </p:nvSpPr>
        <p:spPr>
          <a:xfrm>
            <a:off x="9262872" y="1783080"/>
            <a:ext cx="914400" cy="292608"/>
          </a:xfrm>
          <a:prstGeom prst="rect">
            <a:avLst/>
          </a:prstGeom>
          <a:noFill/>
          <a:ln/>
        </p:spPr>
        <p:txBody>
          <a:bodyPr wrap="square" lIns="0" tIns="0" rIns="0" bIns="0" rtlCol="0" anchor="ctr"/>
          <a:lstStyle/>
          <a:p>
            <a:pPr indent="0" marL="0">
              <a:buNone/>
            </a:pPr>
            <a:r>
              <a:rPr lang="en-US" sz="1250" b="1" dirty="0">
                <a:solidFill>
                  <a:srgbClr val="1E6FE8"/>
                </a:solidFill>
                <a:latin typeface="Arial" pitchFamily="34" charset="0"/>
                <a:ea typeface="Arial" pitchFamily="34" charset="-122"/>
                <a:cs typeface="Arial" pitchFamily="34" charset="-120"/>
              </a:rPr>
              <a:t>04</a:t>
            </a:r>
            <a:endParaRPr lang="en-US" sz="1250" dirty="0"/>
          </a:p>
        </p:txBody>
      </p:sp>
      <p:sp>
        <p:nvSpPr>
          <p:cNvPr id="37" name="Shape 34"/>
          <p:cNvSpPr/>
          <p:nvPr/>
        </p:nvSpPr>
        <p:spPr>
          <a:xfrm>
            <a:off x="9514332" y="1965960"/>
            <a:ext cx="1554480" cy="1554480"/>
          </a:xfrm>
          <a:prstGeom prst="ellipse">
            <a:avLst/>
          </a:prstGeom>
          <a:solidFill>
            <a:srgbClr val="EDF1F6"/>
          </a:solidFill>
          <a:ln/>
        </p:spPr>
      </p:sp>
      <p:sp>
        <p:nvSpPr>
          <p:cNvPr id="38" name="Shape 35"/>
          <p:cNvSpPr/>
          <p:nvPr/>
        </p:nvSpPr>
        <p:spPr>
          <a:xfrm>
            <a:off x="9514332" y="1965960"/>
            <a:ext cx="1554480" cy="1554480"/>
          </a:xfrm>
          <a:prstGeom prst="ellipse">
            <a:avLst/>
          </a:prstGeom>
          <a:solidFill>
            <a:srgbClr val="FFFFFF"/>
          </a:solidFill>
          <a:ln w="15875">
            <a:solidFill>
              <a:srgbClr val="1E6FE8"/>
            </a:solidFill>
            <a:prstDash val="solid"/>
          </a:ln>
        </p:spPr>
      </p:sp>
      <p:sp>
        <p:nvSpPr>
          <p:cNvPr id="39" name="Shape 36"/>
          <p:cNvSpPr/>
          <p:nvPr/>
        </p:nvSpPr>
        <p:spPr>
          <a:xfrm>
            <a:off x="9761220" y="2212848"/>
            <a:ext cx="1060704" cy="1060704"/>
          </a:xfrm>
          <a:prstGeom prst="ellipse">
            <a:avLst/>
          </a:prstGeom>
          <a:solidFill>
            <a:srgbClr val="E8F0FC"/>
          </a:solidFill>
          <a:ln w="12700">
            <a:solidFill>
              <a:srgbClr val="AFC6E8"/>
            </a:solidFill>
            <a:prstDash val="solid"/>
          </a:ln>
        </p:spPr>
      </p:sp>
      <p:sp>
        <p:nvSpPr>
          <p:cNvPr id="40" name="Shape 37"/>
          <p:cNvSpPr/>
          <p:nvPr/>
        </p:nvSpPr>
        <p:spPr>
          <a:xfrm>
            <a:off x="9998964" y="2450592"/>
            <a:ext cx="585216" cy="585216"/>
          </a:xfrm>
          <a:prstGeom prst="ellipse">
            <a:avLst/>
          </a:prstGeom>
          <a:solidFill>
            <a:srgbClr val="1E6FE8"/>
          </a:solidFill>
          <a:ln/>
        </p:spPr>
      </p:sp>
      <p:sp>
        <p:nvSpPr>
          <p:cNvPr id="41" name="Shape 38"/>
          <p:cNvSpPr/>
          <p:nvPr/>
        </p:nvSpPr>
        <p:spPr>
          <a:xfrm rot="5400000">
            <a:off x="11169396" y="2671877"/>
            <a:ext cx="182880" cy="142646"/>
          </a:xfrm>
          <a:prstGeom prst="triangle">
            <a:avLst/>
          </a:prstGeom>
          <a:solidFill>
            <a:srgbClr val="1E6FE8"/>
          </a:solidFill>
          <a:ln/>
        </p:spPr>
      </p:sp>
      <p:sp>
        <p:nvSpPr>
          <p:cNvPr id="42" name="Shape 39"/>
          <p:cNvSpPr/>
          <p:nvPr/>
        </p:nvSpPr>
        <p:spPr>
          <a:xfrm rot="16200000">
            <a:off x="9230868" y="2671877"/>
            <a:ext cx="182880" cy="142646"/>
          </a:xfrm>
          <a:prstGeom prst="triangle">
            <a:avLst/>
          </a:prstGeom>
          <a:solidFill>
            <a:srgbClr val="1E6FE8"/>
          </a:solidFill>
          <a:ln/>
        </p:spPr>
      </p:sp>
      <p:sp>
        <p:nvSpPr>
          <p:cNvPr id="43" name="Shape 40"/>
          <p:cNvSpPr/>
          <p:nvPr/>
        </p:nvSpPr>
        <p:spPr>
          <a:xfrm>
            <a:off x="10200132" y="1702613"/>
            <a:ext cx="182880" cy="142646"/>
          </a:xfrm>
          <a:prstGeom prst="triangle">
            <a:avLst/>
          </a:prstGeom>
          <a:solidFill>
            <a:srgbClr val="1E6FE8"/>
          </a:solidFill>
          <a:ln/>
        </p:spPr>
      </p:sp>
      <p:sp>
        <p:nvSpPr>
          <p:cNvPr id="44" name="Shape 41"/>
          <p:cNvSpPr/>
          <p:nvPr/>
        </p:nvSpPr>
        <p:spPr>
          <a:xfrm rot="10800000">
            <a:off x="10200132" y="3641141"/>
            <a:ext cx="182880" cy="142646"/>
          </a:xfrm>
          <a:prstGeom prst="triangle">
            <a:avLst/>
          </a:prstGeom>
          <a:solidFill>
            <a:srgbClr val="1E6FE8"/>
          </a:solidFill>
          <a:ln/>
        </p:spPr>
      </p:sp>
      <p:sp>
        <p:nvSpPr>
          <p:cNvPr id="45" name="Text 42"/>
          <p:cNvSpPr txBox="1"/>
          <p:nvPr/>
        </p:nvSpPr>
        <p:spPr>
          <a:xfrm>
            <a:off x="9262872" y="3703320"/>
            <a:ext cx="2057400" cy="365760"/>
          </a:xfrm>
          <a:prstGeom prst="rect">
            <a:avLst/>
          </a:prstGeom>
          <a:noFill/>
          <a:ln/>
        </p:spPr>
        <p:txBody>
          <a:bodyPr wrap="square" lIns="0" tIns="0" rIns="0" bIns="0" rtlCol="0" anchor="ctr"/>
          <a:lstStyle/>
          <a:p>
            <a:pPr indent="0" marL="0">
              <a:buNone/>
            </a:pPr>
            <a:r>
              <a:rPr lang="en-US" sz="1500" b="1" dirty="0">
                <a:solidFill>
                  <a:srgbClr val="0E1B2C"/>
                </a:solidFill>
                <a:latin typeface="Arial" pitchFamily="34" charset="0"/>
                <a:ea typeface="Arial" pitchFamily="34" charset="-122"/>
                <a:cs typeface="Arial" pitchFamily="34" charset="-120"/>
              </a:rPr>
              <a:t>市場拡張</a:t>
            </a:r>
            <a:endParaRPr lang="en-US" sz="1500" dirty="0"/>
          </a:p>
        </p:txBody>
      </p:sp>
      <p:sp>
        <p:nvSpPr>
          <p:cNvPr id="46" name="Text 43"/>
          <p:cNvSpPr txBox="1"/>
          <p:nvPr/>
        </p:nvSpPr>
        <p:spPr>
          <a:xfrm>
            <a:off x="9262872" y="4114800"/>
            <a:ext cx="2057400" cy="640080"/>
          </a:xfrm>
          <a:prstGeom prst="rect">
            <a:avLst/>
          </a:prstGeom>
          <a:noFill/>
          <a:ln/>
        </p:spPr>
        <p:txBody>
          <a:bodyPr wrap="square" lIns="0" tIns="0" rIns="0" bIns="0" rtlCol="0" anchor="t"/>
          <a:lstStyle/>
          <a:p>
            <a:pPr indent="0" marL="0">
              <a:lnSpc>
                <a:spcPts val="1700"/>
              </a:lnSpc>
              <a:buNone/>
            </a:pPr>
            <a:r>
              <a:rPr lang="en-US" sz="1150" dirty="0">
                <a:solidFill>
                  <a:srgbClr val="3A4A61"/>
                </a:solidFill>
                <a:latin typeface="Arial" pitchFamily="34" charset="0"/>
                <a:ea typeface="Arial" pitchFamily="34" charset="-122"/>
                <a:cs typeface="Arial" pitchFamily="34" charset="-120"/>
              </a:rPr>
              <a:t>隣接層・利用シーンへ</a:t>
            </a:r>
            <a:endParaRPr lang="en-US" sz="1150" dirty="0"/>
          </a:p>
          <a:p>
            <a:pPr indent="0" marL="0">
              <a:lnSpc>
                <a:spcPts val="1700"/>
              </a:lnSpc>
              <a:buNone/>
            </a:pPr>
            <a:r>
              <a:rPr lang="en-US" sz="1150" dirty="0">
                <a:solidFill>
                  <a:srgbClr val="3A4A61"/>
                </a:solidFill>
                <a:latin typeface="Arial" pitchFamily="34" charset="0"/>
                <a:ea typeface="Arial" pitchFamily="34" charset="-122"/>
                <a:cs typeface="Arial" pitchFamily="34" charset="-120"/>
              </a:rPr>
              <a:t>広げ、ブランド化</a:t>
            </a:r>
            <a:endParaRPr lang="en-US" sz="1150" dirty="0"/>
          </a:p>
        </p:txBody>
      </p:sp>
      <p:sp>
        <p:nvSpPr>
          <p:cNvPr id="47" name="Text 44"/>
          <p:cNvSpPr txBox="1"/>
          <p:nvPr/>
        </p:nvSpPr>
        <p:spPr>
          <a:xfrm>
            <a:off x="594360" y="4983480"/>
            <a:ext cx="10972800" cy="320040"/>
          </a:xfrm>
          <a:prstGeom prst="rect">
            <a:avLst/>
          </a:prstGeom>
          <a:noFill/>
          <a:ln/>
        </p:spPr>
        <p:txBody>
          <a:bodyPr wrap="square" lIns="0" tIns="0" rIns="0" bIns="0" rtlCol="0" anchor="ctr"/>
          <a:lstStyle/>
          <a:p>
            <a:pPr indent="0" marL="0">
              <a:buNone/>
            </a:pPr>
            <a:r>
              <a:rPr lang="en-US" sz="1100" dirty="0">
                <a:solidFill>
                  <a:srgbClr val="7A8AA3"/>
                </a:solidFill>
                <a:latin typeface="Arial" pitchFamily="34" charset="0"/>
                <a:ea typeface="Arial" pitchFamily="34" charset="-122"/>
                <a:cs typeface="Arial" pitchFamily="34" charset="-120"/>
              </a:rPr>
              <a:t>小さなPMFのサイン　│　レビュー評価が高い ／ 内容が具体的 ／ リピートされる ／ 人に紹介される ／ 指名検索される ／ 「他の商品に戻れない」と言われる</a:t>
            </a:r>
            <a:endParaRPr lang="en-US" sz="1100" dirty="0"/>
          </a:p>
        </p:txBody>
      </p:sp>
      <p:sp>
        <p:nvSpPr>
          <p:cNvPr id="48" name="Shape 45"/>
          <p:cNvSpPr/>
          <p:nvPr/>
        </p:nvSpPr>
        <p:spPr>
          <a:xfrm>
            <a:off x="594360" y="5440680"/>
            <a:ext cx="11000232" cy="777240"/>
          </a:xfrm>
          <a:prstGeom prst="roundRect">
            <a:avLst>
              <a:gd name="adj" fmla="val 10588"/>
            </a:avLst>
          </a:prstGeom>
          <a:solidFill>
            <a:srgbClr val="E8F0FC"/>
          </a:solidFill>
          <a:ln/>
        </p:spPr>
      </p:sp>
      <p:sp>
        <p:nvSpPr>
          <p:cNvPr id="49" name="Text 46"/>
          <p:cNvSpPr txBox="1"/>
          <p:nvPr/>
        </p:nvSpPr>
        <p:spPr>
          <a:xfrm>
            <a:off x="960120" y="5440680"/>
            <a:ext cx="10268712" cy="777240"/>
          </a:xfrm>
          <a:prstGeom prst="rect">
            <a:avLst/>
          </a:prstGeom>
          <a:noFill/>
          <a:ln/>
        </p:spPr>
        <p:txBody>
          <a:bodyPr wrap="square" lIns="0" tIns="0" rIns="0" bIns="0" rtlCol="0" anchor="ctr"/>
          <a:lstStyle/>
          <a:p>
            <a:pPr algn="l" indent="0" marL="0">
              <a:buNone/>
            </a:pPr>
            <a:r>
              <a:rPr lang="en-US" sz="1700" b="1" dirty="0">
                <a:solidFill>
                  <a:srgbClr val="1E6FE8"/>
                </a:solidFill>
                <a:latin typeface="Arial" pitchFamily="34" charset="0"/>
                <a:ea typeface="Arial" pitchFamily="34" charset="-122"/>
                <a:cs typeface="Arial" pitchFamily="34" charset="-120"/>
              </a:rPr>
              <a:t>順番が逆　</a:t>
            </a:r>
            <a:pPr algn="l" indent="0" marL="0">
              <a:buNone/>
            </a:pPr>
            <a:r>
              <a:rPr lang="en-US" sz="1700" b="1" dirty="0">
                <a:solidFill>
                  <a:srgbClr val="0E1B2C"/>
                </a:solidFill>
                <a:latin typeface="Arial" pitchFamily="34" charset="0"/>
                <a:ea typeface="Arial" pitchFamily="34" charset="-122"/>
                <a:cs typeface="Arial" pitchFamily="34" charset="-120"/>
              </a:rPr>
              <a:t>「広く売ってからファンを作る」のではなく、「小さなファンを作ってから広く売る」。</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21</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THE PAYOFF</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商品が強ければ、広告は「説得」ではなくなる</a:t>
            </a:r>
            <a:endParaRPr lang="en-US" sz="2600" dirty="0"/>
          </a:p>
        </p:txBody>
      </p:sp>
      <p:sp>
        <p:nvSpPr>
          <p:cNvPr id="7" name="Shape 4"/>
          <p:cNvSpPr/>
          <p:nvPr/>
        </p:nvSpPr>
        <p:spPr>
          <a:xfrm>
            <a:off x="594360" y="1645920"/>
            <a:ext cx="5349240" cy="3520440"/>
          </a:xfrm>
          <a:prstGeom prst="roundRect">
            <a:avLst>
              <a:gd name="adj" fmla="val 2078"/>
            </a:avLst>
          </a:prstGeom>
          <a:solidFill>
            <a:srgbClr val="F4F6F9"/>
          </a:solidFill>
          <a:ln/>
        </p:spPr>
      </p:sp>
      <p:sp>
        <p:nvSpPr>
          <p:cNvPr id="8" name="Text 5"/>
          <p:cNvSpPr txBox="1"/>
          <p:nvPr/>
        </p:nvSpPr>
        <p:spPr>
          <a:xfrm>
            <a:off x="960120" y="1874520"/>
            <a:ext cx="2743200" cy="365760"/>
          </a:xfrm>
          <a:prstGeom prst="rect">
            <a:avLst/>
          </a:prstGeom>
          <a:noFill/>
          <a:ln/>
        </p:spPr>
        <p:txBody>
          <a:bodyPr wrap="square" lIns="0" tIns="0" rIns="0" bIns="0" rtlCol="0" anchor="ctr"/>
          <a:lstStyle/>
          <a:p>
            <a:pPr indent="0" marL="0">
              <a:buNone/>
            </a:pPr>
            <a:r>
              <a:rPr lang="en-US" sz="1600" b="1" dirty="0">
                <a:solidFill>
                  <a:srgbClr val="7A8AA3"/>
                </a:solidFill>
                <a:latin typeface="Arial" pitchFamily="34" charset="0"/>
                <a:ea typeface="Arial" pitchFamily="34" charset="-122"/>
                <a:cs typeface="Arial" pitchFamily="34" charset="-120"/>
              </a:rPr>
              <a:t>弱い商品</a:t>
            </a:r>
            <a:endParaRPr lang="en-US" sz="1600" dirty="0"/>
          </a:p>
        </p:txBody>
      </p:sp>
      <p:sp>
        <p:nvSpPr>
          <p:cNvPr id="9" name="Shape 6"/>
          <p:cNvSpPr/>
          <p:nvPr/>
        </p:nvSpPr>
        <p:spPr>
          <a:xfrm>
            <a:off x="960120" y="2286000"/>
            <a:ext cx="4617720" cy="402336"/>
          </a:xfrm>
          <a:prstGeom prst="roundRect">
            <a:avLst>
              <a:gd name="adj" fmla="val 11364"/>
            </a:avLst>
          </a:prstGeom>
          <a:solidFill>
            <a:srgbClr val="FFFFFF"/>
          </a:solidFill>
          <a:ln/>
        </p:spPr>
      </p:sp>
      <p:sp>
        <p:nvSpPr>
          <p:cNvPr id="10" name="Text 7"/>
          <p:cNvSpPr txBox="1"/>
          <p:nvPr/>
        </p:nvSpPr>
        <p:spPr>
          <a:xfrm>
            <a:off x="960120" y="2286000"/>
            <a:ext cx="4617720" cy="402336"/>
          </a:xfrm>
          <a:prstGeom prst="rect">
            <a:avLst/>
          </a:prstGeom>
          <a:noFill/>
          <a:ln/>
        </p:spPr>
        <p:txBody>
          <a:bodyPr wrap="square" lIns="0" tIns="0" rIns="0" bIns="0" rtlCol="0" anchor="ctr"/>
          <a:lstStyle/>
          <a:p>
            <a:pPr algn="ctr" indent="0" marL="0">
              <a:buNone/>
            </a:pPr>
            <a:r>
              <a:rPr lang="en-US" sz="1350" b="1" dirty="0">
                <a:solidFill>
                  <a:srgbClr val="3A4A61"/>
                </a:solidFill>
                <a:latin typeface="Arial" pitchFamily="34" charset="0"/>
                <a:ea typeface="Arial" pitchFamily="34" charset="-122"/>
                <a:cs typeface="Arial" pitchFamily="34" charset="-120"/>
              </a:rPr>
              <a:t>広告</a:t>
            </a:r>
            <a:endParaRPr lang="en-US" sz="1350" dirty="0"/>
          </a:p>
        </p:txBody>
      </p:sp>
      <p:sp>
        <p:nvSpPr>
          <p:cNvPr id="11" name="Shape 8"/>
          <p:cNvSpPr/>
          <p:nvPr/>
        </p:nvSpPr>
        <p:spPr>
          <a:xfrm rot="10800000">
            <a:off x="3182112" y="2702052"/>
            <a:ext cx="164592" cy="91440"/>
          </a:xfrm>
          <a:prstGeom prst="triangle">
            <a:avLst/>
          </a:prstGeom>
          <a:solidFill>
            <a:srgbClr val="A6B4C9"/>
          </a:solidFill>
          <a:ln/>
        </p:spPr>
      </p:sp>
      <p:sp>
        <p:nvSpPr>
          <p:cNvPr id="12" name="Shape 9"/>
          <p:cNvSpPr/>
          <p:nvPr/>
        </p:nvSpPr>
        <p:spPr>
          <a:xfrm>
            <a:off x="960120" y="2788920"/>
            <a:ext cx="4617720" cy="402336"/>
          </a:xfrm>
          <a:prstGeom prst="roundRect">
            <a:avLst>
              <a:gd name="adj" fmla="val 11364"/>
            </a:avLst>
          </a:prstGeom>
          <a:solidFill>
            <a:srgbClr val="FCE9EB"/>
          </a:solidFill>
          <a:ln/>
        </p:spPr>
      </p:sp>
      <p:sp>
        <p:nvSpPr>
          <p:cNvPr id="13" name="Text 10"/>
          <p:cNvSpPr txBox="1"/>
          <p:nvPr/>
        </p:nvSpPr>
        <p:spPr>
          <a:xfrm>
            <a:off x="960120" y="2788920"/>
            <a:ext cx="4617720" cy="402336"/>
          </a:xfrm>
          <a:prstGeom prst="rect">
            <a:avLst/>
          </a:prstGeom>
          <a:noFill/>
          <a:ln/>
        </p:spPr>
        <p:txBody>
          <a:bodyPr wrap="square" lIns="0" tIns="0" rIns="0" bIns="0" rtlCol="0" anchor="ctr"/>
          <a:lstStyle/>
          <a:p>
            <a:pPr algn="ctr" indent="0" marL="0">
              <a:buNone/>
            </a:pPr>
            <a:r>
              <a:rPr lang="en-US" sz="1350" b="1" dirty="0">
                <a:solidFill>
                  <a:srgbClr val="BF0000"/>
                </a:solidFill>
                <a:latin typeface="Arial" pitchFamily="34" charset="0"/>
                <a:ea typeface="Arial" pitchFamily="34" charset="-122"/>
                <a:cs typeface="Arial" pitchFamily="34" charset="-120"/>
              </a:rPr>
              <a:t>説得</a:t>
            </a:r>
            <a:endParaRPr lang="en-US" sz="1350" dirty="0"/>
          </a:p>
        </p:txBody>
      </p:sp>
      <p:sp>
        <p:nvSpPr>
          <p:cNvPr id="14" name="Shape 11"/>
          <p:cNvSpPr/>
          <p:nvPr/>
        </p:nvSpPr>
        <p:spPr>
          <a:xfrm rot="10800000">
            <a:off x="3182112" y="3204972"/>
            <a:ext cx="164592" cy="91440"/>
          </a:xfrm>
          <a:prstGeom prst="triangle">
            <a:avLst/>
          </a:prstGeom>
          <a:solidFill>
            <a:srgbClr val="A6B4C9"/>
          </a:solidFill>
          <a:ln/>
        </p:spPr>
      </p:sp>
      <p:sp>
        <p:nvSpPr>
          <p:cNvPr id="15" name="Shape 12"/>
          <p:cNvSpPr/>
          <p:nvPr/>
        </p:nvSpPr>
        <p:spPr>
          <a:xfrm>
            <a:off x="960120" y="3291840"/>
            <a:ext cx="4617720" cy="402336"/>
          </a:xfrm>
          <a:prstGeom prst="roundRect">
            <a:avLst>
              <a:gd name="adj" fmla="val 11364"/>
            </a:avLst>
          </a:prstGeom>
          <a:solidFill>
            <a:srgbClr val="FCE9EB"/>
          </a:solidFill>
          <a:ln/>
        </p:spPr>
      </p:sp>
      <p:sp>
        <p:nvSpPr>
          <p:cNvPr id="16" name="Text 13"/>
          <p:cNvSpPr txBox="1"/>
          <p:nvPr/>
        </p:nvSpPr>
        <p:spPr>
          <a:xfrm>
            <a:off x="960120" y="3291840"/>
            <a:ext cx="4617720" cy="402336"/>
          </a:xfrm>
          <a:prstGeom prst="rect">
            <a:avLst/>
          </a:prstGeom>
          <a:noFill/>
          <a:ln/>
        </p:spPr>
        <p:txBody>
          <a:bodyPr wrap="square" lIns="0" tIns="0" rIns="0" bIns="0" rtlCol="0" anchor="ctr"/>
          <a:lstStyle/>
          <a:p>
            <a:pPr algn="ctr" indent="0" marL="0">
              <a:buNone/>
            </a:pPr>
            <a:r>
              <a:rPr lang="en-US" sz="1350" b="1" dirty="0">
                <a:solidFill>
                  <a:srgbClr val="BF0000"/>
                </a:solidFill>
                <a:latin typeface="Arial" pitchFamily="34" charset="0"/>
                <a:ea typeface="Arial" pitchFamily="34" charset="-122"/>
                <a:cs typeface="Arial" pitchFamily="34" charset="-120"/>
              </a:rPr>
              <a:t>説得</a:t>
            </a:r>
            <a:endParaRPr lang="en-US" sz="1350" dirty="0"/>
          </a:p>
        </p:txBody>
      </p:sp>
      <p:sp>
        <p:nvSpPr>
          <p:cNvPr id="17" name="Shape 14"/>
          <p:cNvSpPr/>
          <p:nvPr/>
        </p:nvSpPr>
        <p:spPr>
          <a:xfrm rot="10800000">
            <a:off x="3182112" y="3707892"/>
            <a:ext cx="164592" cy="91440"/>
          </a:xfrm>
          <a:prstGeom prst="triangle">
            <a:avLst/>
          </a:prstGeom>
          <a:solidFill>
            <a:srgbClr val="A6B4C9"/>
          </a:solidFill>
          <a:ln/>
        </p:spPr>
      </p:sp>
      <p:sp>
        <p:nvSpPr>
          <p:cNvPr id="18" name="Shape 15"/>
          <p:cNvSpPr/>
          <p:nvPr/>
        </p:nvSpPr>
        <p:spPr>
          <a:xfrm>
            <a:off x="960120" y="3794760"/>
            <a:ext cx="4617720" cy="402336"/>
          </a:xfrm>
          <a:prstGeom prst="roundRect">
            <a:avLst>
              <a:gd name="adj" fmla="val 11364"/>
            </a:avLst>
          </a:prstGeom>
          <a:solidFill>
            <a:srgbClr val="FCE9EB"/>
          </a:solidFill>
          <a:ln/>
        </p:spPr>
      </p:sp>
      <p:sp>
        <p:nvSpPr>
          <p:cNvPr id="19" name="Text 16"/>
          <p:cNvSpPr txBox="1"/>
          <p:nvPr/>
        </p:nvSpPr>
        <p:spPr>
          <a:xfrm>
            <a:off x="960120" y="3794760"/>
            <a:ext cx="4617720" cy="402336"/>
          </a:xfrm>
          <a:prstGeom prst="rect">
            <a:avLst/>
          </a:prstGeom>
          <a:noFill/>
          <a:ln/>
        </p:spPr>
        <p:txBody>
          <a:bodyPr wrap="square" lIns="0" tIns="0" rIns="0" bIns="0" rtlCol="0" anchor="ctr"/>
          <a:lstStyle/>
          <a:p>
            <a:pPr algn="ctr" indent="0" marL="0">
              <a:buNone/>
            </a:pPr>
            <a:r>
              <a:rPr lang="en-US" sz="1350" b="1" dirty="0">
                <a:solidFill>
                  <a:srgbClr val="BF0000"/>
                </a:solidFill>
                <a:latin typeface="Arial" pitchFamily="34" charset="0"/>
                <a:ea typeface="Arial" pitchFamily="34" charset="-122"/>
                <a:cs typeface="Arial" pitchFamily="34" charset="-120"/>
              </a:rPr>
              <a:t>説得</a:t>
            </a:r>
            <a:endParaRPr lang="en-US" sz="1350" dirty="0"/>
          </a:p>
        </p:txBody>
      </p:sp>
      <p:sp>
        <p:nvSpPr>
          <p:cNvPr id="20" name="Shape 17"/>
          <p:cNvSpPr/>
          <p:nvPr/>
        </p:nvSpPr>
        <p:spPr>
          <a:xfrm rot="10800000">
            <a:off x="3182112" y="4210812"/>
            <a:ext cx="164592" cy="91440"/>
          </a:xfrm>
          <a:prstGeom prst="triangle">
            <a:avLst/>
          </a:prstGeom>
          <a:solidFill>
            <a:srgbClr val="A6B4C9"/>
          </a:solidFill>
          <a:ln/>
        </p:spPr>
      </p:sp>
      <p:sp>
        <p:nvSpPr>
          <p:cNvPr id="21" name="Shape 18"/>
          <p:cNvSpPr/>
          <p:nvPr/>
        </p:nvSpPr>
        <p:spPr>
          <a:xfrm>
            <a:off x="960120" y="4297680"/>
            <a:ext cx="4617720" cy="402336"/>
          </a:xfrm>
          <a:prstGeom prst="roundRect">
            <a:avLst>
              <a:gd name="adj" fmla="val 11364"/>
            </a:avLst>
          </a:prstGeom>
          <a:solidFill>
            <a:srgbClr val="FFFFFF"/>
          </a:solidFill>
          <a:ln/>
        </p:spPr>
      </p:sp>
      <p:sp>
        <p:nvSpPr>
          <p:cNvPr id="22" name="Text 19"/>
          <p:cNvSpPr txBox="1"/>
          <p:nvPr/>
        </p:nvSpPr>
        <p:spPr>
          <a:xfrm>
            <a:off x="960120" y="4297680"/>
            <a:ext cx="4617720" cy="402336"/>
          </a:xfrm>
          <a:prstGeom prst="rect">
            <a:avLst/>
          </a:prstGeom>
          <a:noFill/>
          <a:ln/>
        </p:spPr>
        <p:txBody>
          <a:bodyPr wrap="square" lIns="0" tIns="0" rIns="0" bIns="0" rtlCol="0" anchor="ctr"/>
          <a:lstStyle/>
          <a:p>
            <a:pPr algn="ctr" indent="0" marL="0">
              <a:buNone/>
            </a:pPr>
            <a:r>
              <a:rPr lang="en-US" sz="1350" b="1" dirty="0">
                <a:solidFill>
                  <a:srgbClr val="3A4A61"/>
                </a:solidFill>
                <a:latin typeface="Arial" pitchFamily="34" charset="0"/>
                <a:ea typeface="Arial" pitchFamily="34" charset="-122"/>
                <a:cs typeface="Arial" pitchFamily="34" charset="-120"/>
              </a:rPr>
              <a:t>購入</a:t>
            </a:r>
            <a:endParaRPr lang="en-US" sz="1350" dirty="0"/>
          </a:p>
        </p:txBody>
      </p:sp>
      <p:sp>
        <p:nvSpPr>
          <p:cNvPr id="23" name="Text 20"/>
          <p:cNvSpPr txBox="1"/>
          <p:nvPr/>
        </p:nvSpPr>
        <p:spPr>
          <a:xfrm>
            <a:off x="960120" y="4828032"/>
            <a:ext cx="4617720" cy="292608"/>
          </a:xfrm>
          <a:prstGeom prst="rect">
            <a:avLst/>
          </a:prstGeom>
          <a:noFill/>
          <a:ln/>
        </p:spPr>
        <p:txBody>
          <a:bodyPr wrap="square" lIns="0" tIns="0" rIns="0" bIns="0" rtlCol="0" anchor="ctr"/>
          <a:lstStyle/>
          <a:p>
            <a:pPr algn="ctr" indent="0" marL="0">
              <a:buNone/>
            </a:pPr>
            <a:r>
              <a:rPr lang="en-US" sz="1200" b="1" dirty="0">
                <a:solidFill>
                  <a:srgbClr val="BF0000"/>
                </a:solidFill>
                <a:latin typeface="Arial" pitchFamily="34" charset="0"/>
                <a:ea typeface="Arial" pitchFamily="34" charset="-122"/>
                <a:cs typeface="Arial" pitchFamily="34" charset="-120"/>
              </a:rPr>
              <a:t>説得の回数が多い＝広告費がかさむ</a:t>
            </a:r>
            <a:endParaRPr lang="en-US" sz="1200" dirty="0"/>
          </a:p>
        </p:txBody>
      </p:sp>
      <p:sp>
        <p:nvSpPr>
          <p:cNvPr id="24" name="Shape 21"/>
          <p:cNvSpPr/>
          <p:nvPr/>
        </p:nvSpPr>
        <p:spPr>
          <a:xfrm>
            <a:off x="6245352" y="1645920"/>
            <a:ext cx="5349240" cy="3520440"/>
          </a:xfrm>
          <a:prstGeom prst="roundRect">
            <a:avLst>
              <a:gd name="adj" fmla="val 2078"/>
            </a:avLst>
          </a:prstGeom>
          <a:solidFill>
            <a:srgbClr val="E8F0FC"/>
          </a:solidFill>
          <a:ln/>
        </p:spPr>
      </p:sp>
      <p:sp>
        <p:nvSpPr>
          <p:cNvPr id="25" name="Text 22"/>
          <p:cNvSpPr txBox="1"/>
          <p:nvPr/>
        </p:nvSpPr>
        <p:spPr>
          <a:xfrm>
            <a:off x="6611112" y="1874520"/>
            <a:ext cx="2743200" cy="365760"/>
          </a:xfrm>
          <a:prstGeom prst="rect">
            <a:avLst/>
          </a:prstGeom>
          <a:noFill/>
          <a:ln/>
        </p:spPr>
        <p:txBody>
          <a:bodyPr wrap="square" lIns="0" tIns="0" rIns="0" bIns="0" rtlCol="0" anchor="ctr"/>
          <a:lstStyle/>
          <a:p>
            <a:pPr indent="0" marL="0">
              <a:buNone/>
            </a:pPr>
            <a:r>
              <a:rPr lang="en-US" sz="1600" b="1" dirty="0">
                <a:solidFill>
                  <a:srgbClr val="1E6FE8"/>
                </a:solidFill>
                <a:latin typeface="Arial" pitchFamily="34" charset="0"/>
                <a:ea typeface="Arial" pitchFamily="34" charset="-122"/>
                <a:cs typeface="Arial" pitchFamily="34" charset="-120"/>
              </a:rPr>
              <a:t>強い商品</a:t>
            </a:r>
            <a:endParaRPr lang="en-US" sz="1600" dirty="0"/>
          </a:p>
        </p:txBody>
      </p:sp>
      <p:sp>
        <p:nvSpPr>
          <p:cNvPr id="26" name="Shape 23"/>
          <p:cNvSpPr/>
          <p:nvPr/>
        </p:nvSpPr>
        <p:spPr>
          <a:xfrm>
            <a:off x="6611112" y="2286000"/>
            <a:ext cx="4617720" cy="566928"/>
          </a:xfrm>
          <a:prstGeom prst="roundRect">
            <a:avLst>
              <a:gd name="adj" fmla="val 9677"/>
            </a:avLst>
          </a:prstGeom>
          <a:solidFill>
            <a:srgbClr val="FFFFFF"/>
          </a:solidFill>
          <a:ln/>
        </p:spPr>
      </p:sp>
      <p:sp>
        <p:nvSpPr>
          <p:cNvPr id="27" name="Text 24"/>
          <p:cNvSpPr txBox="1"/>
          <p:nvPr/>
        </p:nvSpPr>
        <p:spPr>
          <a:xfrm>
            <a:off x="6611112" y="2286000"/>
            <a:ext cx="4617720" cy="566928"/>
          </a:xfrm>
          <a:prstGeom prst="rect">
            <a:avLst/>
          </a:prstGeom>
          <a:noFill/>
          <a:ln/>
        </p:spPr>
        <p:txBody>
          <a:bodyPr wrap="square" lIns="0" tIns="0" rIns="0" bIns="0" rtlCol="0" anchor="ctr"/>
          <a:lstStyle/>
          <a:p>
            <a:pPr algn="ctr" indent="0" marL="0">
              <a:buNone/>
            </a:pPr>
            <a:r>
              <a:rPr lang="en-US" sz="1500" b="1" dirty="0">
                <a:solidFill>
                  <a:srgbClr val="0E1B2C"/>
                </a:solidFill>
                <a:latin typeface="Arial" pitchFamily="34" charset="0"/>
                <a:ea typeface="Arial" pitchFamily="34" charset="-122"/>
                <a:cs typeface="Arial" pitchFamily="34" charset="-120"/>
              </a:rPr>
              <a:t>広告</a:t>
            </a:r>
            <a:endParaRPr lang="en-US" sz="1500" dirty="0"/>
          </a:p>
        </p:txBody>
      </p:sp>
      <p:sp>
        <p:nvSpPr>
          <p:cNvPr id="28" name="Shape 25"/>
          <p:cNvSpPr/>
          <p:nvPr/>
        </p:nvSpPr>
        <p:spPr>
          <a:xfrm rot="10800000">
            <a:off x="8833104" y="2926080"/>
            <a:ext cx="182880" cy="118872"/>
          </a:xfrm>
          <a:prstGeom prst="triangle">
            <a:avLst/>
          </a:prstGeom>
          <a:solidFill>
            <a:srgbClr val="1E6FE8"/>
          </a:solidFill>
          <a:ln/>
        </p:spPr>
      </p:sp>
      <p:sp>
        <p:nvSpPr>
          <p:cNvPr id="29" name="Shape 26"/>
          <p:cNvSpPr/>
          <p:nvPr/>
        </p:nvSpPr>
        <p:spPr>
          <a:xfrm>
            <a:off x="6611112" y="3127248"/>
            <a:ext cx="4617720" cy="822960"/>
          </a:xfrm>
          <a:prstGeom prst="roundRect">
            <a:avLst>
              <a:gd name="adj" fmla="val 6667"/>
            </a:avLst>
          </a:prstGeom>
          <a:solidFill>
            <a:srgbClr val="1E6FE8"/>
          </a:solidFill>
          <a:ln/>
        </p:spPr>
      </p:sp>
      <p:sp>
        <p:nvSpPr>
          <p:cNvPr id="30" name="Text 27"/>
          <p:cNvSpPr txBox="1"/>
          <p:nvPr/>
        </p:nvSpPr>
        <p:spPr>
          <a:xfrm>
            <a:off x="6611112" y="3127248"/>
            <a:ext cx="461772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「これ、欲しかった」</a:t>
            </a:r>
            <a:endParaRPr lang="en-US" sz="1900" dirty="0"/>
          </a:p>
        </p:txBody>
      </p:sp>
      <p:sp>
        <p:nvSpPr>
          <p:cNvPr id="31" name="Shape 28"/>
          <p:cNvSpPr/>
          <p:nvPr/>
        </p:nvSpPr>
        <p:spPr>
          <a:xfrm rot="10800000">
            <a:off x="8833104" y="4023360"/>
            <a:ext cx="182880" cy="118872"/>
          </a:xfrm>
          <a:prstGeom prst="triangle">
            <a:avLst/>
          </a:prstGeom>
          <a:solidFill>
            <a:srgbClr val="1E6FE8"/>
          </a:solidFill>
          <a:ln/>
        </p:spPr>
      </p:sp>
      <p:sp>
        <p:nvSpPr>
          <p:cNvPr id="32" name="Shape 29"/>
          <p:cNvSpPr/>
          <p:nvPr/>
        </p:nvSpPr>
        <p:spPr>
          <a:xfrm>
            <a:off x="6611112" y="4224528"/>
            <a:ext cx="4617720" cy="566928"/>
          </a:xfrm>
          <a:prstGeom prst="roundRect">
            <a:avLst>
              <a:gd name="adj" fmla="val 9677"/>
            </a:avLst>
          </a:prstGeom>
          <a:solidFill>
            <a:srgbClr val="FFFFFF"/>
          </a:solidFill>
          <a:ln/>
        </p:spPr>
      </p:sp>
      <p:sp>
        <p:nvSpPr>
          <p:cNvPr id="33" name="Text 30"/>
          <p:cNvSpPr txBox="1"/>
          <p:nvPr/>
        </p:nvSpPr>
        <p:spPr>
          <a:xfrm>
            <a:off x="6611112" y="4224528"/>
            <a:ext cx="4617720" cy="566928"/>
          </a:xfrm>
          <a:prstGeom prst="rect">
            <a:avLst/>
          </a:prstGeom>
          <a:noFill/>
          <a:ln/>
        </p:spPr>
        <p:txBody>
          <a:bodyPr wrap="square" lIns="0" tIns="0" rIns="0" bIns="0" rtlCol="0" anchor="ctr"/>
          <a:lstStyle/>
          <a:p>
            <a:pPr algn="ctr" indent="0" marL="0">
              <a:buNone/>
            </a:pPr>
            <a:r>
              <a:rPr lang="en-US" sz="1500" b="1" dirty="0">
                <a:solidFill>
                  <a:srgbClr val="0E1B2C"/>
                </a:solidFill>
                <a:latin typeface="Arial" pitchFamily="34" charset="0"/>
                <a:ea typeface="Arial" pitchFamily="34" charset="-122"/>
                <a:cs typeface="Arial" pitchFamily="34" charset="-120"/>
              </a:rPr>
              <a:t>購入</a:t>
            </a:r>
            <a:endParaRPr lang="en-US" sz="1500" dirty="0"/>
          </a:p>
        </p:txBody>
      </p:sp>
      <p:sp>
        <p:nvSpPr>
          <p:cNvPr id="34" name="Text 31"/>
          <p:cNvSpPr txBox="1"/>
          <p:nvPr/>
        </p:nvSpPr>
        <p:spPr>
          <a:xfrm>
            <a:off x="6611112" y="4828032"/>
            <a:ext cx="4617720" cy="292608"/>
          </a:xfrm>
          <a:prstGeom prst="rect">
            <a:avLst/>
          </a:prstGeom>
          <a:noFill/>
          <a:ln/>
        </p:spPr>
        <p:txBody>
          <a:bodyPr wrap="square" lIns="0" tIns="0" rIns="0" bIns="0" rtlCol="0" anchor="ctr"/>
          <a:lstStyle/>
          <a:p>
            <a:pPr algn="ctr" indent="0" marL="0">
              <a:buNone/>
            </a:pPr>
            <a:r>
              <a:rPr lang="en-US" sz="1200" b="1" dirty="0">
                <a:solidFill>
                  <a:srgbClr val="1E6FE8"/>
                </a:solidFill>
                <a:latin typeface="Arial" pitchFamily="34" charset="0"/>
                <a:ea typeface="Arial" pitchFamily="34" charset="-122"/>
                <a:cs typeface="Arial" pitchFamily="34" charset="-120"/>
              </a:rPr>
              <a:t>説得が不要＝広告費が効率化する</a:t>
            </a:r>
            <a:endParaRPr lang="en-US" sz="1200" dirty="0"/>
          </a:p>
        </p:txBody>
      </p:sp>
      <p:sp>
        <p:nvSpPr>
          <p:cNvPr id="35" name="Shape 32"/>
          <p:cNvSpPr/>
          <p:nvPr/>
        </p:nvSpPr>
        <p:spPr>
          <a:xfrm>
            <a:off x="594360" y="5376672"/>
            <a:ext cx="11000232" cy="822960"/>
          </a:xfrm>
          <a:prstGeom prst="roundRect">
            <a:avLst>
              <a:gd name="adj" fmla="val 10000"/>
            </a:avLst>
          </a:prstGeom>
          <a:solidFill>
            <a:srgbClr val="E8F0FC"/>
          </a:solidFill>
          <a:ln/>
        </p:spPr>
      </p:sp>
      <p:sp>
        <p:nvSpPr>
          <p:cNvPr id="36" name="Text 33"/>
          <p:cNvSpPr txBox="1"/>
          <p:nvPr/>
        </p:nvSpPr>
        <p:spPr>
          <a:xfrm>
            <a:off x="960120" y="5376672"/>
            <a:ext cx="10268712" cy="822960"/>
          </a:xfrm>
          <a:prstGeom prst="rect">
            <a:avLst/>
          </a:prstGeom>
          <a:noFill/>
          <a:ln/>
        </p:spPr>
        <p:txBody>
          <a:bodyPr wrap="square" lIns="0" tIns="0" rIns="0" bIns="0" rtlCol="0" anchor="ctr"/>
          <a:lstStyle/>
          <a:p>
            <a:pPr algn="l" indent="0" marL="0">
              <a:buNone/>
            </a:pPr>
            <a:r>
              <a:rPr lang="en-US" sz="1600" b="1" dirty="0">
                <a:solidFill>
                  <a:srgbClr val="1E6FE8"/>
                </a:solidFill>
                <a:latin typeface="Arial" pitchFamily="34" charset="0"/>
                <a:ea typeface="Arial" pitchFamily="34" charset="-122"/>
                <a:cs typeface="Arial" pitchFamily="34" charset="-120"/>
              </a:rPr>
              <a:t>理想は　</a:t>
            </a:r>
            <a:pPr algn="l" indent="0" marL="0">
              <a:buNone/>
            </a:pPr>
            <a:r>
              <a:rPr lang="en-US" sz="1600" b="1" dirty="0">
                <a:solidFill>
                  <a:srgbClr val="0E1B2C"/>
                </a:solidFill>
                <a:latin typeface="Arial" pitchFamily="34" charset="0"/>
                <a:ea typeface="Arial" pitchFamily="34" charset="-122"/>
                <a:cs typeface="Arial" pitchFamily="34" charset="-120"/>
              </a:rPr>
              <a:t>マーケティングが「説得」ではなく、必要としている人に「知らせる」仕事になること。</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claude-0/-home-user-home/46e674e1-850e-5f3a-8004-a2778537f0fe/scratchpad/assets/logo_black.png">    </p:cNvPr>
          <p:cNvPicPr>
            <a:picLocks noChangeAspect="1"/>
          </p:cNvPicPr>
          <p:nvPr/>
        </p:nvPicPr>
        <p:blipFill>
          <a:blip r:embed="rId1"/>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A6B4C9"/>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A6B4C9"/>
                </a:solidFill>
                <a:latin typeface="Arial" pitchFamily="34" charset="0"/>
                <a:ea typeface="Arial" pitchFamily="34" charset="-122"/>
                <a:cs typeface="Arial" pitchFamily="34" charset="-120"/>
              </a:rPr>
              <a:t>22</a:t>
            </a:r>
            <a:endParaRPr lang="en-US" sz="850" dirty="0"/>
          </a:p>
        </p:txBody>
      </p:sp>
      <p:sp>
        <p:nvSpPr>
          <p:cNvPr id="5" name="Text 2"/>
          <p:cNvSpPr txBox="1"/>
          <p:nvPr/>
        </p:nvSpPr>
        <p:spPr>
          <a:xfrm>
            <a:off x="594360" y="384048"/>
            <a:ext cx="8229600" cy="292608"/>
          </a:xfrm>
          <a:prstGeom prst="rect">
            <a:avLst/>
          </a:prstGeom>
          <a:noFill/>
          <a:ln/>
        </p:spPr>
        <p:txBody>
          <a:bodyPr wrap="square" lIns="0" tIns="0" rIns="0" bIns="0" rtlCol="0" anchor="ctr"/>
          <a:lstStyle/>
          <a:p>
            <a:pPr indent="0" marL="0">
              <a:buNone/>
            </a:pPr>
            <a:r>
              <a:rPr lang="en-US" sz="1100" b="1" spc="120" kern="0" dirty="0">
                <a:solidFill>
                  <a:srgbClr val="1E6FE8"/>
                </a:solidFill>
                <a:latin typeface="Arial" pitchFamily="34" charset="0"/>
                <a:ea typeface="Arial" pitchFamily="34" charset="-122"/>
                <a:cs typeface="Arial" pitchFamily="34" charset="-120"/>
              </a:rPr>
              <a:t>SUMMARY</a:t>
            </a:r>
            <a:endParaRPr lang="en-US" sz="1100" dirty="0"/>
          </a:p>
        </p:txBody>
      </p:sp>
      <p:sp>
        <p:nvSpPr>
          <p:cNvPr id="6" name="Text 3"/>
          <p:cNvSpPr txBox="1"/>
          <p:nvPr/>
        </p:nvSpPr>
        <p:spPr>
          <a:xfrm>
            <a:off x="594360" y="658368"/>
            <a:ext cx="11000232" cy="621792"/>
          </a:xfrm>
          <a:prstGeom prst="rect">
            <a:avLst/>
          </a:prstGeom>
          <a:noFill/>
          <a:ln/>
        </p:spPr>
        <p:txBody>
          <a:bodyPr wrap="square" lIns="0" tIns="0" rIns="0" bIns="0" rtlCol="0" anchor="ctr"/>
          <a:lstStyle/>
          <a:p>
            <a:pPr indent="0" marL="0">
              <a:buNone/>
            </a:pPr>
            <a:r>
              <a:rPr lang="en-US" sz="2600" b="1" dirty="0">
                <a:solidFill>
                  <a:srgbClr val="0E1B2C"/>
                </a:solidFill>
                <a:latin typeface="Arial" pitchFamily="34" charset="0"/>
                <a:ea typeface="Arial" pitchFamily="34" charset="-122"/>
                <a:cs typeface="Arial" pitchFamily="34" charset="-120"/>
              </a:rPr>
              <a:t>考える順番を、5つ変える</a:t>
            </a:r>
            <a:endParaRPr lang="en-US" sz="2600" dirty="0"/>
          </a:p>
        </p:txBody>
      </p:sp>
      <p:sp>
        <p:nvSpPr>
          <p:cNvPr id="7" name="Text 4"/>
          <p:cNvSpPr txBox="1"/>
          <p:nvPr/>
        </p:nvSpPr>
        <p:spPr>
          <a:xfrm>
            <a:off x="594360" y="1481328"/>
            <a:ext cx="10972800" cy="365760"/>
          </a:xfrm>
          <a:prstGeom prst="rect">
            <a:avLst/>
          </a:prstGeom>
          <a:noFill/>
          <a:ln/>
        </p:spPr>
        <p:txBody>
          <a:bodyPr wrap="square" lIns="0" tIns="0" rIns="0" bIns="0" rtlCol="0" anchor="ctr"/>
          <a:lstStyle/>
          <a:p>
            <a:pPr indent="0" marL="0">
              <a:buNone/>
            </a:pPr>
            <a:r>
              <a:rPr lang="en-US" sz="1350" dirty="0">
                <a:solidFill>
                  <a:srgbClr val="3A4A61"/>
                </a:solidFill>
                <a:latin typeface="Arial" pitchFamily="34" charset="0"/>
                <a:ea typeface="Arial" pitchFamily="34" charset="-122"/>
                <a:cs typeface="Arial" pitchFamily="34" charset="-120"/>
              </a:rPr>
              <a:t>広告テクニックを増やすだけでは限界がある。問いを変える。</a:t>
            </a:r>
            <a:endParaRPr lang="en-US" sz="1350" dirty="0"/>
          </a:p>
        </p:txBody>
      </p:sp>
      <p:sp>
        <p:nvSpPr>
          <p:cNvPr id="8" name="Text 5"/>
          <p:cNvSpPr txBox="1"/>
          <p:nvPr/>
        </p:nvSpPr>
        <p:spPr>
          <a:xfrm>
            <a:off x="960120" y="1938528"/>
            <a:ext cx="3657600" cy="292608"/>
          </a:xfrm>
          <a:prstGeom prst="rect">
            <a:avLst/>
          </a:prstGeom>
          <a:noFill/>
          <a:ln/>
        </p:spPr>
        <p:txBody>
          <a:bodyPr wrap="square" lIns="0" tIns="0" rIns="0" bIns="0" rtlCol="0" anchor="ctr"/>
          <a:lstStyle/>
          <a:p>
            <a:pPr indent="0" marL="0">
              <a:buNone/>
            </a:pPr>
            <a:r>
              <a:rPr lang="en-US" sz="1200" b="1" dirty="0">
                <a:solidFill>
                  <a:srgbClr val="7A8AA3"/>
                </a:solidFill>
                <a:latin typeface="Arial" pitchFamily="34" charset="0"/>
                <a:ea typeface="Arial" pitchFamily="34" charset="-122"/>
                <a:cs typeface="Arial" pitchFamily="34" charset="-120"/>
              </a:rPr>
              <a:t>これまでの問い</a:t>
            </a:r>
            <a:endParaRPr lang="en-US" sz="1200" dirty="0"/>
          </a:p>
        </p:txBody>
      </p:sp>
      <p:sp>
        <p:nvSpPr>
          <p:cNvPr id="9" name="Text 6"/>
          <p:cNvSpPr txBox="1"/>
          <p:nvPr/>
        </p:nvSpPr>
        <p:spPr>
          <a:xfrm>
            <a:off x="5806440" y="1938528"/>
            <a:ext cx="3657600" cy="292608"/>
          </a:xfrm>
          <a:prstGeom prst="rect">
            <a:avLst/>
          </a:prstGeom>
          <a:noFill/>
          <a:ln/>
        </p:spPr>
        <p:txBody>
          <a:bodyPr wrap="square" lIns="0" tIns="0" rIns="0" bIns="0" rtlCol="0" anchor="ctr"/>
          <a:lstStyle/>
          <a:p>
            <a:pPr indent="0" marL="0">
              <a:buNone/>
            </a:pPr>
            <a:r>
              <a:rPr lang="en-US" sz="1200" b="1" dirty="0">
                <a:solidFill>
                  <a:srgbClr val="1E6FE8"/>
                </a:solidFill>
                <a:latin typeface="Arial" pitchFamily="34" charset="0"/>
                <a:ea typeface="Arial" pitchFamily="34" charset="-122"/>
                <a:cs typeface="Arial" pitchFamily="34" charset="-120"/>
              </a:rPr>
              <a:t>これからの問い</a:t>
            </a:r>
            <a:endParaRPr lang="en-US" sz="1200" dirty="0"/>
          </a:p>
        </p:txBody>
      </p:sp>
      <p:sp>
        <p:nvSpPr>
          <p:cNvPr id="10" name="Shape 7"/>
          <p:cNvSpPr/>
          <p:nvPr/>
        </p:nvSpPr>
        <p:spPr>
          <a:xfrm>
            <a:off x="594360" y="2359152"/>
            <a:ext cx="4160520" cy="548640"/>
          </a:xfrm>
          <a:prstGeom prst="roundRect">
            <a:avLst>
              <a:gd name="adj" fmla="val 11667"/>
            </a:avLst>
          </a:prstGeom>
          <a:solidFill>
            <a:srgbClr val="F4F6F9"/>
          </a:solidFill>
          <a:ln/>
        </p:spPr>
      </p:sp>
      <p:sp>
        <p:nvSpPr>
          <p:cNvPr id="11" name="Text 8"/>
          <p:cNvSpPr txBox="1"/>
          <p:nvPr/>
        </p:nvSpPr>
        <p:spPr>
          <a:xfrm>
            <a:off x="960120" y="2359152"/>
            <a:ext cx="3566160" cy="548640"/>
          </a:xfrm>
          <a:prstGeom prst="rect">
            <a:avLst/>
          </a:prstGeom>
          <a:noFill/>
          <a:ln/>
        </p:spPr>
        <p:txBody>
          <a:bodyPr wrap="square" lIns="0" tIns="0" rIns="0" bIns="0" rtlCol="0" anchor="ctr"/>
          <a:lstStyle/>
          <a:p>
            <a:pPr indent="0" marL="0">
              <a:buNone/>
            </a:pPr>
            <a:r>
              <a:rPr lang="en-US" sz="1450" dirty="0">
                <a:solidFill>
                  <a:srgbClr val="7A8AA3"/>
                </a:solidFill>
                <a:latin typeface="Arial" pitchFamily="34" charset="0"/>
                <a:ea typeface="Arial" pitchFamily="34" charset="-122"/>
                <a:cs typeface="Arial" pitchFamily="34" charset="-120"/>
              </a:rPr>
              <a:t>何を売る？</a:t>
            </a:r>
            <a:endParaRPr lang="en-US" sz="1450" dirty="0"/>
          </a:p>
        </p:txBody>
      </p:sp>
      <p:sp>
        <p:nvSpPr>
          <p:cNvPr id="12" name="Shape 9"/>
          <p:cNvSpPr/>
          <p:nvPr/>
        </p:nvSpPr>
        <p:spPr>
          <a:xfrm rot="5400000">
            <a:off x="5029200" y="2562149"/>
            <a:ext cx="182880" cy="142646"/>
          </a:xfrm>
          <a:prstGeom prst="triangle">
            <a:avLst/>
          </a:prstGeom>
          <a:solidFill>
            <a:srgbClr val="AFC6E8"/>
          </a:solidFill>
          <a:ln/>
        </p:spPr>
      </p:sp>
      <p:sp>
        <p:nvSpPr>
          <p:cNvPr id="13" name="Shape 10"/>
          <p:cNvSpPr/>
          <p:nvPr/>
        </p:nvSpPr>
        <p:spPr>
          <a:xfrm>
            <a:off x="5440680" y="2359152"/>
            <a:ext cx="6153912" cy="548640"/>
          </a:xfrm>
          <a:prstGeom prst="roundRect">
            <a:avLst>
              <a:gd name="adj" fmla="val 11667"/>
            </a:avLst>
          </a:prstGeom>
          <a:solidFill>
            <a:srgbClr val="E8F0FC"/>
          </a:solidFill>
          <a:ln/>
        </p:spPr>
      </p:sp>
      <p:sp>
        <p:nvSpPr>
          <p:cNvPr id="14" name="Text 11"/>
          <p:cNvSpPr txBox="1"/>
          <p:nvPr/>
        </p:nvSpPr>
        <p:spPr>
          <a:xfrm>
            <a:off x="5806440" y="2359152"/>
            <a:ext cx="5577840" cy="548640"/>
          </a:xfrm>
          <a:prstGeom prst="rect">
            <a:avLst/>
          </a:prstGeom>
          <a:noFill/>
          <a:ln/>
        </p:spPr>
        <p:txBody>
          <a:bodyPr wrap="square" lIns="0" tIns="0" rIns="0" bIns="0" rtlCol="0" anchor="ctr"/>
          <a:lstStyle/>
          <a:p>
            <a:pPr indent="0" marL="0">
              <a:buNone/>
            </a:pPr>
            <a:r>
              <a:rPr lang="en-US" sz="1550" b="1" dirty="0">
                <a:solidFill>
                  <a:srgbClr val="0E1B2C"/>
                </a:solidFill>
                <a:latin typeface="Arial" pitchFamily="34" charset="0"/>
                <a:ea typeface="Arial" pitchFamily="34" charset="-122"/>
                <a:cs typeface="Arial" pitchFamily="34" charset="-120"/>
              </a:rPr>
              <a:t>誰が困っている？</a:t>
            </a:r>
            <a:endParaRPr lang="en-US" sz="1550" dirty="0"/>
          </a:p>
        </p:txBody>
      </p:sp>
      <p:sp>
        <p:nvSpPr>
          <p:cNvPr id="15" name="Shape 12"/>
          <p:cNvSpPr/>
          <p:nvPr/>
        </p:nvSpPr>
        <p:spPr>
          <a:xfrm>
            <a:off x="594360" y="2999232"/>
            <a:ext cx="4160520" cy="548640"/>
          </a:xfrm>
          <a:prstGeom prst="roundRect">
            <a:avLst>
              <a:gd name="adj" fmla="val 11667"/>
            </a:avLst>
          </a:prstGeom>
          <a:solidFill>
            <a:srgbClr val="F4F6F9"/>
          </a:solidFill>
          <a:ln/>
        </p:spPr>
      </p:sp>
      <p:sp>
        <p:nvSpPr>
          <p:cNvPr id="16" name="Text 13"/>
          <p:cNvSpPr txBox="1"/>
          <p:nvPr/>
        </p:nvSpPr>
        <p:spPr>
          <a:xfrm>
            <a:off x="960120" y="2999232"/>
            <a:ext cx="3566160" cy="548640"/>
          </a:xfrm>
          <a:prstGeom prst="rect">
            <a:avLst/>
          </a:prstGeom>
          <a:noFill/>
          <a:ln/>
        </p:spPr>
        <p:txBody>
          <a:bodyPr wrap="square" lIns="0" tIns="0" rIns="0" bIns="0" rtlCol="0" anchor="ctr"/>
          <a:lstStyle/>
          <a:p>
            <a:pPr indent="0" marL="0">
              <a:buNone/>
            </a:pPr>
            <a:r>
              <a:rPr lang="en-US" sz="1450" dirty="0">
                <a:solidFill>
                  <a:srgbClr val="7A8AA3"/>
                </a:solidFill>
                <a:latin typeface="Arial" pitchFamily="34" charset="0"/>
                <a:ea typeface="Arial" pitchFamily="34" charset="-122"/>
                <a:cs typeface="Arial" pitchFamily="34" charset="-120"/>
              </a:rPr>
              <a:t>市場は大きい？</a:t>
            </a:r>
            <a:endParaRPr lang="en-US" sz="1450" dirty="0"/>
          </a:p>
        </p:txBody>
      </p:sp>
      <p:sp>
        <p:nvSpPr>
          <p:cNvPr id="17" name="Shape 14"/>
          <p:cNvSpPr/>
          <p:nvPr/>
        </p:nvSpPr>
        <p:spPr>
          <a:xfrm rot="5400000">
            <a:off x="5029200" y="3202229"/>
            <a:ext cx="182880" cy="142646"/>
          </a:xfrm>
          <a:prstGeom prst="triangle">
            <a:avLst/>
          </a:prstGeom>
          <a:solidFill>
            <a:srgbClr val="AFC6E8"/>
          </a:solidFill>
          <a:ln/>
        </p:spPr>
      </p:sp>
      <p:sp>
        <p:nvSpPr>
          <p:cNvPr id="18" name="Shape 15"/>
          <p:cNvSpPr/>
          <p:nvPr/>
        </p:nvSpPr>
        <p:spPr>
          <a:xfrm>
            <a:off x="5440680" y="2999232"/>
            <a:ext cx="6153912" cy="548640"/>
          </a:xfrm>
          <a:prstGeom prst="roundRect">
            <a:avLst>
              <a:gd name="adj" fmla="val 11667"/>
            </a:avLst>
          </a:prstGeom>
          <a:solidFill>
            <a:srgbClr val="E8F0FC"/>
          </a:solidFill>
          <a:ln/>
        </p:spPr>
      </p:sp>
      <p:sp>
        <p:nvSpPr>
          <p:cNvPr id="19" name="Text 16"/>
          <p:cNvSpPr txBox="1"/>
          <p:nvPr/>
        </p:nvSpPr>
        <p:spPr>
          <a:xfrm>
            <a:off x="5806440" y="2999232"/>
            <a:ext cx="5577840" cy="548640"/>
          </a:xfrm>
          <a:prstGeom prst="rect">
            <a:avLst/>
          </a:prstGeom>
          <a:noFill/>
          <a:ln/>
        </p:spPr>
        <p:txBody>
          <a:bodyPr wrap="square" lIns="0" tIns="0" rIns="0" bIns="0" rtlCol="0" anchor="ctr"/>
          <a:lstStyle/>
          <a:p>
            <a:pPr indent="0" marL="0">
              <a:buNone/>
            </a:pPr>
            <a:r>
              <a:rPr lang="en-US" sz="1550" b="1" dirty="0">
                <a:solidFill>
                  <a:srgbClr val="0E1B2C"/>
                </a:solidFill>
                <a:latin typeface="Arial" pitchFamily="34" charset="0"/>
                <a:ea typeface="Arial" pitchFamily="34" charset="-122"/>
                <a:cs typeface="Arial" pitchFamily="34" charset="-120"/>
              </a:rPr>
              <a:t>課題は深い？</a:t>
            </a:r>
            <a:endParaRPr lang="en-US" sz="1550" dirty="0"/>
          </a:p>
        </p:txBody>
      </p:sp>
      <p:sp>
        <p:nvSpPr>
          <p:cNvPr id="20" name="Shape 17"/>
          <p:cNvSpPr/>
          <p:nvPr/>
        </p:nvSpPr>
        <p:spPr>
          <a:xfrm>
            <a:off x="594360" y="3639312"/>
            <a:ext cx="4160520" cy="548640"/>
          </a:xfrm>
          <a:prstGeom prst="roundRect">
            <a:avLst>
              <a:gd name="adj" fmla="val 11667"/>
            </a:avLst>
          </a:prstGeom>
          <a:solidFill>
            <a:srgbClr val="F4F6F9"/>
          </a:solidFill>
          <a:ln/>
        </p:spPr>
      </p:sp>
      <p:sp>
        <p:nvSpPr>
          <p:cNvPr id="21" name="Text 18"/>
          <p:cNvSpPr txBox="1"/>
          <p:nvPr/>
        </p:nvSpPr>
        <p:spPr>
          <a:xfrm>
            <a:off x="960120" y="3639312"/>
            <a:ext cx="3566160" cy="548640"/>
          </a:xfrm>
          <a:prstGeom prst="rect">
            <a:avLst/>
          </a:prstGeom>
          <a:noFill/>
          <a:ln/>
        </p:spPr>
        <p:txBody>
          <a:bodyPr wrap="square" lIns="0" tIns="0" rIns="0" bIns="0" rtlCol="0" anchor="ctr"/>
          <a:lstStyle/>
          <a:p>
            <a:pPr indent="0" marL="0">
              <a:buNone/>
            </a:pPr>
            <a:r>
              <a:rPr lang="en-US" sz="1450" dirty="0">
                <a:solidFill>
                  <a:srgbClr val="7A8AA3"/>
                </a:solidFill>
                <a:latin typeface="Arial" pitchFamily="34" charset="0"/>
                <a:ea typeface="Arial" pitchFamily="34" charset="-122"/>
                <a:cs typeface="Arial" pitchFamily="34" charset="-120"/>
              </a:rPr>
              <a:t>競合商品は？</a:t>
            </a:r>
            <a:endParaRPr lang="en-US" sz="1450" dirty="0"/>
          </a:p>
        </p:txBody>
      </p:sp>
      <p:sp>
        <p:nvSpPr>
          <p:cNvPr id="22" name="Shape 19"/>
          <p:cNvSpPr/>
          <p:nvPr/>
        </p:nvSpPr>
        <p:spPr>
          <a:xfrm rot="5400000">
            <a:off x="5029200" y="3842309"/>
            <a:ext cx="182880" cy="142646"/>
          </a:xfrm>
          <a:prstGeom prst="triangle">
            <a:avLst/>
          </a:prstGeom>
          <a:solidFill>
            <a:srgbClr val="AFC6E8"/>
          </a:solidFill>
          <a:ln/>
        </p:spPr>
      </p:sp>
      <p:sp>
        <p:nvSpPr>
          <p:cNvPr id="23" name="Shape 20"/>
          <p:cNvSpPr/>
          <p:nvPr/>
        </p:nvSpPr>
        <p:spPr>
          <a:xfrm>
            <a:off x="5440680" y="3639312"/>
            <a:ext cx="6153912" cy="548640"/>
          </a:xfrm>
          <a:prstGeom prst="roundRect">
            <a:avLst>
              <a:gd name="adj" fmla="val 11667"/>
            </a:avLst>
          </a:prstGeom>
          <a:solidFill>
            <a:srgbClr val="E8F0FC"/>
          </a:solidFill>
          <a:ln/>
        </p:spPr>
      </p:sp>
      <p:sp>
        <p:nvSpPr>
          <p:cNvPr id="24" name="Text 21"/>
          <p:cNvSpPr txBox="1"/>
          <p:nvPr/>
        </p:nvSpPr>
        <p:spPr>
          <a:xfrm>
            <a:off x="5806440" y="3639312"/>
            <a:ext cx="5577840" cy="548640"/>
          </a:xfrm>
          <a:prstGeom prst="rect">
            <a:avLst/>
          </a:prstGeom>
          <a:noFill/>
          <a:ln/>
        </p:spPr>
        <p:txBody>
          <a:bodyPr wrap="square" lIns="0" tIns="0" rIns="0" bIns="0" rtlCol="0" anchor="ctr"/>
          <a:lstStyle/>
          <a:p>
            <a:pPr indent="0" marL="0">
              <a:buNone/>
            </a:pPr>
            <a:r>
              <a:rPr lang="en-US" sz="1550" b="1" dirty="0">
                <a:solidFill>
                  <a:srgbClr val="0E1B2C"/>
                </a:solidFill>
                <a:latin typeface="Arial" pitchFamily="34" charset="0"/>
                <a:ea typeface="Arial" pitchFamily="34" charset="-122"/>
                <a:cs typeface="Arial" pitchFamily="34" charset="-120"/>
              </a:rPr>
              <a:t>今どうやって解決している？</a:t>
            </a:r>
            <a:endParaRPr lang="en-US" sz="1550" dirty="0"/>
          </a:p>
        </p:txBody>
      </p:sp>
      <p:sp>
        <p:nvSpPr>
          <p:cNvPr id="25" name="Shape 22"/>
          <p:cNvSpPr/>
          <p:nvPr/>
        </p:nvSpPr>
        <p:spPr>
          <a:xfrm>
            <a:off x="594360" y="4279392"/>
            <a:ext cx="4160520" cy="548640"/>
          </a:xfrm>
          <a:prstGeom prst="roundRect">
            <a:avLst>
              <a:gd name="adj" fmla="val 11667"/>
            </a:avLst>
          </a:prstGeom>
          <a:solidFill>
            <a:srgbClr val="F4F6F9"/>
          </a:solidFill>
          <a:ln/>
        </p:spPr>
      </p:sp>
      <p:sp>
        <p:nvSpPr>
          <p:cNvPr id="26" name="Text 23"/>
          <p:cNvSpPr txBox="1"/>
          <p:nvPr/>
        </p:nvSpPr>
        <p:spPr>
          <a:xfrm>
            <a:off x="960120" y="4279392"/>
            <a:ext cx="3566160" cy="548640"/>
          </a:xfrm>
          <a:prstGeom prst="rect">
            <a:avLst/>
          </a:prstGeom>
          <a:noFill/>
          <a:ln/>
        </p:spPr>
        <p:txBody>
          <a:bodyPr wrap="square" lIns="0" tIns="0" rIns="0" bIns="0" rtlCol="0" anchor="ctr"/>
          <a:lstStyle/>
          <a:p>
            <a:pPr indent="0" marL="0">
              <a:buNone/>
            </a:pPr>
            <a:r>
              <a:rPr lang="en-US" sz="1450" dirty="0">
                <a:solidFill>
                  <a:srgbClr val="7A8AA3"/>
                </a:solidFill>
                <a:latin typeface="Arial" pitchFamily="34" charset="0"/>
                <a:ea typeface="Arial" pitchFamily="34" charset="-122"/>
                <a:cs typeface="Arial" pitchFamily="34" charset="-120"/>
              </a:rPr>
              <a:t>何を追加する？</a:t>
            </a:r>
            <a:endParaRPr lang="en-US" sz="1450" dirty="0"/>
          </a:p>
        </p:txBody>
      </p:sp>
      <p:sp>
        <p:nvSpPr>
          <p:cNvPr id="27" name="Shape 24"/>
          <p:cNvSpPr/>
          <p:nvPr/>
        </p:nvSpPr>
        <p:spPr>
          <a:xfrm rot="5400000">
            <a:off x="5029200" y="4482389"/>
            <a:ext cx="182880" cy="142646"/>
          </a:xfrm>
          <a:prstGeom prst="triangle">
            <a:avLst/>
          </a:prstGeom>
          <a:solidFill>
            <a:srgbClr val="AFC6E8"/>
          </a:solidFill>
          <a:ln/>
        </p:spPr>
      </p:sp>
      <p:sp>
        <p:nvSpPr>
          <p:cNvPr id="28" name="Shape 25"/>
          <p:cNvSpPr/>
          <p:nvPr/>
        </p:nvSpPr>
        <p:spPr>
          <a:xfrm>
            <a:off x="5440680" y="4279392"/>
            <a:ext cx="6153912" cy="548640"/>
          </a:xfrm>
          <a:prstGeom prst="roundRect">
            <a:avLst>
              <a:gd name="adj" fmla="val 11667"/>
            </a:avLst>
          </a:prstGeom>
          <a:solidFill>
            <a:srgbClr val="E8F0FC"/>
          </a:solidFill>
          <a:ln/>
        </p:spPr>
      </p:sp>
      <p:sp>
        <p:nvSpPr>
          <p:cNvPr id="29" name="Text 26"/>
          <p:cNvSpPr txBox="1"/>
          <p:nvPr/>
        </p:nvSpPr>
        <p:spPr>
          <a:xfrm>
            <a:off x="5806440" y="4279392"/>
            <a:ext cx="5577840" cy="548640"/>
          </a:xfrm>
          <a:prstGeom prst="rect">
            <a:avLst/>
          </a:prstGeom>
          <a:noFill/>
          <a:ln/>
        </p:spPr>
        <p:txBody>
          <a:bodyPr wrap="square" lIns="0" tIns="0" rIns="0" bIns="0" rtlCol="0" anchor="ctr"/>
          <a:lstStyle/>
          <a:p>
            <a:pPr indent="0" marL="0">
              <a:buNone/>
            </a:pPr>
            <a:r>
              <a:rPr lang="en-US" sz="1550" b="1" dirty="0">
                <a:solidFill>
                  <a:srgbClr val="0E1B2C"/>
                </a:solidFill>
                <a:latin typeface="Arial" pitchFamily="34" charset="0"/>
                <a:ea typeface="Arial" pitchFamily="34" charset="-122"/>
                <a:cs typeface="Arial" pitchFamily="34" charset="-120"/>
              </a:rPr>
              <a:t>何をなくせる？</a:t>
            </a:r>
            <a:endParaRPr lang="en-US" sz="1550" dirty="0"/>
          </a:p>
        </p:txBody>
      </p:sp>
      <p:sp>
        <p:nvSpPr>
          <p:cNvPr id="30" name="Shape 27"/>
          <p:cNvSpPr/>
          <p:nvPr/>
        </p:nvSpPr>
        <p:spPr>
          <a:xfrm>
            <a:off x="594360" y="4919472"/>
            <a:ext cx="4160520" cy="548640"/>
          </a:xfrm>
          <a:prstGeom prst="roundRect">
            <a:avLst>
              <a:gd name="adj" fmla="val 11667"/>
            </a:avLst>
          </a:prstGeom>
          <a:solidFill>
            <a:srgbClr val="F4F6F9"/>
          </a:solidFill>
          <a:ln/>
        </p:spPr>
      </p:sp>
      <p:sp>
        <p:nvSpPr>
          <p:cNvPr id="31" name="Text 28"/>
          <p:cNvSpPr txBox="1"/>
          <p:nvPr/>
        </p:nvSpPr>
        <p:spPr>
          <a:xfrm>
            <a:off x="960120" y="4919472"/>
            <a:ext cx="3566160" cy="548640"/>
          </a:xfrm>
          <a:prstGeom prst="rect">
            <a:avLst/>
          </a:prstGeom>
          <a:noFill/>
          <a:ln/>
        </p:spPr>
        <p:txBody>
          <a:bodyPr wrap="square" lIns="0" tIns="0" rIns="0" bIns="0" rtlCol="0" anchor="ctr"/>
          <a:lstStyle/>
          <a:p>
            <a:pPr indent="0" marL="0">
              <a:buNone/>
            </a:pPr>
            <a:r>
              <a:rPr lang="en-US" sz="1450" dirty="0">
                <a:solidFill>
                  <a:srgbClr val="7A8AA3"/>
                </a:solidFill>
                <a:latin typeface="Arial" pitchFamily="34" charset="0"/>
                <a:ea typeface="Arial" pitchFamily="34" charset="-122"/>
                <a:cs typeface="Arial" pitchFamily="34" charset="-120"/>
              </a:rPr>
              <a:t>どう広告する？</a:t>
            </a:r>
            <a:endParaRPr lang="en-US" sz="1450" dirty="0"/>
          </a:p>
        </p:txBody>
      </p:sp>
      <p:sp>
        <p:nvSpPr>
          <p:cNvPr id="32" name="Shape 29"/>
          <p:cNvSpPr/>
          <p:nvPr/>
        </p:nvSpPr>
        <p:spPr>
          <a:xfrm rot="5400000">
            <a:off x="5029200" y="5122469"/>
            <a:ext cx="182880" cy="142646"/>
          </a:xfrm>
          <a:prstGeom prst="triangle">
            <a:avLst/>
          </a:prstGeom>
          <a:solidFill>
            <a:srgbClr val="AFC6E8"/>
          </a:solidFill>
          <a:ln/>
        </p:spPr>
      </p:sp>
      <p:sp>
        <p:nvSpPr>
          <p:cNvPr id="33" name="Shape 30"/>
          <p:cNvSpPr/>
          <p:nvPr/>
        </p:nvSpPr>
        <p:spPr>
          <a:xfrm>
            <a:off x="5440680" y="4919472"/>
            <a:ext cx="6153912" cy="548640"/>
          </a:xfrm>
          <a:prstGeom prst="roundRect">
            <a:avLst>
              <a:gd name="adj" fmla="val 11667"/>
            </a:avLst>
          </a:prstGeom>
          <a:solidFill>
            <a:srgbClr val="E8F0FC"/>
          </a:solidFill>
          <a:ln/>
        </p:spPr>
      </p:sp>
      <p:sp>
        <p:nvSpPr>
          <p:cNvPr id="34" name="Text 31"/>
          <p:cNvSpPr txBox="1"/>
          <p:nvPr/>
        </p:nvSpPr>
        <p:spPr>
          <a:xfrm>
            <a:off x="5806440" y="4919472"/>
            <a:ext cx="5577840" cy="548640"/>
          </a:xfrm>
          <a:prstGeom prst="rect">
            <a:avLst/>
          </a:prstGeom>
          <a:noFill/>
          <a:ln/>
        </p:spPr>
        <p:txBody>
          <a:bodyPr wrap="square" lIns="0" tIns="0" rIns="0" bIns="0" rtlCol="0" anchor="ctr"/>
          <a:lstStyle/>
          <a:p>
            <a:pPr indent="0" marL="0">
              <a:buNone/>
            </a:pPr>
            <a:r>
              <a:rPr lang="en-US" sz="1550" b="1" dirty="0">
                <a:solidFill>
                  <a:srgbClr val="0E1B2C"/>
                </a:solidFill>
                <a:latin typeface="Arial" pitchFamily="34" charset="0"/>
                <a:ea typeface="Arial" pitchFamily="34" charset="-122"/>
                <a:cs typeface="Arial" pitchFamily="34" charset="-120"/>
              </a:rPr>
              <a:t>なぜ「これが欲しかった」と言われる？</a:t>
            </a:r>
            <a:endParaRPr lang="en-US" sz="1550" dirty="0"/>
          </a:p>
        </p:txBody>
      </p:sp>
      <p:sp>
        <p:nvSpPr>
          <p:cNvPr id="35" name="Shape 32"/>
          <p:cNvSpPr/>
          <p:nvPr/>
        </p:nvSpPr>
        <p:spPr>
          <a:xfrm>
            <a:off x="594360" y="5669280"/>
            <a:ext cx="11000232" cy="658368"/>
          </a:xfrm>
          <a:prstGeom prst="roundRect">
            <a:avLst>
              <a:gd name="adj" fmla="val 12500"/>
            </a:avLst>
          </a:prstGeom>
          <a:solidFill>
            <a:srgbClr val="E8F0FC"/>
          </a:solidFill>
          <a:ln/>
        </p:spPr>
      </p:sp>
      <p:sp>
        <p:nvSpPr>
          <p:cNvPr id="36" name="Text 33"/>
          <p:cNvSpPr txBox="1"/>
          <p:nvPr/>
        </p:nvSpPr>
        <p:spPr>
          <a:xfrm>
            <a:off x="960120" y="5669280"/>
            <a:ext cx="10268712" cy="658368"/>
          </a:xfrm>
          <a:prstGeom prst="rect">
            <a:avLst/>
          </a:prstGeom>
          <a:noFill/>
          <a:ln/>
        </p:spPr>
        <p:txBody>
          <a:bodyPr wrap="square" lIns="0" tIns="0" rIns="0" bIns="0" rtlCol="0" anchor="ctr"/>
          <a:lstStyle/>
          <a:p>
            <a:pPr algn="l" indent="0" marL="0">
              <a:buNone/>
            </a:pPr>
            <a:r>
              <a:rPr lang="en-US" sz="1800" b="1" dirty="0">
                <a:solidFill>
                  <a:srgbClr val="1E6FE8"/>
                </a:solidFill>
                <a:latin typeface="Arial" pitchFamily="34" charset="0"/>
                <a:ea typeface="Arial" pitchFamily="34" charset="-122"/>
                <a:cs typeface="Arial" pitchFamily="34" charset="-120"/>
              </a:rPr>
              <a:t>そして　</a:t>
            </a:r>
            <a:pPr algn="l" indent="0" marL="0">
              <a:buNone/>
            </a:pPr>
            <a:r>
              <a:rPr lang="en-US" sz="1800" b="1" dirty="0">
                <a:solidFill>
                  <a:srgbClr val="0E1B2C"/>
                </a:solidFill>
                <a:latin typeface="Arial" pitchFamily="34" charset="0"/>
                <a:ea typeface="Arial" pitchFamily="34" charset="-122"/>
                <a:cs typeface="Arial" pitchFamily="34" charset="-120"/>
              </a:rPr>
              <a:t>特定の誰かに、120点の商品を作る。</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23</a:t>
            </a:r>
            <a:endParaRPr lang="en-US" sz="850" dirty="0"/>
          </a:p>
        </p:txBody>
      </p:sp>
      <p:sp>
        <p:nvSpPr>
          <p:cNvPr id="5" name="Text 2"/>
          <p:cNvSpPr txBox="1"/>
          <p:nvPr/>
        </p:nvSpPr>
        <p:spPr>
          <a:xfrm>
            <a:off x="594360" y="1737360"/>
            <a:ext cx="7315200" cy="320040"/>
          </a:xfrm>
          <a:prstGeom prst="rect">
            <a:avLst/>
          </a:prstGeom>
          <a:noFill/>
          <a:ln/>
        </p:spPr>
        <p:txBody>
          <a:bodyPr wrap="square" lIns="0" tIns="0" rIns="0" bIns="0" rtlCol="0" anchor="ctr"/>
          <a:lstStyle/>
          <a:p>
            <a:pPr indent="0" marL="0">
              <a:buNone/>
            </a:pPr>
            <a:r>
              <a:rPr lang="en-US" sz="1300" b="1" spc="150" kern="0" dirty="0">
                <a:solidFill>
                  <a:srgbClr val="8FBCFF"/>
                </a:solidFill>
                <a:latin typeface="Arial" pitchFamily="34" charset="0"/>
                <a:ea typeface="Arial" pitchFamily="34" charset="-122"/>
                <a:cs typeface="Arial" pitchFamily="34" charset="-120"/>
              </a:rPr>
              <a:t>CONCLUSION</a:t>
            </a:r>
            <a:endParaRPr lang="en-US" sz="1300" dirty="0"/>
          </a:p>
        </p:txBody>
      </p:sp>
      <p:sp>
        <p:nvSpPr>
          <p:cNvPr id="6" name="Text 3"/>
          <p:cNvSpPr txBox="1"/>
          <p:nvPr/>
        </p:nvSpPr>
        <p:spPr>
          <a:xfrm>
            <a:off x="594360" y="2377440"/>
            <a:ext cx="10972800" cy="2103120"/>
          </a:xfrm>
          <a:prstGeom prst="rect">
            <a:avLst/>
          </a:prstGeom>
          <a:noFill/>
          <a:ln/>
        </p:spPr>
        <p:txBody>
          <a:bodyPr wrap="square" lIns="0" tIns="0" rIns="0" bIns="0" rtlCol="0" anchor="ctr"/>
          <a:lstStyle/>
          <a:p>
            <a:pPr indent="0" marL="0">
              <a:lnSpc>
                <a:spcPts val="6600"/>
              </a:lnSpc>
              <a:buNone/>
            </a:pPr>
            <a:r>
              <a:rPr lang="en-US" sz="4600" b="1" dirty="0">
                <a:solidFill>
                  <a:srgbClr val="FFFFFF"/>
                </a:solidFill>
                <a:latin typeface="Arial" pitchFamily="34" charset="0"/>
                <a:ea typeface="Arial" pitchFamily="34" charset="-122"/>
                <a:cs typeface="Arial" pitchFamily="34" charset="-120"/>
              </a:rPr>
              <a:t>最後に大きな市場を取るために、</a:t>
            </a:r>
            <a:endParaRPr lang="en-US" sz="4600" dirty="0"/>
          </a:p>
          <a:p>
            <a:pPr indent="0" marL="0">
              <a:lnSpc>
                <a:spcPts val="6600"/>
              </a:lnSpc>
              <a:buNone/>
            </a:pPr>
            <a:r>
              <a:rPr lang="en-US" sz="4600" b="1" dirty="0">
                <a:solidFill>
                  <a:srgbClr val="FFFFFF"/>
                </a:solidFill>
                <a:latin typeface="Arial" pitchFamily="34" charset="0"/>
                <a:ea typeface="Arial" pitchFamily="34" charset="-122"/>
                <a:cs typeface="Arial" pitchFamily="34" charset="-120"/>
              </a:rPr>
              <a:t>最初は市場を小さくする。</a:t>
            </a:r>
            <a:endParaRPr lang="en-US" sz="4600" dirty="0"/>
          </a:p>
        </p:txBody>
      </p:sp>
      <p:sp>
        <p:nvSpPr>
          <p:cNvPr id="7" name="Text 4"/>
          <p:cNvSpPr txBox="1"/>
          <p:nvPr/>
        </p:nvSpPr>
        <p:spPr>
          <a:xfrm>
            <a:off x="594360" y="4983480"/>
            <a:ext cx="10515600" cy="914400"/>
          </a:xfrm>
          <a:prstGeom prst="rect">
            <a:avLst/>
          </a:prstGeom>
          <a:noFill/>
          <a:ln/>
        </p:spPr>
        <p:txBody>
          <a:bodyPr wrap="square" lIns="0" tIns="0" rIns="0" bIns="0" rtlCol="0" anchor="t"/>
          <a:lstStyle/>
          <a:p>
            <a:pPr indent="0" marL="0">
              <a:lnSpc>
                <a:spcPts val="2600"/>
              </a:lnSpc>
              <a:buNone/>
            </a:pPr>
            <a:r>
              <a:rPr lang="en-US" sz="1500" dirty="0">
                <a:solidFill>
                  <a:srgbClr val="C9DAF5"/>
                </a:solidFill>
                <a:latin typeface="Arial" pitchFamily="34" charset="0"/>
                <a:ea typeface="Arial" pitchFamily="34" charset="-122"/>
                <a:cs typeface="Arial" pitchFamily="34" charset="-120"/>
              </a:rPr>
              <a:t>特定の誰かに120点の商品を作り、その小さな市場で「これが欲しかった」と言われる状態を作る。</a:t>
            </a:r>
            <a:endParaRPr lang="en-US" sz="1500" dirty="0"/>
          </a:p>
          <a:p>
            <a:pPr indent="0" marL="0">
              <a:lnSpc>
                <a:spcPts val="2600"/>
              </a:lnSpc>
              <a:buNone/>
            </a:pPr>
            <a:r>
              <a:rPr lang="en-US" sz="1500" dirty="0">
                <a:solidFill>
                  <a:srgbClr val="C9DAF5"/>
                </a:solidFill>
                <a:latin typeface="Arial" pitchFamily="34" charset="0"/>
                <a:ea typeface="Arial" pitchFamily="34" charset="-122"/>
                <a:cs typeface="Arial" pitchFamily="34" charset="-120"/>
              </a:rPr>
              <a:t>そこから、隣の市場へ広げていく。これが、これからのEC商品開発とマーケティングの考え方です。</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me/46e674e1-850e-5f3a-8004-a2778537f0fe/scratchpad/assets/logo_white.png">    </p:cNvPr>
          <p:cNvPicPr>
            <a:picLocks noChangeAspect="1"/>
          </p:cNvPicPr>
          <p:nvPr/>
        </p:nvPicPr>
        <p:blipFill>
          <a:blip r:embed="rId2"/>
          <a:stretch>
            <a:fillRect/>
          </a:stretch>
        </p:blipFill>
        <p:spPr>
          <a:xfrm>
            <a:off x="10222992" y="457200"/>
            <a:ext cx="1371600" cy="155448"/>
          </a:xfrm>
          <a:prstGeom prst="rect">
            <a:avLst/>
          </a:prstGeom>
        </p:spPr>
      </p:pic>
      <p:sp>
        <p:nvSpPr>
          <p:cNvPr id="3" name="Text 0"/>
          <p:cNvSpPr txBox="1"/>
          <p:nvPr/>
        </p:nvSpPr>
        <p:spPr>
          <a:xfrm>
            <a:off x="594360" y="6510528"/>
            <a:ext cx="2286000" cy="274320"/>
          </a:xfrm>
          <a:prstGeom prst="rect">
            <a:avLst/>
          </a:prstGeom>
          <a:noFill/>
          <a:ln/>
        </p:spPr>
        <p:txBody>
          <a:bodyPr wrap="square" lIns="0" tIns="0" rIns="0" bIns="0" rtlCol="0" anchor="ctr"/>
          <a:lstStyle/>
          <a:p>
            <a:pPr indent="0" marL="0">
              <a:buNone/>
            </a:pPr>
            <a:r>
              <a:rPr lang="en-US" sz="850" dirty="0">
                <a:solidFill>
                  <a:srgbClr val="5E7396"/>
                </a:solidFill>
                <a:latin typeface="Arial" pitchFamily="34" charset="0"/>
                <a:ea typeface="Arial" pitchFamily="34" charset="-122"/>
                <a:cs typeface="Arial" pitchFamily="34" charset="-120"/>
              </a:rPr>
              <a:t>© Wacworks Inc.</a:t>
            </a:r>
            <a:endParaRPr lang="en-US" sz="850" dirty="0"/>
          </a:p>
        </p:txBody>
      </p:sp>
      <p:sp>
        <p:nvSpPr>
          <p:cNvPr id="4" name="Text 1"/>
          <p:cNvSpPr txBox="1"/>
          <p:nvPr/>
        </p:nvSpPr>
        <p:spPr>
          <a:xfrm>
            <a:off x="11183112" y="6510528"/>
            <a:ext cx="457200" cy="274320"/>
          </a:xfrm>
          <a:prstGeom prst="rect">
            <a:avLst/>
          </a:prstGeom>
          <a:noFill/>
          <a:ln/>
        </p:spPr>
        <p:txBody>
          <a:bodyPr wrap="square" lIns="0" tIns="0" rIns="0" bIns="0" rtlCol="0" anchor="ctr"/>
          <a:lstStyle/>
          <a:p>
            <a:pPr algn="r" indent="0" marL="0">
              <a:buNone/>
            </a:pPr>
            <a:r>
              <a:rPr lang="en-US" sz="850" dirty="0">
                <a:solidFill>
                  <a:srgbClr val="5E7396"/>
                </a:solidFill>
                <a:latin typeface="Arial" pitchFamily="34" charset="0"/>
                <a:ea typeface="Arial" pitchFamily="34" charset="-122"/>
                <a:cs typeface="Arial" pitchFamily="34" charset="-120"/>
              </a:rPr>
              <a:t>24</a:t>
            </a:r>
            <a:endParaRPr lang="en-US" sz="850" dirty="0"/>
          </a:p>
        </p:txBody>
      </p:sp>
      <p:sp>
        <p:nvSpPr>
          <p:cNvPr id="5" name="Text 2"/>
          <p:cNvSpPr txBox="1"/>
          <p:nvPr/>
        </p:nvSpPr>
        <p:spPr>
          <a:xfrm>
            <a:off x="594360" y="1188720"/>
            <a:ext cx="7315200" cy="320040"/>
          </a:xfrm>
          <a:prstGeom prst="rect">
            <a:avLst/>
          </a:prstGeom>
          <a:noFill/>
          <a:ln/>
        </p:spPr>
        <p:txBody>
          <a:bodyPr wrap="square" lIns="0" tIns="0" rIns="0" bIns="0" rtlCol="0" anchor="ctr"/>
          <a:lstStyle/>
          <a:p>
            <a:pPr indent="0" marL="0">
              <a:buNone/>
            </a:pPr>
            <a:r>
              <a:rPr lang="en-US" sz="1200" b="1" spc="150" kern="0" dirty="0">
                <a:solidFill>
                  <a:srgbClr val="8FBCFF"/>
                </a:solidFill>
                <a:latin typeface="Arial" pitchFamily="34" charset="0"/>
                <a:ea typeface="Arial" pitchFamily="34" charset="-122"/>
                <a:cs typeface="Arial" pitchFamily="34" charset="-120"/>
              </a:rPr>
              <a:t>NEXT ACTION</a:t>
            </a:r>
            <a:endParaRPr lang="en-US" sz="1200" dirty="0"/>
          </a:p>
        </p:txBody>
      </p:sp>
      <p:sp>
        <p:nvSpPr>
          <p:cNvPr id="6" name="Text 3"/>
          <p:cNvSpPr txBox="1"/>
          <p:nvPr/>
        </p:nvSpPr>
        <p:spPr>
          <a:xfrm>
            <a:off x="594360" y="1600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「これが欲しかった」を、あなたの商品で。</a:t>
            </a:r>
            <a:endParaRPr lang="en-US" sz="3600" dirty="0"/>
          </a:p>
        </p:txBody>
      </p:sp>
      <p:sp>
        <p:nvSpPr>
          <p:cNvPr id="7" name="Text 4"/>
          <p:cNvSpPr txBox="1"/>
          <p:nvPr/>
        </p:nvSpPr>
        <p:spPr>
          <a:xfrm>
            <a:off x="594360" y="2514600"/>
            <a:ext cx="10515600" cy="731520"/>
          </a:xfrm>
          <a:prstGeom prst="rect">
            <a:avLst/>
          </a:prstGeom>
          <a:noFill/>
          <a:ln/>
        </p:spPr>
        <p:txBody>
          <a:bodyPr wrap="square" lIns="0" tIns="0" rIns="0" bIns="0" rtlCol="0" anchor="ctr"/>
          <a:lstStyle/>
          <a:p>
            <a:pPr indent="0" marL="0">
              <a:lnSpc>
                <a:spcPts val="2600"/>
              </a:lnSpc>
              <a:buNone/>
            </a:pPr>
            <a:r>
              <a:rPr lang="en-US" sz="1500" dirty="0">
                <a:solidFill>
                  <a:srgbClr val="C9DAF5"/>
                </a:solidFill>
                <a:latin typeface="Arial" pitchFamily="34" charset="0"/>
                <a:ea typeface="Arial" pitchFamily="34" charset="-122"/>
                <a:cs typeface="Arial" pitchFamily="34" charset="-120"/>
              </a:rPr>
              <a:t>商品設計から見直すと、広告もページもセールも、すべての施策が効きやすくなります。</a:t>
            </a:r>
            <a:endParaRPr lang="en-US" sz="1500" dirty="0"/>
          </a:p>
          <a:p>
            <a:pPr indent="0" marL="0">
              <a:lnSpc>
                <a:spcPts val="2600"/>
              </a:lnSpc>
              <a:buNone/>
            </a:pPr>
            <a:r>
              <a:rPr lang="en-US" sz="1500" dirty="0">
                <a:solidFill>
                  <a:srgbClr val="C9DAF5"/>
                </a:solidFill>
                <a:latin typeface="Arial" pitchFamily="34" charset="0"/>
                <a:ea typeface="Arial" pitchFamily="34" charset="-122"/>
                <a:cs typeface="Arial" pitchFamily="34" charset="-120"/>
              </a:rPr>
              <a:t>まずは、自社商品と競合商品の★1〜3レビューを読むところから。</a:t>
            </a:r>
            <a:endParaRPr lang="en-US" sz="1500" dirty="0"/>
          </a:p>
        </p:txBody>
      </p:sp>
      <p:sp>
        <p:nvSpPr>
          <p:cNvPr id="8" name="Shape 5"/>
          <p:cNvSpPr/>
          <p:nvPr/>
        </p:nvSpPr>
        <p:spPr>
          <a:xfrm>
            <a:off x="594360" y="3383280"/>
            <a:ext cx="11000232" cy="2103120"/>
          </a:xfrm>
          <a:prstGeom prst="roundRect">
            <a:avLst>
              <a:gd name="adj" fmla="val 3913"/>
            </a:avLst>
          </a:prstGeom>
          <a:solidFill>
            <a:srgbClr val="1E6FE8"/>
          </a:solidFill>
          <a:ln/>
        </p:spPr>
      </p:sp>
      <p:sp>
        <p:nvSpPr>
          <p:cNvPr id="9" name="Text 6"/>
          <p:cNvSpPr txBox="1"/>
          <p:nvPr/>
        </p:nvSpPr>
        <p:spPr>
          <a:xfrm>
            <a:off x="1097280" y="3703320"/>
            <a:ext cx="5486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無料相談 受付中</a:t>
            </a:r>
            <a:endParaRPr lang="en-US" sz="2400" dirty="0"/>
          </a:p>
        </p:txBody>
      </p:sp>
      <p:sp>
        <p:nvSpPr>
          <p:cNvPr id="10" name="Text 7"/>
          <p:cNvSpPr txBox="1"/>
          <p:nvPr/>
        </p:nvSpPr>
        <p:spPr>
          <a:xfrm>
            <a:off x="1097280" y="4343400"/>
            <a:ext cx="9966960" cy="868680"/>
          </a:xfrm>
          <a:prstGeom prst="rect">
            <a:avLst/>
          </a:prstGeom>
          <a:noFill/>
          <a:ln/>
        </p:spPr>
        <p:txBody>
          <a:bodyPr wrap="square" lIns="0" tIns="0" rIns="0" bIns="0" rtlCol="0" anchor="t"/>
          <a:lstStyle/>
          <a:p>
            <a:pPr indent="0" marL="0">
              <a:lnSpc>
                <a:spcPts val="2400"/>
              </a:lnSpc>
              <a:buNone/>
            </a:pPr>
            <a:r>
              <a:rPr lang="en-US" sz="1400" dirty="0">
                <a:solidFill>
                  <a:srgbClr val="EAF2FF"/>
                </a:solidFill>
                <a:latin typeface="Arial" pitchFamily="34" charset="0"/>
                <a:ea typeface="Arial" pitchFamily="34" charset="-122"/>
                <a:cs typeface="Arial" pitchFamily="34" charset="-120"/>
              </a:rPr>
              <a:t>現在の商品・店舗状況をお伺いし、課題起点での商品設計と売上の伸ばし方を無料でご提案します。</a:t>
            </a:r>
            <a:endParaRPr lang="en-US" sz="1400" dirty="0"/>
          </a:p>
          <a:p>
            <a:pPr indent="0" marL="0">
              <a:lnSpc>
                <a:spcPts val="2400"/>
              </a:lnSpc>
              <a:buNone/>
            </a:pPr>
            <a:r>
              <a:rPr lang="en-US" sz="1400" dirty="0">
                <a:solidFill>
                  <a:srgbClr val="EAF2FF"/>
                </a:solidFill>
                <a:latin typeface="Arial" pitchFamily="34" charset="0"/>
                <a:ea typeface="Arial" pitchFamily="34" charset="-122"/>
                <a:cs typeface="Arial" pitchFamily="34" charset="-120"/>
              </a:rPr>
              <a:t>お申し込みは概要欄のリンク、または「Wacworks」で検索してください。</a:t>
            </a:r>
            <a:endParaRPr lang="en-US" sz="1400" dirty="0"/>
          </a:p>
        </p:txBody>
      </p:sp>
      <p:sp>
        <p:nvSpPr>
          <p:cNvPr id="11" name="Text 8"/>
          <p:cNvSpPr txBox="1"/>
          <p:nvPr/>
        </p:nvSpPr>
        <p:spPr>
          <a:xfrm>
            <a:off x="594360" y="5897880"/>
            <a:ext cx="10515600" cy="365760"/>
          </a:xfrm>
          <a:prstGeom prst="rect">
            <a:avLst/>
          </a:prstGeom>
          <a:noFill/>
          <a:ln/>
        </p:spPr>
        <p:txBody>
          <a:bodyPr wrap="square" lIns="0" tIns="0" rIns="0" bIns="0" rtlCol="0" anchor="ctr"/>
          <a:lstStyle/>
          <a:p>
            <a:pPr indent="0" marL="0">
              <a:buNone/>
            </a:pPr>
            <a:r>
              <a:rPr lang="en-US" sz="1300" dirty="0">
                <a:solidFill>
                  <a:srgbClr val="AFC6E8"/>
                </a:solidFill>
                <a:latin typeface="Arial" pitchFamily="34" charset="0"/>
                <a:ea typeface="Arial" pitchFamily="34" charset="-122"/>
                <a:cs typeface="Arial" pitchFamily="34" charset="-120"/>
              </a:rPr>
              <a:t>ご視聴ありがとうございました　─　株式会社Wacworks 代表取締役 舟瀬 悠</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Wacworks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「これが欲しかった」と言われる商品は、どう作るのか？</dc:title>
  <dc:subject>PptxGenJS Presentation</dc:subject>
  <dc:creator>株式会社Wacworks</dc:creator>
  <cp:lastModifiedBy>株式会社Wacworks</cp:lastModifiedBy>
  <cp:revision>1</cp:revision>
  <dcterms:created xsi:type="dcterms:W3CDTF">2026-09-04T10:39:43Z</dcterms:created>
  <dcterms:modified xsi:type="dcterms:W3CDTF">2026-09-04T10:39:43Z</dcterms:modified>
</cp:coreProperties>
</file>